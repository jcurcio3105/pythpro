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seconds. Open with the common thread: the summer was not only about completing research tasks; it was about building repeatable infrastructure that turns messy sector information into differentiated, investable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seconds. Use this as the thesis slide. The same skill set connected every project: structuring ambiguous information, validating it, and making the output useful to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seconds. Keep this high-level for the Director of Research and HR. The proprietary projects were not isolated side projects; they were developed inside the live cadence of coverage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seconds. Tie each value to a concrete action. Avoid making this feel like a values recitation; use it to frame how you approached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seconds. Transition: the first major project started from a sector-specific problem - limited clean quantitative evidence on the timing and shape of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seconds. Explain the sector in plain language. Emphasize that value comes from consistent coding across companies, not from any one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seconds. Do not overclaim the tracker as a quantitative model. It is a systematic way to capture management language and make sector themes more observable.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Replace placeholders with the finished exhibits. Use cautious language until the final tracker outputs support definitive conclusions.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seconds. This is the investment relevance slide. Keep it practical and focused on how the tracker changes research workflow and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seconds. This closes the commentary section and transitions to the larger innovation-analysis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seconds. Transition: the second major project began with Danaher initiation work and the need for a more robust way to evaluate innovation across tools companies.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Explain the sector logic simply: sticky tools create durable value, but innovation is what captures new customers and supports organic growth after M&amp;A.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seconds. This slide demonstrates process improvement and intellectual honesty. The value is not adding complexity; it is removing weak inputs and replacing them with auditable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Keep the technical explanation high-level. The audience should understand why each source exists and why no individual source is treated as definitive.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 once the final heatmap is inserted. Lead with the synthesis, then explain the categories on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seconds. The pooled line is descriptive, using 12 companies observed over four years. Do not imply that the 48 observations are independent.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Use the finished R&amp;D range-and-dot exhibits. PACB can be shown off-scale if needed; explain that high intensity can reflect a pre-scale business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Use the actual/predicted multiples and log-log peer benchmarks. Avoid calling above-line companies more efficient; the metrics reflect strategy, installed base and disclosure as well as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Explain the distinction between PMC and PubMed. The audience should understand why both are retained despite some conceptual overlap.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Keep the distinction clear: both are externally decided, but NIH reflects equipment selection while awards reflect recognition.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seconds. This is a forward-looking use case. State that PACB showed consistent improvement in the example; do not call it R&amp;D efficiency or claim the launches caused the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seconds. This slide demonstrates intellectual honesty. The audience should leave understanding both the usefulness and the limits of the analysis.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Replace the archetype language with company-specific conclusions after the final heatmap is 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seconds. Keep this brief. It rounds out the internship without distracting from the two proprietary projects.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This is the personal reflection. Keep it concise and specific to research judgment.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seconds. End with a concise thank-you and be prepared to discuss data sources, methodology tradeoffs and next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appendix only if questions require deeper detail or if the main exhibit set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heatmap slide. Keep the legend explicit that colors show relative peer positioning, not absolute innovation 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regression slide. Keep the methodological language consistent across bioRxiv, PMC, PubMed and patents.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tracker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methodology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chart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1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LIFE SCIENCE TOOLS &amp; DIAGNOSTICS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502920" y="6547104"/>
            <a:ext cx="11173968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07792"/>
            <a:ext cx="11292840" cy="340156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7728" y="749808"/>
            <a:ext cx="4517136" cy="43159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119104" y="384048"/>
            <a:ext cx="548640" cy="406908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493776" y="877824"/>
            <a:ext cx="27432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205472" y="1225296"/>
            <a:ext cx="3703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Life Science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Diagnostics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7214616" y="2679192"/>
            <a:ext cx="3246120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944368"/>
            <a:ext cx="3685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Differentiated Research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Proprietary Data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05472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Internship Final Presentation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51560" y="4800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51560" y="5532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Justin Curcio  |  Equity Research Intern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5879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 |  Innovation analytics  |  Coverage execution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research tools that turn qualitative noise into repeatable signals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major proprietary projects anchored the summer, alongside initiation, earnings and recurring team support.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621792" y="1883664"/>
            <a:ext cx="3438144" cy="3419856"/>
          </a:xfrm>
          <a:prstGeom prst="roundRect">
            <a:avLst>
              <a:gd name="adj" fmla="val 1337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883664"/>
            <a:ext cx="73152" cy="3419856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4825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Sector commentary tracker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95728"/>
            <a:ext cx="30540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Restored and expanded a longitudinal commentary database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Standardized recurring sector concerns and tone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quarterly and multi-quarter exhibits that support notes, call prep and sector read-throughs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70832" y="1883664"/>
            <a:ext cx="3438144" cy="3419856"/>
          </a:xfrm>
          <a:prstGeom prst="roundRect">
            <a:avLst>
              <a:gd name="adj" fmla="val 1337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883664"/>
            <a:ext cx="73152" cy="341985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204825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Innovation analysis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395728"/>
            <a:ext cx="30540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Replaced launch-counting with a multi-source proprietary framework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scrapers and cleaned data across publications, patents, NIH and awards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Benchmarked company signals relative to R&amp;D scale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19872" y="1883664"/>
            <a:ext cx="3438144" cy="3419856"/>
          </a:xfrm>
          <a:prstGeom prst="roundRect">
            <a:avLst>
              <a:gd name="adj" fmla="val 1337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19872" y="1883664"/>
            <a:ext cx="73152" cy="3419856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04825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Research execution and learning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395728"/>
            <a:ext cx="305409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Supported coverage resumption across eight companies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Contributed to seven earnings notes and call-readout sections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Learned to turn imperfect evidence into transparent, client-relevant judgment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throughline was process improvement: converting fragmented information into structured evidence the team can revisit quarter after quarter.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spanned the full equity research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proprietary projects were built inside the live cadence of coverage, earnings and event preparation.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969264" y="2450592"/>
            <a:ext cx="1024128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2286000"/>
            <a:ext cx="347472" cy="347472"/>
          </a:xfrm>
          <a:prstGeom prst="ellipse">
            <a:avLst/>
          </a:prstGeom>
          <a:solidFill>
            <a:srgbClr val="000000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9293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SUMMER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640080" y="281635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resumption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40080" y="3364992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 reconstruction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funding work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 and valuation slides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2990088" y="2286000"/>
            <a:ext cx="347472" cy="347472"/>
          </a:xfrm>
          <a:prstGeom prst="ellipse">
            <a:avLst/>
          </a:prstGeom>
          <a:solidFill>
            <a:srgbClr val="1E9DD2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52928" y="19293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THROUGHOUT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779776" y="281635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Commentary tracker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779776" y="3364992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 coding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Boogeyman expansion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exhibits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129784" y="2286000"/>
            <a:ext cx="347472" cy="347472"/>
          </a:xfrm>
          <a:prstGeom prst="ellipse">
            <a:avLst/>
          </a:prstGeom>
          <a:solidFill>
            <a:srgbClr val="000000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92624" y="19293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919472" y="281635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execution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919472" y="3364992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notes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takeaways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Guidance and exhibit updates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7269480" y="2286000"/>
            <a:ext cx="347472" cy="347472"/>
          </a:xfrm>
          <a:prstGeom prst="ellipse">
            <a:avLst/>
          </a:prstGeom>
          <a:solidFill>
            <a:srgbClr val="1E9DD2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0" y="19293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 SUMMER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059168" y="281635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059168" y="3364992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Scrapers and cleaning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design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framework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9409176" y="2286000"/>
            <a:ext cx="347472" cy="347472"/>
          </a:xfrm>
          <a:prstGeom prst="ellipse">
            <a:avLst/>
          </a:prstGeom>
          <a:solidFill>
            <a:srgbClr val="000000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72016" y="19293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9198864" y="2816352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support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9198864" y="3364992"/>
            <a:ext cx="190195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prep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Webinars and symposiums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and market work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1051560" y="4882896"/>
            <a:ext cx="10104120" cy="804672"/>
          </a:xfrm>
          <a:prstGeom prst="roundRect">
            <a:avLst>
              <a:gd name="adj" fmla="val 5682"/>
            </a:avLst>
          </a:prstGeom>
          <a:solidFill>
            <a:srgbClr val="DFF2FA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51560" y="4882896"/>
            <a:ext cx="73152" cy="80467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52728" y="5047488"/>
            <a:ext cx="9738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common thread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52728" y="5394960"/>
            <a:ext cx="97200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project required turning incomplete, qualitative or inconsistently disclosed information into a structured view of the investment debate.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MINDSET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projects reflected the research culture I observed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was not simply to collect more data, but to build differentiated evidence without losing intellectual honesty.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502920" y="1847088"/>
            <a:ext cx="2084832" cy="3218688"/>
          </a:xfrm>
          <a:prstGeom prst="roundRect">
            <a:avLst>
              <a:gd name="adj" fmla="val 219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47088"/>
            <a:ext cx="2084832" cy="9144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INTELLECTUAL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7512" y="2907792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where management language, scientific activity and adoption data could reveal signals conventional datasets missed.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2807208" y="1847088"/>
            <a:ext cx="2084832" cy="3218688"/>
          </a:xfrm>
          <a:prstGeom prst="roundRect">
            <a:avLst>
              <a:gd name="adj" fmla="val 2193"/>
            </a:avLst>
          </a:prstGeom>
          <a:solidFill>
            <a:srgbClr val="F7F7F7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07208" y="1847088"/>
            <a:ext cx="2084832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4368" y="21488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ENTREPRENEURIAL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71800" y="2907792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new trackers, scrapers and analytical frameworks rather than accepting process gaps.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5111496" y="1847088"/>
            <a:ext cx="2084832" cy="3218688"/>
          </a:xfrm>
          <a:prstGeom prst="roundRect">
            <a:avLst>
              <a:gd name="adj" fmla="val 219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11496" y="1847088"/>
            <a:ext cx="2084832" cy="91440"/>
          </a:xfrm>
          <a:prstGeom prst="rect">
            <a:avLst/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48656" y="21488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276088" y="2907792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conservative attribution, audit trails and visible limitations rather than overclaiming imperfect proxies.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7415784" y="1847088"/>
            <a:ext cx="2084832" cy="3218688"/>
          </a:xfrm>
          <a:prstGeom prst="roundRect">
            <a:avLst>
              <a:gd name="adj" fmla="val 2193"/>
            </a:avLst>
          </a:prstGeom>
          <a:solidFill>
            <a:srgbClr val="F7F7F7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15784" y="1847088"/>
            <a:ext cx="2084832" cy="9144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2944" y="21488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580376" y="2907792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outputs around the analyst and associate workflow, not as standalone academic exercises.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9720072" y="1847088"/>
            <a:ext cx="2084832" cy="3218688"/>
          </a:xfrm>
          <a:prstGeom prst="roundRect">
            <a:avLst>
              <a:gd name="adj" fmla="val 219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20072" y="1847088"/>
            <a:ext cx="2084832" cy="91440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57232" y="2148840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RELEVANCE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884664" y="2907792"/>
            <a:ext cx="175564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on the investment so-what: what changes the debate, expectations or confidence in recovery.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2743200" y="5422392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standard: build something differentiated, useful and transparent.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 was not simply collecting more data - it was creating a defensible process for asking better questions.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50208"/>
            <a:ext cx="6839712" cy="29077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676656"/>
            <a:ext cx="4498848" cy="52669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274320"/>
            <a:ext cx="475488" cy="5084064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3891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8961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7150608" y="9601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50" kern="0" dirty="0">
                <a:solidFill>
                  <a:srgbClr val="1E9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PROJECT 1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7150608" y="1389888"/>
            <a:ext cx="36758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150608" y="3255264"/>
            <a:ext cx="3246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3493008"/>
            <a:ext cx="3493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management language into longitudinal sector evidence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TRACKER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commentary tracking mattered in a difficult Tools &amp; Diagnostics backdrop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language offered additional insight into what was improving, worsening or simply being reframed.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603504" y="1828800"/>
            <a:ext cx="3493008" cy="1325880"/>
          </a:xfrm>
          <a:prstGeom prst="roundRect">
            <a:avLst>
              <a:gd name="adj" fmla="val 3448"/>
            </a:avLst>
          </a:prstGeom>
          <a:solidFill>
            <a:srgbClr val="FFF9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828800"/>
            <a:ext cx="73152" cy="1325880"/>
          </a:xfrm>
          <a:prstGeom prst="rect">
            <a:avLst/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933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clean quantitative read-throughs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340864"/>
            <a:ext cx="3108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pressure, destocking, China exposure and funding concerns often appeared in management language before they were visible in clean metrics.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4352544" y="1828800"/>
            <a:ext cx="3493008" cy="1325880"/>
          </a:xfrm>
          <a:prstGeom prst="roundRect">
            <a:avLst>
              <a:gd name="adj" fmla="val 3448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828800"/>
            <a:ext cx="73152" cy="132588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9933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tone is investable context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53712" y="2340864"/>
            <a:ext cx="3108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companies frame weakness, recovery and risk can reveal whether numerical improvement is broad, durable and externally corroborated.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8101584" y="1828800"/>
            <a:ext cx="3493008" cy="1325880"/>
          </a:xfrm>
          <a:prstGeom prst="roundRect">
            <a:avLst>
              <a:gd name="adj" fmla="val 3448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01584" y="1828800"/>
            <a:ext cx="73152" cy="1325880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99339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tracking reduces anecdote risk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02752" y="2340864"/>
            <a:ext cx="31089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quote can mislead; a standardized tracker shows whether a concern is fading, persisting or broadening across companies.</a:t>
            </a:r>
            <a:endParaRPr lang="en-US" sz="1030" dirty="0"/>
          </a:p>
        </p:txBody>
      </p:sp>
      <p:sp>
        <p:nvSpPr>
          <p:cNvPr id="17" name="Text 15"/>
          <p:cNvSpPr/>
          <p:nvPr/>
        </p:nvSpPr>
        <p:spPr>
          <a:xfrm>
            <a:off x="621792" y="3511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sector boogeymen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58368" y="3931920"/>
            <a:ext cx="1865376" cy="310896"/>
          </a:xfrm>
          <a:prstGeom prst="roundRect">
            <a:avLst>
              <a:gd name="adj" fmla="val 14706"/>
            </a:avLst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99592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cautiousness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2734056" y="3931920"/>
            <a:ext cx="1865376" cy="310896"/>
          </a:xfrm>
          <a:prstGeom prst="roundRect">
            <a:avLst>
              <a:gd name="adj" fmla="val 14706"/>
            </a:avLst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25496" y="399592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 spend</a:t>
            </a:r>
            <a:endParaRPr lang="en-US" sz="830" dirty="0"/>
          </a:p>
        </p:txBody>
      </p:sp>
      <p:sp>
        <p:nvSpPr>
          <p:cNvPr id="22" name="Shape 20"/>
          <p:cNvSpPr/>
          <p:nvPr/>
        </p:nvSpPr>
        <p:spPr>
          <a:xfrm>
            <a:off x="4809744" y="3931920"/>
            <a:ext cx="1865376" cy="310896"/>
          </a:xfrm>
          <a:prstGeom prst="roundRect">
            <a:avLst>
              <a:gd name="adj" fmla="val 14706"/>
            </a:avLst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399592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Consumables destocking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6885432" y="3931920"/>
            <a:ext cx="1865376" cy="310896"/>
          </a:xfrm>
          <a:prstGeom prst="roundRect">
            <a:avLst>
              <a:gd name="adj" fmla="val 14706"/>
            </a:avLst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76872" y="399592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weakness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658368" y="4480560"/>
            <a:ext cx="1865376" cy="310896"/>
          </a:xfrm>
          <a:prstGeom prst="roundRect">
            <a:avLst>
              <a:gd name="adj" fmla="val 1470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54456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recovery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2734056" y="4480560"/>
            <a:ext cx="1865376" cy="310896"/>
          </a:xfrm>
          <a:prstGeom prst="roundRect">
            <a:avLst>
              <a:gd name="adj" fmla="val 1470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25496" y="454456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weakness</a:t>
            </a:r>
            <a:endParaRPr lang="en-US" sz="830" dirty="0"/>
          </a:p>
        </p:txBody>
      </p:sp>
      <p:sp>
        <p:nvSpPr>
          <p:cNvPr id="30" name="Shape 28"/>
          <p:cNvSpPr/>
          <p:nvPr/>
        </p:nvSpPr>
        <p:spPr>
          <a:xfrm>
            <a:off x="4809744" y="4480560"/>
            <a:ext cx="1865376" cy="310896"/>
          </a:xfrm>
          <a:prstGeom prst="roundRect">
            <a:avLst>
              <a:gd name="adj" fmla="val 1470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01184" y="4544568"/>
            <a:ext cx="1682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/ A&amp;G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8641080" y="35112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categories I added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8942832" y="3931920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34272" y="3995928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Tariffs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10314432" y="3931920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05872" y="3995928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MFN / reshoring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8942832" y="4480560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34272" y="4544568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East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10314432" y="4480560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405872" y="4544568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internal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8942832" y="5029200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34272" y="5093208"/>
            <a:ext cx="1042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external view</a:t>
            </a:r>
            <a:endParaRPr lang="en-US" sz="830" dirty="0"/>
          </a:p>
        </p:txBody>
      </p:sp>
      <p:sp>
        <p:nvSpPr>
          <p:cNvPr id="43" name="Text 41"/>
          <p:cNvSpPr/>
          <p:nvPr/>
        </p:nvSpPr>
        <p:spPr>
          <a:xfrm>
            <a:off x="676656" y="5413248"/>
            <a:ext cx="10680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i="1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 universe: A, AVTR, WAT, DHR, TMO, RVTY plus adjacent CRO / tools names including CRL, SRT, Lonza and MTD.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turns management commentary into a repeatable view of whether the sector debate is improving, deteriorating or changing shape.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 DESIGN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converted commentary into a structured research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was to preserve the nuance of quotes while making trend changes visible at a glance.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530352" y="1828800"/>
            <a:ext cx="384048" cy="384048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91109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05840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</a:t>
            </a:r>
            <a:endParaRPr lang="en-US" sz="1210" dirty="0"/>
          </a:p>
        </p:txBody>
      </p:sp>
      <p:sp>
        <p:nvSpPr>
          <p:cNvPr id="8" name="Text 6"/>
          <p:cNvSpPr/>
          <p:nvPr/>
        </p:nvSpPr>
        <p:spPr>
          <a:xfrm>
            <a:off x="1005840" y="20848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Calls, transcripts, conferences and sector events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2359152" y="2002536"/>
            <a:ext cx="329184" cy="0"/>
          </a:xfrm>
          <a:prstGeom prst="line">
            <a:avLst/>
          </a:prstGeom>
          <a:noFill/>
          <a:ln w="12700">
            <a:solidFill>
              <a:srgbClr val="C8C9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8064" y="1828800"/>
            <a:ext cx="384048" cy="384048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191109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73552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3273552" y="20848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x quarter x boogeyman category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626864" y="2002536"/>
            <a:ext cx="329184" cy="0"/>
          </a:xfrm>
          <a:prstGeom prst="line">
            <a:avLst/>
          </a:prstGeom>
          <a:noFill/>
          <a:ln w="12700">
            <a:solidFill>
              <a:srgbClr val="C8C9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65776" y="1828800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5776" y="191109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541264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5541264" y="20848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/ mixed / negative tone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894576" y="2002536"/>
            <a:ext cx="329184" cy="0"/>
          </a:xfrm>
          <a:prstGeom prst="line">
            <a:avLst/>
          </a:prstGeom>
          <a:noFill/>
          <a:ln w="12700">
            <a:solidFill>
              <a:srgbClr val="C8C9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33488" y="1828800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191109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808976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1210" dirty="0"/>
          </a:p>
        </p:txBody>
      </p:sp>
      <p:sp>
        <p:nvSpPr>
          <p:cNvPr id="23" name="Text 21"/>
          <p:cNvSpPr/>
          <p:nvPr/>
        </p:nvSpPr>
        <p:spPr>
          <a:xfrm>
            <a:off x="7808976" y="20848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snapshots and longitudinal heatmaps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9162288" y="2002536"/>
            <a:ext cx="329184" cy="0"/>
          </a:xfrm>
          <a:prstGeom prst="line">
            <a:avLst/>
          </a:prstGeom>
          <a:noFill/>
          <a:ln w="12700">
            <a:solidFill>
              <a:srgbClr val="C8C9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0" y="1828800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191109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076688" y="17922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1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</a:t>
            </a:r>
            <a:endParaRPr lang="en-US" sz="1210" dirty="0"/>
          </a:p>
        </p:txBody>
      </p:sp>
      <p:sp>
        <p:nvSpPr>
          <p:cNvPr id="28" name="Text 26"/>
          <p:cNvSpPr/>
          <p:nvPr/>
        </p:nvSpPr>
        <p:spPr>
          <a:xfrm>
            <a:off x="10076688" y="2084832"/>
            <a:ext cx="1481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notes, call prep and sector read-throughs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03504" y="3108960"/>
            <a:ext cx="6812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Boogeyman categories x quarters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37944" y="3346704"/>
            <a:ext cx="697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3Q23</a:t>
            </a:r>
            <a:endParaRPr lang="en-US" sz="620" dirty="0"/>
          </a:p>
        </p:txBody>
      </p:sp>
      <p:sp>
        <p:nvSpPr>
          <p:cNvPr id="31" name="Text 29"/>
          <p:cNvSpPr/>
          <p:nvPr/>
        </p:nvSpPr>
        <p:spPr>
          <a:xfrm>
            <a:off x="2535174" y="3346704"/>
            <a:ext cx="697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4Q23</a:t>
            </a:r>
            <a:endParaRPr lang="en-US" sz="620" dirty="0"/>
          </a:p>
        </p:txBody>
      </p:sp>
      <p:sp>
        <p:nvSpPr>
          <p:cNvPr id="32" name="Text 30"/>
          <p:cNvSpPr/>
          <p:nvPr/>
        </p:nvSpPr>
        <p:spPr>
          <a:xfrm>
            <a:off x="3232404" y="3346704"/>
            <a:ext cx="697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1Q24</a:t>
            </a:r>
            <a:endParaRPr lang="en-US" sz="620" dirty="0"/>
          </a:p>
        </p:txBody>
      </p:sp>
      <p:sp>
        <p:nvSpPr>
          <p:cNvPr id="33" name="Text 31"/>
          <p:cNvSpPr/>
          <p:nvPr/>
        </p:nvSpPr>
        <p:spPr>
          <a:xfrm>
            <a:off x="3929634" y="3346704"/>
            <a:ext cx="697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2Q24</a:t>
            </a:r>
            <a:endParaRPr lang="en-US" sz="620" dirty="0"/>
          </a:p>
        </p:txBody>
      </p:sp>
      <p:sp>
        <p:nvSpPr>
          <p:cNvPr id="34" name="Text 32"/>
          <p:cNvSpPr/>
          <p:nvPr/>
        </p:nvSpPr>
        <p:spPr>
          <a:xfrm>
            <a:off x="4626864" y="3346704"/>
            <a:ext cx="697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3Q24</a:t>
            </a:r>
            <a:endParaRPr lang="en-US" sz="620" dirty="0"/>
          </a:p>
        </p:txBody>
      </p:sp>
      <p:sp>
        <p:nvSpPr>
          <p:cNvPr id="35" name="Text 33"/>
          <p:cNvSpPr/>
          <p:nvPr/>
        </p:nvSpPr>
        <p:spPr>
          <a:xfrm>
            <a:off x="5324094" y="3346704"/>
            <a:ext cx="697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4Q24</a:t>
            </a:r>
            <a:endParaRPr lang="en-US" sz="620" dirty="0"/>
          </a:p>
        </p:txBody>
      </p:sp>
      <p:sp>
        <p:nvSpPr>
          <p:cNvPr id="36" name="Text 34"/>
          <p:cNvSpPr/>
          <p:nvPr/>
        </p:nvSpPr>
        <p:spPr>
          <a:xfrm>
            <a:off x="6021324" y="3346704"/>
            <a:ext cx="697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1Q25</a:t>
            </a:r>
            <a:endParaRPr lang="en-US" sz="620" dirty="0"/>
          </a:p>
        </p:txBody>
      </p:sp>
      <p:sp>
        <p:nvSpPr>
          <p:cNvPr id="37" name="Text 35"/>
          <p:cNvSpPr/>
          <p:nvPr/>
        </p:nvSpPr>
        <p:spPr>
          <a:xfrm>
            <a:off x="6718554" y="3346704"/>
            <a:ext cx="69723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2Q25</a:t>
            </a:r>
            <a:endParaRPr lang="en-US" sz="620" dirty="0"/>
          </a:p>
        </p:txBody>
      </p:sp>
      <p:sp>
        <p:nvSpPr>
          <p:cNvPr id="38" name="Text 36"/>
          <p:cNvSpPr/>
          <p:nvPr/>
        </p:nvSpPr>
        <p:spPr>
          <a:xfrm>
            <a:off x="603504" y="354787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660" dirty="0"/>
          </a:p>
        </p:txBody>
      </p:sp>
      <p:sp>
        <p:nvSpPr>
          <p:cNvPr id="39" name="Shape 37"/>
          <p:cNvSpPr/>
          <p:nvPr/>
        </p:nvSpPr>
        <p:spPr>
          <a:xfrm>
            <a:off x="1837944" y="3547872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35174" y="3547872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32404" y="3547872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29634" y="3547872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26864" y="3547872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324094" y="3547872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21324" y="3547872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18554" y="3547872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3504" y="380390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 spend</a:t>
            </a:r>
            <a:endParaRPr lang="en-US" sz="660" dirty="0"/>
          </a:p>
        </p:txBody>
      </p:sp>
      <p:sp>
        <p:nvSpPr>
          <p:cNvPr id="48" name="Shape 46"/>
          <p:cNvSpPr/>
          <p:nvPr/>
        </p:nvSpPr>
        <p:spPr>
          <a:xfrm>
            <a:off x="1837944" y="3803904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35174" y="3803904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32404" y="3803904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29634" y="3803904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26864" y="3803904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24094" y="3803904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21324" y="3803904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18554" y="3803904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3504" y="405993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caution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1837944" y="4059936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35174" y="4059936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32404" y="4059936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929634" y="4059936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626864" y="4059936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324094" y="4059936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021324" y="4059936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718554" y="4059936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3504" y="431596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Destocking</a:t>
            </a:r>
            <a:endParaRPr lang="en-US" sz="660" dirty="0"/>
          </a:p>
        </p:txBody>
      </p:sp>
      <p:sp>
        <p:nvSpPr>
          <p:cNvPr id="66" name="Shape 64"/>
          <p:cNvSpPr/>
          <p:nvPr/>
        </p:nvSpPr>
        <p:spPr>
          <a:xfrm>
            <a:off x="1837944" y="4315968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535174" y="4315968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32404" y="4315968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29634" y="4315968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26864" y="4315968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324094" y="4315968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21324" y="4315968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18554" y="4315968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3504" y="4572000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</a:t>
            </a:r>
            <a:endParaRPr lang="en-US" sz="660" dirty="0"/>
          </a:p>
        </p:txBody>
      </p:sp>
      <p:sp>
        <p:nvSpPr>
          <p:cNvPr id="75" name="Shape 73"/>
          <p:cNvSpPr/>
          <p:nvPr/>
        </p:nvSpPr>
        <p:spPr>
          <a:xfrm>
            <a:off x="1837944" y="4572000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35174" y="4572000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232404" y="4572000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929634" y="4572000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26864" y="4572000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24094" y="4572000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21324" y="4572000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18554" y="4572000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3504" y="4828032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/ A&amp;G</a:t>
            </a:r>
            <a:endParaRPr lang="en-US" sz="660" dirty="0"/>
          </a:p>
        </p:txBody>
      </p:sp>
      <p:sp>
        <p:nvSpPr>
          <p:cNvPr id="84" name="Shape 82"/>
          <p:cNvSpPr/>
          <p:nvPr/>
        </p:nvSpPr>
        <p:spPr>
          <a:xfrm>
            <a:off x="1837944" y="4828032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535174" y="4828032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232404" y="4828032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929634" y="4828032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26864" y="4828032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324094" y="4828032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21324" y="4828032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18554" y="4828032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03504" y="5084064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Tariffs</a:t>
            </a:r>
            <a:endParaRPr lang="en-US" sz="660" dirty="0"/>
          </a:p>
        </p:txBody>
      </p:sp>
      <p:sp>
        <p:nvSpPr>
          <p:cNvPr id="93" name="Shape 91"/>
          <p:cNvSpPr/>
          <p:nvPr/>
        </p:nvSpPr>
        <p:spPr>
          <a:xfrm>
            <a:off x="1837944" y="5084064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535174" y="5084064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232404" y="5084064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29634" y="5084064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626864" y="5084064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5324094" y="5084064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021324" y="5084064"/>
            <a:ext cx="678942" cy="237744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718554" y="5084064"/>
            <a:ext cx="678942" cy="237744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03504" y="534009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60" dirty="0"/>
          </a:p>
        </p:txBody>
      </p:sp>
      <p:sp>
        <p:nvSpPr>
          <p:cNvPr id="102" name="Shape 100"/>
          <p:cNvSpPr/>
          <p:nvPr/>
        </p:nvSpPr>
        <p:spPr>
          <a:xfrm>
            <a:off x="1837944" y="5340096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35174" y="5340096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232404" y="5340096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929634" y="5340096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626864" y="5340096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324094" y="5340096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021324" y="5340096"/>
            <a:ext cx="678942" cy="237744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718554" y="5340096"/>
            <a:ext cx="678942" cy="237744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699248" y="3108960"/>
            <a:ext cx="3822192" cy="2505456"/>
          </a:xfrm>
          <a:prstGeom prst="roundRect">
            <a:avLst>
              <a:gd name="adj" fmla="val 1825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7699248" y="3108960"/>
            <a:ext cx="73152" cy="2505456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900416" y="327355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improved</a:t>
            </a:r>
            <a:endParaRPr lang="en-US" sz="1420" dirty="0"/>
          </a:p>
        </p:txBody>
      </p:sp>
      <p:sp>
        <p:nvSpPr>
          <p:cNvPr id="113" name="Text 111"/>
          <p:cNvSpPr/>
          <p:nvPr/>
        </p:nvSpPr>
        <p:spPr>
          <a:xfrm>
            <a:off x="7900416" y="3621024"/>
            <a:ext cx="3438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Restored and filled historical tracker coverage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Added sector-specific risk categories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Standardized scoring and source treatment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exhibits that are easier to update, reuse and audit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Preserved quote-level evidence behind every color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improvement was not just a cleaner tracker - it was a reusable research process that reduced memory bias and accelerated update work.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TRACKER EXHIBITS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and quarterly views answer different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the finished tracker exhibits here; the right-hand synthesis should translate colors into an investment discussion.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3504" y="18288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Boogeyman categories x quarters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37944" y="2066544"/>
            <a:ext cx="5314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3Q23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2369439" y="2066544"/>
            <a:ext cx="5314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4Q23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2900934" y="2066544"/>
            <a:ext cx="5314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1Q24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3432429" y="2066544"/>
            <a:ext cx="5314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2Q24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3963924" y="2066544"/>
            <a:ext cx="5314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3Q24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4495419" y="2066544"/>
            <a:ext cx="5314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4Q24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5026914" y="2066544"/>
            <a:ext cx="5314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1Q25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5558409" y="2066544"/>
            <a:ext cx="53149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2Q25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603504" y="2267712"/>
            <a:ext cx="1143000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1837944" y="226771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69439" y="226771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00934" y="226771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32429" y="226771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63924" y="226771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5419" y="226771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6914" y="226771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58409" y="226771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622042"/>
            <a:ext cx="1143000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 spend</a:t>
            </a:r>
            <a:endParaRPr lang="en-US" sz="660" dirty="0"/>
          </a:p>
        </p:txBody>
      </p:sp>
      <p:sp>
        <p:nvSpPr>
          <p:cNvPr id="24" name="Shape 22"/>
          <p:cNvSpPr/>
          <p:nvPr/>
        </p:nvSpPr>
        <p:spPr>
          <a:xfrm>
            <a:off x="1837944" y="262204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69439" y="262204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00934" y="262204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32429" y="262204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63924" y="262204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95419" y="262204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6914" y="262204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58409" y="262204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" y="2976372"/>
            <a:ext cx="1143000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caution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1837944" y="297637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69439" y="297637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00934" y="297637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32429" y="297637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63924" y="297637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95419" y="297637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6914" y="297637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58409" y="297637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" y="3330702"/>
            <a:ext cx="1143000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Destocking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1837944" y="333070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69439" y="333070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00934" y="333070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32429" y="333070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63924" y="333070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95419" y="333070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6914" y="333070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558409" y="333070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" y="3685032"/>
            <a:ext cx="1143000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1837944" y="368503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69439" y="368503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00934" y="368503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32429" y="368503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63924" y="368503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95419" y="368503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26914" y="368503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58409" y="368503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" y="4039362"/>
            <a:ext cx="1143000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/ A&amp;G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1837944" y="403936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69439" y="403936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00934" y="403936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432429" y="403936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963924" y="403936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495419" y="403936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26914" y="403936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58409" y="403936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3504" y="4393692"/>
            <a:ext cx="1143000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Tariffs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1837944" y="439369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369439" y="439369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900934" y="439369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432429" y="439369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963924" y="439369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95419" y="439369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26914" y="4393692"/>
            <a:ext cx="513207" cy="336042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558409" y="4393692"/>
            <a:ext cx="513207" cy="336042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3504" y="4748022"/>
            <a:ext cx="1143000" cy="3451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1837944" y="474802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369439" y="474802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900934" y="474802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32429" y="474802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963924" y="474802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495419" y="474802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026914" y="4748022"/>
            <a:ext cx="513207" cy="336042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558409" y="4748022"/>
            <a:ext cx="513207" cy="336042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27648" y="1828800"/>
            <a:ext cx="3108960" cy="1481328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01968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 snapshot placeholder</a:t>
            </a:r>
            <a:endParaRPr lang="en-US" sz="1300" dirty="0"/>
          </a:p>
        </p:txBody>
      </p:sp>
      <p:sp>
        <p:nvSpPr>
          <p:cNvPr id="88" name="Text 86"/>
          <p:cNvSpPr/>
          <p:nvPr/>
        </p:nvSpPr>
        <p:spPr>
          <a:xfrm>
            <a:off x="6675120" y="2633472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improved?  What persisted?  What newly emerged?</a:t>
            </a:r>
            <a:endParaRPr lang="en-US" sz="940" dirty="0"/>
          </a:p>
        </p:txBody>
      </p:sp>
      <p:sp>
        <p:nvSpPr>
          <p:cNvPr id="89" name="Shape 87"/>
          <p:cNvSpPr/>
          <p:nvPr/>
        </p:nvSpPr>
        <p:spPr>
          <a:xfrm>
            <a:off x="7571232" y="1901952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662672" y="1956816"/>
            <a:ext cx="13898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SNAPSHOT</a:t>
            </a:r>
            <a:endParaRPr lang="en-US" sz="760" dirty="0"/>
          </a:p>
        </p:txBody>
      </p:sp>
      <p:sp>
        <p:nvSpPr>
          <p:cNvPr id="91" name="Shape 89"/>
          <p:cNvSpPr/>
          <p:nvPr/>
        </p:nvSpPr>
        <p:spPr>
          <a:xfrm>
            <a:off x="9674352" y="1828800"/>
            <a:ext cx="1874520" cy="3291840"/>
          </a:xfrm>
          <a:prstGeom prst="roundRect">
            <a:avLst>
              <a:gd name="adj" fmla="val 2439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674352" y="1828800"/>
            <a:ext cx="73152" cy="329184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875520" y="199339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read-throughs</a:t>
            </a:r>
            <a:endParaRPr lang="en-US" sz="1270" dirty="0"/>
          </a:p>
        </p:txBody>
      </p:sp>
      <p:sp>
        <p:nvSpPr>
          <p:cNvPr id="94" name="Text 92"/>
          <p:cNvSpPr/>
          <p:nvPr/>
        </p:nvSpPr>
        <p:spPr>
          <a:xfrm>
            <a:off x="9875520" y="2340864"/>
            <a:ext cx="1490472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Destocking appears less central than in earlier quarters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Recovery claims can be tested against breadth of commentary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New boogeymen separate macro from sector-specific risk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Language shifts can guide call questions before consensus changes</a:t>
            </a:r>
            <a:endParaRPr lang="en-US" sz="930" dirty="0"/>
          </a:p>
        </p:txBody>
      </p:sp>
      <p:sp>
        <p:nvSpPr>
          <p:cNvPr id="95" name="Shape 93"/>
          <p:cNvSpPr/>
          <p:nvPr/>
        </p:nvSpPr>
        <p:spPr>
          <a:xfrm>
            <a:off x="6327648" y="3602736"/>
            <a:ext cx="3108960" cy="1517904"/>
          </a:xfrm>
          <a:prstGeom prst="roundRect">
            <a:avLst>
              <a:gd name="adj" fmla="val 3012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27648" y="3602736"/>
            <a:ext cx="73152" cy="151790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528816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both views matter</a:t>
            </a:r>
            <a:endParaRPr lang="en-US" sz="1220" dirty="0"/>
          </a:p>
        </p:txBody>
      </p:sp>
      <p:sp>
        <p:nvSpPr>
          <p:cNvPr id="98" name="Text 96"/>
          <p:cNvSpPr/>
          <p:nvPr/>
        </p:nvSpPr>
        <p:spPr>
          <a:xfrm>
            <a:off x="6528816" y="4114800"/>
            <a:ext cx="2724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quarterly snapshot highlights the current debate; the longitudinal heatmap tests whether the latest narrative is consistent with prior quarters and across companies.</a:t>
            </a:r>
            <a:endParaRPr lang="en-US" sz="930" dirty="0"/>
          </a:p>
        </p:txBody>
      </p:sp>
      <p:sp>
        <p:nvSpPr>
          <p:cNvPr id="99" name="Shape 97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creates a differentiated view of market health by testing whether management narratives are isolated, broadening or beginning to reverse.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DIFFERENTIATED RESEARCH VALUE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 came from context - not simply a count of positive and negative comments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answers questions that are difficult to address using reported financials alone.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658368" y="1801368"/>
            <a:ext cx="310896" cy="310896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87452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1152144" y="178308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recovery broadening?</a:t>
            </a:r>
            <a:endParaRPr lang="en-US" sz="1260" dirty="0"/>
          </a:p>
        </p:txBody>
      </p:sp>
      <p:sp>
        <p:nvSpPr>
          <p:cNvPr id="8" name="Text 6"/>
          <p:cNvSpPr/>
          <p:nvPr/>
        </p:nvSpPr>
        <p:spPr>
          <a:xfrm>
            <a:off x="4096512" y="177393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management tone across companies and end markets rather than relying on one positive print.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1133856" y="2340864"/>
            <a:ext cx="7955280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2807208"/>
            <a:ext cx="310896" cy="310896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88036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1152144" y="278892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old headwinds truly fading?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4096512" y="277977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whether concerns such as consumables destocking disappear or are merely reframed.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133856" y="3346704"/>
            <a:ext cx="7955280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" y="3813048"/>
            <a:ext cx="310896" cy="3108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88620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152144" y="379476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sector-wide versus company-specific?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4096512" y="378561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common demand signals from execution, portfolio or exposure differences.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1133856" y="4352544"/>
            <a:ext cx="7955280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818888"/>
            <a:ext cx="310896" cy="31089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892040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1152144" y="48006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risks are emerging before guidance changes?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4096512" y="4791456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newly appearing categories to sharpen call questions and monitor narrative inflections.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1133856" y="5358384"/>
            <a:ext cx="7955280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454896" y="1783080"/>
            <a:ext cx="2084832" cy="3977640"/>
          </a:xfrm>
          <a:prstGeom prst="roundRect">
            <a:avLst>
              <a:gd name="adj" fmla="val 2193"/>
            </a:avLst>
          </a:prstGeom>
          <a:solidFill>
            <a:srgbClr val="DFF2FA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54896" y="1783080"/>
            <a:ext cx="73152" cy="397764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56064" y="19476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value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56064" y="2295144"/>
            <a:ext cx="1700784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Faster sector read-throughs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Cleaner earnings-note support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targeted call questions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Better historical context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Easier handoff and updating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is useful because it contextualizes each quarter against the broader history and the full peer set.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EXECUTION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became part of initiation, earnings and recurring coverage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value was amplified because it was used inside live work rather than as a standalone project.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3438144"/>
          </a:xfrm>
          <a:prstGeom prst="roundRect">
            <a:avLst>
              <a:gd name="adj" fmla="val 133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3438144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resumption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40864"/>
            <a:ext cx="30449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Restored historical commentary coverage after coverage paused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Supported thesis and valuation slide construction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Contributed to the NIH funding section and broader sector framing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429000" cy="3438144"/>
          </a:xfrm>
          <a:prstGeom prst="roundRect">
            <a:avLst>
              <a:gd name="adj" fmla="val 1333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0832" y="1828800"/>
            <a:ext cx="73152" cy="34381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notes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340864"/>
            <a:ext cx="30449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Contributed to seven company notes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Drafted call takeaways and commentary sections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Tracked guidance and refreshed historical exhibits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Used the tracker to compare current and prior-quarter language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101584" y="1828800"/>
            <a:ext cx="3429000" cy="3438144"/>
          </a:xfrm>
          <a:prstGeom prst="roundRect">
            <a:avLst>
              <a:gd name="adj" fmla="val 1333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01584" y="1828800"/>
            <a:ext cx="73152" cy="3438144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prep and events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02752" y="2340864"/>
            <a:ext cx="3044952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question lists and cheat sheets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Prepared diagnostic-company background and CRC reimbursement support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Summarized AI webinars, medtech / tools symposiums and China VBP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discipline - structure, evidence and a clear so-what - improved both proprietary projects and day-to-day research output.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50208"/>
            <a:ext cx="6839712" cy="29077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676656"/>
            <a:ext cx="4498848" cy="52669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274320"/>
            <a:ext cx="475488" cy="5084064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3891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8961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7150608" y="9601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50" kern="0" dirty="0">
                <a:solidFill>
                  <a:srgbClr val="1E9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PROJECT 2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7150608" y="1389888"/>
            <a:ext cx="36758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150608" y="3255264"/>
            <a:ext cx="3246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3493008"/>
            <a:ext cx="3493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narrow launch-counting with a broader proprietary evidence framework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PROJECT MATTERED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is central to organic growth in sticky tools markets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was motivated by Danaher initiation work and a broader question: can acquired businesses continue to innovate as the science becomes more advanced?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603504" y="1828800"/>
            <a:ext cx="2926080" cy="3401568"/>
          </a:xfrm>
          <a:prstGeom prst="roundRect">
            <a:avLst>
              <a:gd name="adj" fmla="val 156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" y="1828800"/>
            <a:ext cx="73152" cy="340156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products and workflows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340864"/>
            <a:ext cx="254203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researchers validate an instrument, reagent or workflow, switching creates retraining, validation and reproducibility costs. Brand loyalty and installed-base effects are powerful.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3675888" y="1828800"/>
            <a:ext cx="2926080" cy="3401568"/>
          </a:xfrm>
          <a:prstGeom prst="roundRect">
            <a:avLst>
              <a:gd name="adj" fmla="val 1563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75888" y="1828800"/>
            <a:ext cx="73152" cy="34015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77056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creates the reason to switch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77056" y="2340864"/>
            <a:ext cx="254203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entrants or share gainers generally need meaningfully better performance, throughput, cost or workflow integration to overcome switching friction.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748272" y="1828800"/>
            <a:ext cx="2926080" cy="3401568"/>
          </a:xfrm>
          <a:prstGeom prst="roundRect">
            <a:avLst>
              <a:gd name="adj" fmla="val 156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748272" y="1828800"/>
            <a:ext cx="73152" cy="340156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19933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M&amp;A can buy entry; innovation drives organic growth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2340864"/>
            <a:ext cx="2542032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create exposure to new categories, but sustained growth depends on product quality, roadmap execution and continued innovation inside acquired businesses.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9820656" y="1828800"/>
            <a:ext cx="1719072" cy="3401568"/>
          </a:xfrm>
          <a:prstGeom prst="roundRect">
            <a:avLst>
              <a:gd name="adj" fmla="val 2660"/>
            </a:avLst>
          </a:prstGeom>
          <a:solidFill>
            <a:srgbClr val="DFF2FA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20656" y="1828800"/>
            <a:ext cx="73152" cy="3401568"/>
          </a:xfrm>
          <a:prstGeom prst="rect">
            <a:avLst/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21824" y="1993392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Danaher context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10021824" y="2340864"/>
            <a:ext cx="133502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acquisitions were often more established tools and reagents. Aldevron and other recent targets involve more advanced science, increasing the importance of innovation capability after acquisition.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question: which companies show the strongest observable innovation signals after accounting for differences in R&amp;D scale?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IMPROVEMENTS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replaced two imperfect proxies with a broader evidence mosaic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 was not to find a perfect innovation metric; it was to build a more durable, auditable set of indicators.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3429000" cy="3364992"/>
          </a:xfrm>
          <a:prstGeom prst="roundRect">
            <a:avLst>
              <a:gd name="adj" fmla="val 1359"/>
            </a:avLst>
          </a:prstGeom>
          <a:solidFill>
            <a:srgbClr val="FFF9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828800"/>
            <a:ext cx="73152" cy="3364992"/>
          </a:xfrm>
          <a:prstGeom prst="rect">
            <a:avLst/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removed: launch counts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340864"/>
            <a:ext cx="30449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Press releases capture only the largest launches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Disclosure detail varies materially by company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Product naming and launch timing are inconsistent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low count may reflect reporting practice rather than limited innovation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379976" y="1828800"/>
            <a:ext cx="3429000" cy="3364992"/>
          </a:xfrm>
          <a:prstGeom prst="roundRect">
            <a:avLst>
              <a:gd name="adj" fmla="val 1359"/>
            </a:avLst>
          </a:prstGeom>
          <a:solidFill>
            <a:srgbClr val="FFFDF5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828800"/>
            <a:ext cx="73152" cy="3364992"/>
          </a:xfrm>
          <a:prstGeom prst="rect">
            <a:avLst/>
          </a:prstGeom>
          <a:solidFill>
            <a:srgbClr val="E5B944"/>
          </a:solidFill>
          <a:ln w="12700">
            <a:solidFill>
              <a:srgbClr val="E5B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81144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removed: LinkedIn PhD share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81144" y="2340864"/>
            <a:ext cx="30449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Ordinary LinkedIn search is approximate and not a controlled degree-field filter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Parent / subsidiary mapping is inconsistent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Numerator and denominator populations do not reconcile cleanly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Result was not sufficiently auditable for a scored peer comparison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29000" cy="3364992"/>
          </a:xfrm>
          <a:prstGeom prst="roundRect">
            <a:avLst>
              <a:gd name="adj" fmla="val 1359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828800"/>
            <a:ext cx="73152" cy="3364992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added instead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2340864"/>
            <a:ext cx="3044952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R&amp;D as a percentage of sales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R&amp;D per employee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bioRxiv, PMC and PubMed research signals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USPTO patent activity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NIH S10 institutional adoption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External innovation awards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revised framework is broader, more repeatable and more transparent about where the data are strong versus merely suggestive.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AND DATA INTEGRITY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metrics capture different stages of the innovation cycle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source answers a different question; the analytical value comes from triangulation rather than any single metric.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76656" y="173736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intensity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2788920" y="17373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% sales | R&amp;D / employee</a:t>
            </a:r>
            <a:endParaRPr lang="en-US" sz="1010" dirty="0"/>
          </a:p>
        </p:txBody>
      </p:sp>
      <p:sp>
        <p:nvSpPr>
          <p:cNvPr id="7" name="Text 5"/>
          <p:cNvSpPr/>
          <p:nvPr/>
        </p:nvSpPr>
        <p:spPr>
          <a:xfrm>
            <a:off x="6089904" y="17190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concentrated is innovation investment?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76656" y="2212848"/>
            <a:ext cx="9125712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523744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activity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2788920" y="252374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bioRxiv | USPTO patents</a:t>
            </a:r>
            <a:endParaRPr lang="en-US" sz="1010" dirty="0"/>
          </a:p>
        </p:txBody>
      </p:sp>
      <p:sp>
        <p:nvSpPr>
          <p:cNvPr id="11" name="Text 9"/>
          <p:cNvSpPr/>
          <p:nvPr/>
        </p:nvSpPr>
        <p:spPr>
          <a:xfrm>
            <a:off x="6089904" y="2505456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early research and IP activity appearing?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76656" y="2999232"/>
            <a:ext cx="9125712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31012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footprint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2788920" y="33101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PMC Methods | PubMed</a:t>
            </a:r>
            <a:endParaRPr lang="en-US" sz="1010" dirty="0"/>
          </a:p>
        </p:txBody>
      </p:sp>
      <p:sp>
        <p:nvSpPr>
          <p:cNvPr id="15" name="Text 13"/>
          <p:cNvSpPr/>
          <p:nvPr/>
        </p:nvSpPr>
        <p:spPr>
          <a:xfrm>
            <a:off x="6089904" y="3291840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are technologies embedded in published research?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676656" y="3785616"/>
            <a:ext cx="9125712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40965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adoption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2788920" y="409651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S10 awards and funding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6089904" y="4078224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platforms are selected for shared research infrastructure?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76656" y="4572000"/>
            <a:ext cx="9125712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4882896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recognition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2788920" y="488289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b="1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awards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6089904" y="4864608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products receive third-party recognition?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676656" y="5358384"/>
            <a:ext cx="9125712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40112" y="1737360"/>
            <a:ext cx="1499616" cy="3913632"/>
          </a:xfrm>
          <a:prstGeom prst="roundRect">
            <a:avLst>
              <a:gd name="adj" fmla="val 3049"/>
            </a:avLst>
          </a:prstGeom>
          <a:solidFill>
            <a:srgbClr val="DFF2FA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40112" y="1737360"/>
            <a:ext cx="73152" cy="391363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190195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endParaRPr lang="en-US" sz="1180" dirty="0"/>
          </a:p>
        </p:txBody>
      </p:sp>
      <p:sp>
        <p:nvSpPr>
          <p:cNvPr id="28" name="Text 26"/>
          <p:cNvSpPr/>
          <p:nvPr/>
        </p:nvSpPr>
        <p:spPr>
          <a:xfrm>
            <a:off x="10241280" y="2249424"/>
            <a:ext cx="1115568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Fixed unit of analysis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One record x one company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 matched terms retained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pagination and checkpoints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Deduplication and audit trails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Clear source-specific limits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is strongest when multiple independent sources point in the same direction.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HEATMAP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leadership varies by dimension, not just by scale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the results section with the full peer profile, then use the following slides to explain the individual metrics.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Peer-relative innovation profile heatmap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21792" y="2112264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15872" y="2112264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09952" y="2112264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04032" y="2112264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98112" y="2112264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92192" y="2112264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86272" y="2112264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80352" y="2112264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4432" y="2112264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42392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15872" y="242392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09952" y="242392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04032" y="242392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98112" y="242392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92192" y="242392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86272" y="242392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80352" y="242392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4432" y="242392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2735580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15872" y="2735580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09952" y="2735580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04032" y="2735580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98112" y="2735580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92192" y="2735580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6272" y="2735580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80352" y="2735580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4432" y="2735580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3047238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15872" y="3047238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09952" y="3047238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04032" y="3047238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98112" y="3047238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92192" y="3047238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86272" y="3047238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80352" y="3047238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4432" y="3047238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1792" y="3358896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515872" y="3358896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409952" y="3358896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04032" y="3358896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98112" y="3358896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92192" y="3358896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986272" y="3358896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80352" y="3358896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74432" y="3358896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1792" y="3670554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15872" y="3670554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09952" y="3670554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04032" y="3670554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98112" y="3670554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92192" y="3670554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986272" y="3670554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80352" y="3670554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774432" y="3670554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21792" y="398221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15872" y="3982212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409952" y="398221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04032" y="3982212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98112" y="398221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92192" y="3982212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86272" y="398221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80352" y="3982212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774432" y="398221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1792" y="4293870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15872" y="4293870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409952" y="4293870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304032" y="4293870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98112" y="4293870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92192" y="4293870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986272" y="4293870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880352" y="4293870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74432" y="4293870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21792" y="4605528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515872" y="4605528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409952" y="4605528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304032" y="4605528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98112" y="4605528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092192" y="4605528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86272" y="4605528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880352" y="4605528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774432" y="4605528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21792" y="4917186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15872" y="4917186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409952" y="4917186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304032" y="4917186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198112" y="4917186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5092192" y="4917186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986272" y="4917186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880352" y="4917186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774432" y="4917186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1792" y="5228844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515872" y="5228844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09952" y="5228844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304032" y="5228844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98112" y="5228844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092192" y="5228844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86272" y="5228844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880352" y="5228844"/>
            <a:ext cx="894080" cy="311658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7774432" y="5228844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21792" y="554050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515872" y="554050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409952" y="554050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304032" y="554050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198112" y="554050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092192" y="554050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986272" y="554050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880352" y="5540502"/>
            <a:ext cx="894080" cy="311658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774432" y="5540502"/>
            <a:ext cx="894080" cy="311658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924544" y="1783080"/>
            <a:ext cx="2615184" cy="4069080"/>
          </a:xfrm>
          <a:prstGeom prst="roundRect">
            <a:avLst>
              <a:gd name="adj" fmla="val 1748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924544" y="1783080"/>
            <a:ext cx="73152" cy="406908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125712" y="1947672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to replace</a:t>
            </a:r>
            <a:endParaRPr lang="en-US" sz="1340" dirty="0"/>
          </a:p>
        </p:txBody>
      </p:sp>
      <p:sp>
        <p:nvSpPr>
          <p:cNvPr id="117" name="Text 115"/>
          <p:cNvSpPr/>
          <p:nvPr/>
        </p:nvSpPr>
        <p:spPr>
          <a:xfrm>
            <a:off x="9125712" y="2295144"/>
            <a:ext cx="2231136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Broad-based leaders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with top-third positioning across several dimensions.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Specialists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that lead in emerging or established activity, but not across the full framework.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Scale versus intensity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absolute R&amp;D investors do not necessarily lead on relative investment intensity.</a:t>
            </a:r>
            <a:endParaRPr lang="en-US" sz="930" dirty="0"/>
          </a:p>
          <a:p>
            <a:pPr indent="0" marL="0">
              <a:buNone/>
            </a:pP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Supplemental signals</a:t>
            </a:r>
            <a:endParaRPr lang="en-US" sz="930" dirty="0"/>
          </a:p>
          <a:p>
            <a:pPr indent="0" marL="0">
              <a:buNone/>
            </a:pPr>
            <a:r>
              <a:rPr lang="en-US" sz="93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and awards corroborate, but do not determine, the core profile.</a:t>
            </a:r>
            <a:endParaRPr lang="en-US" sz="930" dirty="0"/>
          </a:p>
        </p:txBody>
      </p:sp>
      <p:sp>
        <p:nvSpPr>
          <p:cNvPr id="118" name="Shape 116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heatmap is a peer-relative profile, not an absolute verdict on which companies are or are not innovative.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multi-year view reduces timing noise while preserving company-specific trends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pooled PubMed chart to show annual clustering; the four-year view limits one-off publication and indexing effects.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708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PubMed observations vs pooled R&amp;D-adjusted benchmark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21792" y="2103120"/>
            <a:ext cx="7086600" cy="374904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5458968"/>
            <a:ext cx="6263640" cy="0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2496312"/>
            <a:ext cx="0" cy="2962656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2536" y="4443984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53919" y="4011930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89097" y="421355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85539" y="3637483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81982" y="381030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17159" y="3234233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9807" y="3435858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5024" y="4864608"/>
            <a:ext cx="5669280" cy="-2286000"/>
          </a:xfrm>
          <a:prstGeom prst="line">
            <a:avLst/>
          </a:prstGeom>
          <a:noFill/>
          <a:ln w="19050">
            <a:solidFill>
              <a:srgbClr val="1E9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2286000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Y: Annual PubMed title/abstract relationships (log scale)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1124712" y="5650992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R&amp;D expense ($mm, log scale)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5742432" y="2176272"/>
            <a:ext cx="1719072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223113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EXHIBIT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7973568" y="1783080"/>
            <a:ext cx="3566160" cy="1856232"/>
          </a:xfrm>
          <a:prstGeom prst="roundRect">
            <a:avLst>
              <a:gd name="adj" fmla="val 246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73568" y="1783080"/>
            <a:ext cx="73152" cy="185623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4736" y="19476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use four years?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8174736" y="2295144"/>
            <a:ext cx="318211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Publication timing can shift between calendar years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Indexing and individual studies can create temporary spikes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Company clusters reveal persistent relative positioning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Multi-year averages reduce noise without hiding broad differences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973568" y="3840480"/>
            <a:ext cx="3566160" cy="2011680"/>
          </a:xfrm>
          <a:prstGeom prst="roundRect">
            <a:avLst>
              <a:gd name="adj" fmla="val 2273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73568" y="3840480"/>
            <a:ext cx="73152" cy="2011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74736" y="40050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the exhibit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74736" y="4352544"/>
            <a:ext cx="31821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color represents one company; four markers represent 2022-2025 annual observations. Tight clusters imply persistent positioning. A consistent directional move is treated as a separate trend rather than dismissed as noise.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four-year measure is intended to capture persistent scientific visibility, while annual residuals remain a diagnostic for emerging directional change.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INPUTS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intensity: scale and concentration are related but distinct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as a percentage of sales and R&amp;D per employee capture two different dimensions of innovation commitment.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21792" y="1755648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investment intensity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21792" y="2075688"/>
            <a:ext cx="5376672" cy="329184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4974336"/>
            <a:ext cx="4553712" cy="0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2468880"/>
            <a:ext cx="0" cy="2505456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047" y="4096512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3536" y="3733038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3523" y="3902659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7674" y="3418027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21826" y="3563417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1812" y="307878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93468" y="3248406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5166360"/>
            <a:ext cx="4690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expense as a percentage of sales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4032504" y="2148840"/>
            <a:ext cx="1719072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23944" y="220370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EXHIBIT</a:t>
            </a:r>
            <a:endParaRPr lang="en-US" sz="760" dirty="0"/>
          </a:p>
        </p:txBody>
      </p:sp>
      <p:sp>
        <p:nvSpPr>
          <p:cNvPr id="19" name="Text 17"/>
          <p:cNvSpPr/>
          <p:nvPr/>
        </p:nvSpPr>
        <p:spPr>
          <a:xfrm>
            <a:off x="6199632" y="1755648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investment per employee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199632" y="2075688"/>
            <a:ext cx="5376672" cy="329184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4974336"/>
            <a:ext cx="4553712" cy="0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2552" y="2468880"/>
            <a:ext cx="0" cy="2505456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23887" y="4096512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21376" y="3733038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51363" y="3902659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25514" y="3418027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99666" y="3563417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29652" y="307878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71308" y="3248406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02552" y="5166360"/>
            <a:ext cx="4690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R&amp;D expense per employee</a:t>
            </a:r>
            <a:endParaRPr lang="en-US" sz="670" dirty="0"/>
          </a:p>
        </p:txBody>
      </p:sp>
      <p:sp>
        <p:nvSpPr>
          <p:cNvPr id="31" name="Shape 29"/>
          <p:cNvSpPr/>
          <p:nvPr/>
        </p:nvSpPr>
        <p:spPr>
          <a:xfrm>
            <a:off x="9610344" y="2148840"/>
            <a:ext cx="1719072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01784" y="220370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EXHIBIT</a:t>
            </a:r>
            <a:endParaRPr lang="en-US" sz="760" dirty="0"/>
          </a:p>
        </p:txBody>
      </p:sp>
      <p:sp>
        <p:nvSpPr>
          <p:cNvPr id="33" name="Text 31"/>
          <p:cNvSpPr/>
          <p:nvPr/>
        </p:nvSpPr>
        <p:spPr>
          <a:xfrm>
            <a:off x="713232" y="54681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755648" y="544068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/ sales measures reinvestment intensity; R&amp;D / employee measures resource concentration. Absolute R&amp;D scale remains context, not another scored output.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scale leader can still rank lower on intensity if a diversified revenue and workforce base dilutes the ratios.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INNOVATION ACTIVITY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research and intellectual property provide complementary signals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bioRxiv captures prepublication scientific presence; USPTO patents capture formal protection of potentially commercializable inventions.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21792" y="1755648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bioRxiv: early-stage research presence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21792" y="2075688"/>
            <a:ext cx="5376672" cy="329184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4974336"/>
            <a:ext cx="4553712" cy="0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2468880"/>
            <a:ext cx="0" cy="2505456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047" y="4096512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3536" y="3733038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3523" y="3902659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7674" y="3418027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21826" y="3563417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1812" y="307878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93468" y="3248406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5024" y="4379976"/>
            <a:ext cx="3959352" cy="-1828800"/>
          </a:xfrm>
          <a:prstGeom prst="line">
            <a:avLst/>
          </a:prstGeom>
          <a:noFill/>
          <a:ln w="19050">
            <a:solidFill>
              <a:srgbClr val="1E9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225856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Y: Average annual company-paper relationships (log scale)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1124712" y="5166360"/>
            <a:ext cx="4690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R&amp;D expense ($mm, log scale)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4032504" y="2148840"/>
            <a:ext cx="1719072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23944" y="220370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EXHIBIT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6199632" y="1755648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USPTO: patent activity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199632" y="2075688"/>
            <a:ext cx="5376672" cy="329184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02552" y="4974336"/>
            <a:ext cx="4553712" cy="0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02552" y="2468880"/>
            <a:ext cx="0" cy="2505456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3887" y="4096512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1376" y="3733038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51363" y="3902659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5514" y="3418027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99666" y="3563417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29652" y="307878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71308" y="3248406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12864" y="4379976"/>
            <a:ext cx="3959352" cy="-1828800"/>
          </a:xfrm>
          <a:prstGeom prst="line">
            <a:avLst/>
          </a:prstGeom>
          <a:noFill/>
          <a:ln w="19050">
            <a:solidFill>
              <a:srgbClr val="1E9D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225856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Y: Average annual patent applications (log scale)</a:t>
            </a:r>
            <a:endParaRPr lang="en-US" sz="630" dirty="0"/>
          </a:p>
        </p:txBody>
      </p:sp>
      <p:sp>
        <p:nvSpPr>
          <p:cNvPr id="34" name="Text 32"/>
          <p:cNvSpPr/>
          <p:nvPr/>
        </p:nvSpPr>
        <p:spPr>
          <a:xfrm>
            <a:off x="6702552" y="5166360"/>
            <a:ext cx="4690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R&amp;D expense ($mm, log scale)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9610344" y="2148840"/>
            <a:ext cx="1719072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220370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EXHIBIT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731520" y="5468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the line = greater observed activity than implied by peer R&amp;D scale.  Below the line = lower observed activity than implied by peer R&amp;D scale.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sources illuminate different front-end behaviors: early dissemination versus proprietary IP creation.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SCIENTIFIC FOOTPRINT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literature shows where company technologies appear in research workflows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PMC Methods and PubMed provide complementary views of embedded experimental presence and broader scientific visibility.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21792" y="1755648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PMC Methods: embedded experimental presence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21792" y="2075688"/>
            <a:ext cx="5376672" cy="329184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4974336"/>
            <a:ext cx="4553712" cy="0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2468880"/>
            <a:ext cx="0" cy="2505456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46047" y="4096512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3536" y="3733038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3523" y="3902659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7674" y="3418027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21826" y="3563417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1812" y="307878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93468" y="3248406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35024" y="4379976"/>
            <a:ext cx="3959352" cy="-1828800"/>
          </a:xfrm>
          <a:prstGeom prst="line">
            <a:avLst/>
          </a:prstGeom>
          <a:noFill/>
          <a:ln w="19050">
            <a:solidFill>
              <a:srgbClr val="1E9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3584" y="225856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Y: Average annual PMC Methods relationships (log scale)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1124712" y="5166360"/>
            <a:ext cx="4690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R&amp;D expense ($mm, log scale)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4032504" y="2148840"/>
            <a:ext cx="1719072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23944" y="220370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EXHIBIT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6199632" y="1755648"/>
            <a:ext cx="5376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PubMed: broader scientific visibility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6199632" y="2075688"/>
            <a:ext cx="5376672" cy="329184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02552" y="4974336"/>
            <a:ext cx="4553712" cy="0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02552" y="2468880"/>
            <a:ext cx="0" cy="2505456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23887" y="4096512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1376" y="3733038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51363" y="3902659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825514" y="3418027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399666" y="3563417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29652" y="307878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71308" y="3248406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12864" y="4379976"/>
            <a:ext cx="3959352" cy="-1828800"/>
          </a:xfrm>
          <a:prstGeom prst="line">
            <a:avLst/>
          </a:prstGeom>
          <a:noFill/>
          <a:ln w="19050">
            <a:solidFill>
              <a:srgbClr val="1E9D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21424" y="225856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Y: Average annual title / abstract relationships (log scale)</a:t>
            </a:r>
            <a:endParaRPr lang="en-US" sz="630" dirty="0"/>
          </a:p>
        </p:txBody>
      </p:sp>
      <p:sp>
        <p:nvSpPr>
          <p:cNvPr id="34" name="Text 32"/>
          <p:cNvSpPr/>
          <p:nvPr/>
        </p:nvSpPr>
        <p:spPr>
          <a:xfrm>
            <a:off x="6702552" y="5166360"/>
            <a:ext cx="4690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R&amp;D expense ($mm, log scale)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9610344" y="2148840"/>
            <a:ext cx="1719072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01784" y="2203704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EXHIBIT</a:t>
            </a:r>
            <a:endParaRPr lang="en-US" sz="760" dirty="0"/>
          </a:p>
        </p:txBody>
      </p:sp>
      <p:sp>
        <p:nvSpPr>
          <p:cNvPr id="37" name="Text 35"/>
          <p:cNvSpPr/>
          <p:nvPr/>
        </p:nvSpPr>
        <p:spPr>
          <a:xfrm>
            <a:off x="731520" y="54681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PMC is more specific to methods-related usage; PubMed is broader but less specific because it searches titles and abstracts.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Cross-source consistency is more meaningful than an isolated result in one database.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EXTERNAL VALIDATION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adoption and recognition add two different outside perspectives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S10 reflects institutions selecting equipment; innovation awards reflect judges recognizing products or technologies.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58368" y="1783080"/>
            <a:ext cx="5230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S10: share of awards and associated funding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22494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TMO</a:t>
            </a:r>
            <a:endParaRPr lang="en-US" sz="670" dirty="0"/>
          </a:p>
        </p:txBody>
      </p:sp>
      <p:sp>
        <p:nvSpPr>
          <p:cNvPr id="7" name="Shape 5"/>
          <p:cNvSpPr/>
          <p:nvPr/>
        </p:nvSpPr>
        <p:spPr>
          <a:xfrm>
            <a:off x="1225296" y="2221992"/>
            <a:ext cx="3794394" cy="182880"/>
          </a:xfrm>
          <a:prstGeom prst="rect">
            <a:avLst/>
          </a:prstGeom>
          <a:solidFill>
            <a:srgbClr val="2F6B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59689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</a:t>
            </a:r>
            <a:endParaRPr lang="en-US" sz="670" dirty="0"/>
          </a:p>
        </p:txBody>
      </p:sp>
      <p:sp>
        <p:nvSpPr>
          <p:cNvPr id="9" name="Shape 7"/>
          <p:cNvSpPr/>
          <p:nvPr/>
        </p:nvSpPr>
        <p:spPr>
          <a:xfrm>
            <a:off x="1225296" y="2569464"/>
            <a:ext cx="3161995" cy="182880"/>
          </a:xfrm>
          <a:prstGeom prst="rect">
            <a:avLst/>
          </a:prstGeom>
          <a:solidFill>
            <a:srgbClr val="2F6B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94436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BRKR</a:t>
            </a:r>
            <a:endParaRPr lang="en-US" sz="670" dirty="0"/>
          </a:p>
        </p:txBody>
      </p:sp>
      <p:sp>
        <p:nvSpPr>
          <p:cNvPr id="11" name="Shape 9"/>
          <p:cNvSpPr/>
          <p:nvPr/>
        </p:nvSpPr>
        <p:spPr>
          <a:xfrm>
            <a:off x="1225296" y="2916936"/>
            <a:ext cx="2755453" cy="182880"/>
          </a:xfrm>
          <a:prstGeom prst="rect">
            <a:avLst/>
          </a:prstGeom>
          <a:solidFill>
            <a:srgbClr val="2F6B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29184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</a:t>
            </a:r>
            <a:endParaRPr lang="en-US" sz="670" dirty="0"/>
          </a:p>
        </p:txBody>
      </p:sp>
      <p:sp>
        <p:nvSpPr>
          <p:cNvPr id="13" name="Shape 11"/>
          <p:cNvSpPr/>
          <p:nvPr/>
        </p:nvSpPr>
        <p:spPr>
          <a:xfrm>
            <a:off x="1225296" y="3264408"/>
            <a:ext cx="2213397" cy="182880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63931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ILMN</a:t>
            </a:r>
            <a:endParaRPr lang="en-US" sz="670" dirty="0"/>
          </a:p>
        </p:txBody>
      </p:sp>
      <p:sp>
        <p:nvSpPr>
          <p:cNvPr id="15" name="Shape 13"/>
          <p:cNvSpPr/>
          <p:nvPr/>
        </p:nvSpPr>
        <p:spPr>
          <a:xfrm>
            <a:off x="1225296" y="3611880"/>
            <a:ext cx="1716512" cy="182880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98678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1225296" y="3959352"/>
            <a:ext cx="1174455" cy="182880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433425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PACB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1225296" y="4306824"/>
            <a:ext cx="722742" cy="182880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59936" y="4946904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1376" y="500176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DATA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6254496" y="1783080"/>
            <a:ext cx="5230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awards per $1bn of cumulative R&amp;D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54496" y="22494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TMO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6821424" y="2221992"/>
            <a:ext cx="3794394" cy="182880"/>
          </a:xfrm>
          <a:prstGeom prst="rect">
            <a:avLst/>
          </a:prstGeom>
          <a:solidFill>
            <a:srgbClr val="2F6B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259689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6821424" y="2569464"/>
            <a:ext cx="3161995" cy="182880"/>
          </a:xfrm>
          <a:prstGeom prst="rect">
            <a:avLst/>
          </a:prstGeom>
          <a:solidFill>
            <a:srgbClr val="2F6B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944368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BRKR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6821424" y="2916936"/>
            <a:ext cx="2755453" cy="182880"/>
          </a:xfrm>
          <a:prstGeom prst="rect">
            <a:avLst/>
          </a:prstGeom>
          <a:solidFill>
            <a:srgbClr val="2F6B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329184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6821424" y="3264408"/>
            <a:ext cx="2213397" cy="182880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3639312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ILMN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6821424" y="3611880"/>
            <a:ext cx="1716512" cy="182880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398678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670" dirty="0"/>
          </a:p>
        </p:txBody>
      </p:sp>
      <p:sp>
        <p:nvSpPr>
          <p:cNvPr id="34" name="Shape 32"/>
          <p:cNvSpPr/>
          <p:nvPr/>
        </p:nvSpPr>
        <p:spPr>
          <a:xfrm>
            <a:off x="6821424" y="3959352"/>
            <a:ext cx="1174455" cy="182880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54496" y="4334256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PACB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6821424" y="4306824"/>
            <a:ext cx="722742" cy="182880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656064" y="4946904"/>
            <a:ext cx="1600200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747504" y="500176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DATA</a:t>
            </a:r>
            <a:endParaRPr lang="en-US" sz="760" dirty="0"/>
          </a:p>
        </p:txBody>
      </p:sp>
      <p:sp>
        <p:nvSpPr>
          <p:cNvPr id="39" name="Text 37"/>
          <p:cNvSpPr/>
          <p:nvPr/>
        </p:nvSpPr>
        <p:spPr>
          <a:xfrm>
            <a:off x="731520" y="5449824"/>
            <a:ext cx="10698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S10 is treated as institutional adoption because grants are awarded to research institutions selecting shared equipment. Awards are treated as external recognition because they reflect judging-body decisions, not product usage.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signals are useful corroboration, but their sparse and business-model-dependent nature warrants lighter interpretation.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APPLICATIONS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framework can detect emerging change, not only four-year positioning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PACB provides an example of how annual residuals may surface a developing scientific-visibility trend.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21792" y="1783080"/>
            <a:ext cx="6784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PACB R&amp;D-adjusted PubMed presence vs peer median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21792" y="2103120"/>
            <a:ext cx="6784848" cy="374904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4712" y="5458968"/>
            <a:ext cx="5961888" cy="0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24712" y="2496312"/>
            <a:ext cx="0" cy="2962656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57273" y="4443984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1499" y="4011930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80466" y="421355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7681" y="3637483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94895" y="381030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3863" y="3234233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76336" y="3435858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3584" y="2286000"/>
            <a:ext cx="39502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Y: Observed PubMed presence / peer-implied presence (x)</a:t>
            </a:r>
            <a:endParaRPr lang="en-US" sz="630" dirty="0"/>
          </a:p>
        </p:txBody>
      </p:sp>
      <p:sp>
        <p:nvSpPr>
          <p:cNvPr id="17" name="Text 15"/>
          <p:cNvSpPr/>
          <p:nvPr/>
        </p:nvSpPr>
        <p:spPr>
          <a:xfrm>
            <a:off x="1124712" y="5650992"/>
            <a:ext cx="6099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670" dirty="0"/>
          </a:p>
        </p:txBody>
      </p:sp>
      <p:sp>
        <p:nvSpPr>
          <p:cNvPr id="18" name="Shape 16"/>
          <p:cNvSpPr/>
          <p:nvPr/>
        </p:nvSpPr>
        <p:spPr>
          <a:xfrm>
            <a:off x="5440680" y="2176272"/>
            <a:ext cx="1719072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32120" y="223113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EXHIBIT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1234440" y="4315968"/>
            <a:ext cx="5212080" cy="-1591056"/>
          </a:xfrm>
          <a:prstGeom prst="line">
            <a:avLst/>
          </a:prstGeom>
          <a:noFill/>
          <a:ln w="30480">
            <a:solidFill>
              <a:srgbClr val="1E9DD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4440" y="3767328"/>
            <a:ext cx="5212080" cy="-36576"/>
          </a:xfrm>
          <a:prstGeom prst="line">
            <a:avLst/>
          </a:prstGeom>
          <a:noFill/>
          <a:ln w="19050">
            <a:solidFill>
              <a:srgbClr val="C8C9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62672" y="1783080"/>
            <a:ext cx="3877056" cy="1901952"/>
          </a:xfrm>
          <a:prstGeom prst="roundRect">
            <a:avLst>
              <a:gd name="adj" fmla="val 2404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62672" y="1783080"/>
            <a:ext cx="73152" cy="190195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1947672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PACB may have changed</a:t>
            </a:r>
            <a:endParaRPr lang="en-US" sz="1330" dirty="0"/>
          </a:p>
        </p:txBody>
      </p:sp>
      <p:sp>
        <p:nvSpPr>
          <p:cNvPr id="25" name="Text 23"/>
          <p:cNvSpPr/>
          <p:nvPr/>
        </p:nvSpPr>
        <p:spPr>
          <a:xfrm>
            <a:off x="7863840" y="2295144"/>
            <a:ext cx="349300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PACB launched a major portfolio refresh during the period, including Revio and Onso commercialization in 2023 and Vega introduction in late 2024. Publication lags make launches a plausible contributor, not proof of causality.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662672" y="3858768"/>
            <a:ext cx="3877056" cy="1993392"/>
          </a:xfrm>
          <a:prstGeom prst="roundRect">
            <a:avLst>
              <a:gd name="adj" fmla="val 2294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62672" y="3858768"/>
            <a:ext cx="73152" cy="1993392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4023360"/>
            <a:ext cx="3511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uses of the methodology</a:t>
            </a:r>
            <a:endParaRPr lang="en-US" sz="1330" dirty="0"/>
          </a:p>
        </p:txBody>
      </p:sp>
      <p:sp>
        <p:nvSpPr>
          <p:cNvPr id="29" name="Text 27"/>
          <p:cNvSpPr/>
          <p:nvPr/>
        </p:nvSpPr>
        <p:spPr>
          <a:xfrm>
            <a:off x="7863840" y="4370832"/>
            <a:ext cx="34930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Track whether named instruments gain scientific visibility after launch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 traction speed across platforms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Test whether research adoption precedes commercial inflection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Monitor product-specific share of methods mentions over time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Averaging reduces one-off noise, while retained annual residuals can still identify persistent directional change worth deeper research.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AND LIMITATIONS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is a proxy for innovation, not a direct measure of innovation quality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comes from looking across several imperfect sources while being explicit about what each source can and cannot prove.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713232" y="17556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causal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16352" y="1737360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spending, publications and patents are associated in the data; the analysis does not prove current R&amp;D caused each output.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713232" y="2267712"/>
            <a:ext cx="8924544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7157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Source-specific bias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16352" y="2697480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bioRxiv, PMC, PubMed, USPTO, NIH and award programs each cover different populations and reporting behaviors.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713232" y="3227832"/>
            <a:ext cx="8924544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3675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Business-model dependence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16352" y="3657600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base, product mix, instrument price, acquisition history and grant eligibility can influence the observed signals.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13232" y="4187952"/>
            <a:ext cx="8924544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46360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framework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16352" y="4617720"/>
            <a:ext cx="6812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estimates observable innovation signals, not commercial success, technology quality or product-level market share.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713232" y="5148072"/>
            <a:ext cx="8924544" cy="0"/>
          </a:xfrm>
          <a:prstGeom prst="line">
            <a:avLst/>
          </a:prstGeom>
          <a:noFill/>
          <a:ln w="8890">
            <a:solidFill>
              <a:srgbClr val="E8EA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93808" y="1755648"/>
            <a:ext cx="1645920" cy="3950208"/>
          </a:xfrm>
          <a:prstGeom prst="roundRect">
            <a:avLst>
              <a:gd name="adj" fmla="val 2778"/>
            </a:avLst>
          </a:prstGeom>
          <a:solidFill>
            <a:srgbClr val="DFF2FA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93808" y="1755648"/>
            <a:ext cx="73152" cy="395020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94976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it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10094976" y="2267712"/>
            <a:ext cx="1261872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heatmap to identify where follow-up research should focus. Broad consistency across sources is more informative than one isolated green box.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discipline is to use the evidence mosaic to sharpen judgment - not to replace judgment.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RELEVANCE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converts a broad dataset into company-specific research questions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final heatmap to define archetypes and identify where deeper diligence could change the investment debate.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3383280"/>
          </a:xfrm>
          <a:prstGeom prst="roundRect">
            <a:avLst>
              <a:gd name="adj" fmla="val 1351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73152" cy="3383280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Broad-based leaders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2340864"/>
            <a:ext cx="30449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with strong relative positioning across investment intensity, emerging activity and established scientific footprint.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 Is the breadth durable and reflected in organic growth?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29000" cy="3383280"/>
          </a:xfrm>
          <a:prstGeom prst="roundRect">
            <a:avLst>
              <a:gd name="adj" fmla="val 1351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Scale-led platforms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0288" y="2340864"/>
            <a:ext cx="30449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with large absolute R&amp;D budgets and broad installed bases, but lower relative intensity or adjusted-output multiples.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 Does scale translate into sufficient innovation inside acquired businesses?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29000" cy="3383280"/>
          </a:xfrm>
          <a:prstGeom prst="roundRect">
            <a:avLst>
              <a:gd name="adj" fmla="val 1351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715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38160" y="1828800"/>
            <a:ext cx="73152" cy="3383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99339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specialists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39328" y="2340864"/>
            <a:ext cx="30449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that over-index in one channel, such as early research, patents or methods presence, without broad strength across every category.</a:t>
            </a:r>
            <a:endParaRPr lang="en-US" sz="1040" dirty="0"/>
          </a:p>
          <a:p>
            <a:pPr indent="0" marL="0">
              <a:buNone/>
            </a:pP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Follow-up: Can category leadership convert into share gain or platform expansion?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useful output is not a league table; it is a structured map of where each company appears strong, weak or worthy of deeper follow-up.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EXECUTION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applied the same discipline to notes, initiation work and calls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two major projects, I supported the coverage process through writing, data updates, exhibit work and preparation.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2103120" cy="402336"/>
          </a:xfrm>
          <a:prstGeom prst="roundRect">
            <a:avLst>
              <a:gd name="adj" fmla="val 9091"/>
            </a:avLst>
          </a:prstGeom>
          <a:solidFill>
            <a:srgbClr val="E9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847088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resumption / initiation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2980944" y="1773936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Supported sector resumption across GH, NTRA, A, AVTR, WAT, TMO, RVTY and ILMN; helped with thesis and valuation slides and NIH funding analysis.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658368" y="2724912"/>
            <a:ext cx="2103120" cy="402336"/>
          </a:xfrm>
          <a:prstGeom prst="roundRect">
            <a:avLst>
              <a:gd name="adj" fmla="val 9091"/>
            </a:avLst>
          </a:prstGeom>
          <a:solidFill>
            <a:srgbClr val="DF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816352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notes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2980944" y="2743200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Contributed to seven company notes: call takeaways, commentary sections, guidance tracking and historical exhibit updates.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658368" y="3694176"/>
            <a:ext cx="2103120" cy="402336"/>
          </a:xfrm>
          <a:prstGeom prst="roundRect">
            <a:avLst>
              <a:gd name="adj" fmla="val 9091"/>
            </a:avLst>
          </a:prstGeom>
          <a:solidFill>
            <a:srgbClr val="E9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3785616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preparation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2980944" y="3712464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question lists and cheat sheets, including diagnostic-company call prep and CRC reimbursement-policy background.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658368" y="4663440"/>
            <a:ext cx="2103120" cy="402336"/>
          </a:xfrm>
          <a:prstGeom prst="roundRect">
            <a:avLst>
              <a:gd name="adj" fmla="val 9091"/>
            </a:avLst>
          </a:prstGeom>
          <a:solidFill>
            <a:srgbClr val="DFF2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4754880"/>
            <a:ext cx="1883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and ad hoc research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980944" y="4681728"/>
            <a:ext cx="8183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Summarized AI webinars, medtech / tools symposium content, China VBP and other research requests.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proprietary projects were strengthened by being built alongside live coverage, not apart from it.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learning was how to be rigorous without waiting for perfect information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research requires a best defensible answer, clear limitations and an investable so-what.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749808" y="18470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Imperfect data is normal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24942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 not whether a dataset is perfect; it is whether it is directionally useful, auditable and properly caveated.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749808" y="3090672"/>
            <a:ext cx="4526280" cy="0"/>
          </a:xfrm>
          <a:prstGeom prst="line">
            <a:avLst/>
          </a:prstGeom>
          <a:noFill/>
          <a:ln w="17780">
            <a:solidFill>
              <a:srgbClr val="1E9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18470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so-what matters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0" y="2249424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technically interesting analysis only matters when it sharpens a thesis, note, question or client conversation.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6172200" y="3090672"/>
            <a:ext cx="4526280" cy="0"/>
          </a:xfrm>
          <a:prstGeom prst="line">
            <a:avLst/>
          </a:prstGeom>
          <a:noFill/>
          <a:ln w="17780">
            <a:solidFill>
              <a:srgbClr val="50A4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913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creates edge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431596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Repeatable trackers and scrapers save time, reduce memory bias and let the team revisit questions consistently.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749808" y="5157216"/>
            <a:ext cx="4526280" cy="0"/>
          </a:xfrm>
          <a:prstGeom prst="line">
            <a:avLst/>
          </a:prstGeom>
          <a:noFill/>
          <a:ln w="17780">
            <a:solidFill>
              <a:srgbClr val="1E9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3913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is collaborative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4315968"/>
            <a:ext cx="4617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output came from iterating between scientific detail, equity framing and analyst feedback.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6172200" y="5157216"/>
            <a:ext cx="4526280" cy="0"/>
          </a:xfrm>
          <a:prstGeom prst="line">
            <a:avLst/>
          </a:prstGeom>
          <a:noFill/>
          <a:ln w="17780">
            <a:solidFill>
              <a:srgbClr val="50A4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valuable research products were those that made a messy market easier to debate honestly.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50208"/>
            <a:ext cx="6839712" cy="29077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676656"/>
            <a:ext cx="4498848" cy="52669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274320"/>
            <a:ext cx="475488" cy="5084064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3891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8961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7150608" y="138988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150608" y="21579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and discussion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50608" y="2834640"/>
            <a:ext cx="3246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3182112"/>
            <a:ext cx="352958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theme: I learned how to build differentiated research systems that are useful precisely because they remain transparent about their limitations.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5156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Justin Curcio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51560" y="580644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Research Internship | Life Science Tools &amp; Diagnostics</a:t>
            </a:r>
            <a:endParaRPr lang="en-US" sz="10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50208"/>
            <a:ext cx="6839712" cy="29077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03720" y="676656"/>
            <a:ext cx="4498848" cy="526694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274320"/>
            <a:ext cx="475488" cy="5084064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438912"/>
            <a:ext cx="2423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30352" y="8961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680" dirty="0"/>
          </a:p>
        </p:txBody>
      </p:sp>
      <p:sp>
        <p:nvSpPr>
          <p:cNvPr id="8" name="Text 6"/>
          <p:cNvSpPr/>
          <p:nvPr/>
        </p:nvSpPr>
        <p:spPr>
          <a:xfrm>
            <a:off x="7150608" y="960120"/>
            <a:ext cx="3566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spc="150" kern="0" dirty="0">
                <a:solidFill>
                  <a:srgbClr val="1E9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7150608" y="1389888"/>
            <a:ext cx="367588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150608" y="3255264"/>
            <a:ext cx="32461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3493008"/>
            <a:ext cx="34930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backup slides for final charts, methods detail and raw data tables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heatmap template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if the main heatmap needs more space or the final scoring methodology requires explanation.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3504" y="1691640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Full-width peer heatmap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03504" y="2020824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0784" y="2020824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98064" y="2020824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95344" y="2020824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92624" y="2020824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89904" y="2020824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87184" y="2020824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84464" y="2020824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1744" y="2020824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79024" y="2020824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" y="233476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00784" y="233476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98064" y="233476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95344" y="233476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92624" y="233476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9904" y="233476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233476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84464" y="233476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81744" y="233476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79024" y="233476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" y="2648712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00784" y="2648712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98064" y="2648712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5344" y="2648712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92624" y="2648712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9904" y="2648712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87184" y="2648712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84464" y="2648712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81744" y="2648712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79024" y="2648712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" y="2962656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00784" y="2962656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98064" y="2962656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95344" y="2962656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92624" y="2962656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89904" y="2962656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87184" y="2962656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84464" y="2962656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81744" y="2962656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479024" y="2962656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504" y="3276600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00784" y="3276600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98064" y="3276600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95344" y="3276600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92624" y="3276600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9904" y="3276600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87184" y="3276600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284464" y="3276600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381744" y="3276600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479024" y="3276600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03504" y="3590544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00784" y="3590544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98064" y="3590544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895344" y="3590544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92624" y="3590544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089904" y="3590544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187184" y="3590544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84464" y="3590544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381744" y="3590544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479024" y="3590544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3504" y="390448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700784" y="3904488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798064" y="390448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895344" y="3904488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92624" y="390448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89904" y="3904488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187184" y="390448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284464" y="3904488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381744" y="390448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479024" y="3904488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03504" y="4218432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700784" y="4218432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798064" y="4218432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895344" y="4218432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92624" y="4218432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89904" y="4218432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187184" y="4218432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284464" y="4218432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381744" y="4218432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479024" y="4218432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3504" y="4532376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700784" y="4532376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798064" y="4532376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895344" y="4532376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992624" y="4532376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089904" y="4532376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187184" y="4532376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284464" y="4532376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381744" y="4532376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479024" y="4532376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03504" y="4846320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700784" y="4846320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98064" y="4846320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95344" y="4846320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992624" y="4846320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6089904" y="4846320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7187184" y="4846320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284464" y="4846320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381744" y="4846320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479024" y="4846320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03504" y="5160264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700784" y="5160264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798064" y="5160264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895344" y="5160264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992624" y="5160264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089904" y="5160264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187184" y="5160264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284464" y="5160264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381744" y="5160264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479024" y="5160264"/>
            <a:ext cx="1097280" cy="313944"/>
          </a:xfrm>
          <a:prstGeom prst="rect">
            <a:avLst/>
          </a:prstGeom>
          <a:solidFill>
            <a:srgbClr val="2F6B4F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03504" y="547420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700784" y="547420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798064" y="547420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3895344" y="547420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992624" y="547420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6089904" y="547420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187184" y="547420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284464" y="5474208"/>
            <a:ext cx="1097280" cy="313944"/>
          </a:xfrm>
          <a:prstGeom prst="rect">
            <a:avLst/>
          </a:prstGeom>
          <a:solidFill>
            <a:srgbClr val="E7EBE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381744" y="547420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479024" y="5474208"/>
            <a:ext cx="1097280" cy="313944"/>
          </a:xfrm>
          <a:prstGeom prst="rect">
            <a:avLst/>
          </a:prstGeom>
          <a:solidFill>
            <a:srgbClr val="A8C7B2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palette: dark green = top third, sage = middle third, pale gray = bottom third, gray = N/A.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exhibit template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structure for bioRxiv, PMC, PubMed or patent benchmark charts.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58368" y="1828800"/>
            <a:ext cx="7452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relative to R&amp;D investment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7452360" cy="3813048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5568696"/>
            <a:ext cx="6629400" cy="0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61288" y="2542032"/>
            <a:ext cx="0" cy="3026664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93976" y="4534510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8278" y="4092854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7346" y="4298960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1338" y="3710087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45329" y="3886749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24398" y="3297875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73622" y="3503981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4974336"/>
            <a:ext cx="6035040" cy="-2350008"/>
          </a:xfrm>
          <a:prstGeom prst="line">
            <a:avLst/>
          </a:prstGeom>
          <a:noFill/>
          <a:ln w="19050">
            <a:solidFill>
              <a:srgbClr val="1E9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2331720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Y: Observed output (log scale)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1161288" y="5760720"/>
            <a:ext cx="6766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annual R&amp;D expense ($mm, log scale)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6144768" y="2221992"/>
            <a:ext cx="1719072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227685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EXHIBIT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8394192" y="1810512"/>
            <a:ext cx="3145536" cy="1993392"/>
          </a:xfrm>
          <a:prstGeom prst="roundRect">
            <a:avLst>
              <a:gd name="adj" fmla="val 2294"/>
            </a:avLst>
          </a:prstGeom>
          <a:solidFill>
            <a:srgbClr val="DFF2FA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94192" y="1810512"/>
            <a:ext cx="73152" cy="19933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0" y="1975104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box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95360" y="2322576"/>
            <a:ext cx="27614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Log-log peer regression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= 0.XX | R-squared = 0.XX | n = 12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Above line = greater observed presence than implied by R&amp;D scale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line = lower observed presence than implied by R&amp;D scale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8394192" y="4041648"/>
            <a:ext cx="3145536" cy="1810512"/>
          </a:xfrm>
          <a:prstGeom prst="roundRect">
            <a:avLst>
              <a:gd name="adj" fmla="val 2525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4192" y="4041648"/>
            <a:ext cx="73152" cy="181051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0" y="420624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 placeholder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8595360" y="4553712"/>
            <a:ext cx="2761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point represents one company average from 2022-2025; axes displayed on logarithmic scales; results are associative and not causal.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Commentary tracker template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a detailed quarter snapshot or longitudinal boogeyman chart.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03504" y="1755648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Boogeyman categories x quarters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37944" y="1993392"/>
            <a:ext cx="77152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3Q23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2609469" y="1993392"/>
            <a:ext cx="77152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4Q23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3380994" y="1993392"/>
            <a:ext cx="77152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1Q24</a:t>
            </a:r>
            <a:endParaRPr lang="en-US" sz="620" dirty="0"/>
          </a:p>
        </p:txBody>
      </p:sp>
      <p:sp>
        <p:nvSpPr>
          <p:cNvPr id="9" name="Text 7"/>
          <p:cNvSpPr/>
          <p:nvPr/>
        </p:nvSpPr>
        <p:spPr>
          <a:xfrm>
            <a:off x="4152519" y="1993392"/>
            <a:ext cx="77152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2Q24</a:t>
            </a:r>
            <a:endParaRPr lang="en-US" sz="620" dirty="0"/>
          </a:p>
        </p:txBody>
      </p:sp>
      <p:sp>
        <p:nvSpPr>
          <p:cNvPr id="10" name="Text 8"/>
          <p:cNvSpPr/>
          <p:nvPr/>
        </p:nvSpPr>
        <p:spPr>
          <a:xfrm>
            <a:off x="4924044" y="1993392"/>
            <a:ext cx="77152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3Q24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5695569" y="1993392"/>
            <a:ext cx="77152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4Q24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6467094" y="1993392"/>
            <a:ext cx="77152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1Q25</a:t>
            </a:r>
            <a:endParaRPr lang="en-US" sz="620" dirty="0"/>
          </a:p>
        </p:txBody>
      </p:sp>
      <p:sp>
        <p:nvSpPr>
          <p:cNvPr id="13" name="Text 11"/>
          <p:cNvSpPr/>
          <p:nvPr/>
        </p:nvSpPr>
        <p:spPr>
          <a:xfrm>
            <a:off x="7238619" y="1993392"/>
            <a:ext cx="771525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2Q25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603504" y="2194560"/>
            <a:ext cx="1143000" cy="46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</a:t>
            </a:r>
            <a:endParaRPr lang="en-US" sz="660" dirty="0"/>
          </a:p>
        </p:txBody>
      </p:sp>
      <p:sp>
        <p:nvSpPr>
          <p:cNvPr id="15" name="Shape 13"/>
          <p:cNvSpPr/>
          <p:nvPr/>
        </p:nvSpPr>
        <p:spPr>
          <a:xfrm>
            <a:off x="1837944" y="219456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9469" y="219456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0994" y="219456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52519" y="219456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24044" y="219456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95569" y="219456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7094" y="219456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38619" y="219456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2668905"/>
            <a:ext cx="1143000" cy="46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Biotech spend</a:t>
            </a:r>
            <a:endParaRPr lang="en-US" sz="660" dirty="0"/>
          </a:p>
        </p:txBody>
      </p:sp>
      <p:sp>
        <p:nvSpPr>
          <p:cNvPr id="24" name="Shape 22"/>
          <p:cNvSpPr/>
          <p:nvPr/>
        </p:nvSpPr>
        <p:spPr>
          <a:xfrm>
            <a:off x="1837944" y="266890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9469" y="266890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0994" y="266890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52519" y="266890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24044" y="266890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95569" y="266890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67094" y="266890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38619" y="266890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" y="3143250"/>
            <a:ext cx="1143000" cy="46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 caution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1837944" y="314325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09469" y="314325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0994" y="314325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52519" y="314325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24044" y="314325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95569" y="314325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67094" y="314325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238619" y="314325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" y="3617595"/>
            <a:ext cx="1143000" cy="46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Destocking</a:t>
            </a:r>
            <a:endParaRPr lang="en-US" sz="660" dirty="0"/>
          </a:p>
        </p:txBody>
      </p:sp>
      <p:sp>
        <p:nvSpPr>
          <p:cNvPr id="42" name="Shape 40"/>
          <p:cNvSpPr/>
          <p:nvPr/>
        </p:nvSpPr>
        <p:spPr>
          <a:xfrm>
            <a:off x="1837944" y="361759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09469" y="361759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80994" y="361759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52519" y="361759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24044" y="361759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95569" y="361759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67094" y="361759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38619" y="361759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" y="4091940"/>
            <a:ext cx="1143000" cy="46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Instruments</a:t>
            </a:r>
            <a:endParaRPr lang="en-US" sz="660" dirty="0"/>
          </a:p>
        </p:txBody>
      </p:sp>
      <p:sp>
        <p:nvSpPr>
          <p:cNvPr id="51" name="Shape 49"/>
          <p:cNvSpPr/>
          <p:nvPr/>
        </p:nvSpPr>
        <p:spPr>
          <a:xfrm>
            <a:off x="1837944" y="409194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609469" y="409194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80994" y="409194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52519" y="409194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24044" y="409194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95569" y="409194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67094" y="409194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38619" y="409194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3504" y="4566285"/>
            <a:ext cx="1143000" cy="46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 / A&amp;G</a:t>
            </a:r>
            <a:endParaRPr lang="en-US" sz="660" dirty="0"/>
          </a:p>
        </p:txBody>
      </p:sp>
      <p:sp>
        <p:nvSpPr>
          <p:cNvPr id="60" name="Shape 58"/>
          <p:cNvSpPr/>
          <p:nvPr/>
        </p:nvSpPr>
        <p:spPr>
          <a:xfrm>
            <a:off x="1837944" y="456628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09469" y="456628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380994" y="456628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152519" y="456628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24044" y="456628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695569" y="456628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67094" y="456628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238619" y="456628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3504" y="5040630"/>
            <a:ext cx="1143000" cy="46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Tariffs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1837944" y="504063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09469" y="504063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380994" y="504063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52519" y="504063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24044" y="504063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695569" y="504063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67094" y="5040630"/>
            <a:ext cx="753237" cy="456057"/>
          </a:xfrm>
          <a:prstGeom prst="rect">
            <a:avLst/>
          </a:prstGeom>
          <a:solidFill>
            <a:srgbClr val="F1D5C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38619" y="5040630"/>
            <a:ext cx="753237" cy="456057"/>
          </a:xfrm>
          <a:prstGeom prst="rect">
            <a:avLst/>
          </a:prstGeom>
          <a:solidFill>
            <a:srgbClr val="E7EBE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3504" y="5514975"/>
            <a:ext cx="1143000" cy="4652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60" dirty="0"/>
          </a:p>
        </p:txBody>
      </p:sp>
      <p:sp>
        <p:nvSpPr>
          <p:cNvPr id="78" name="Shape 76"/>
          <p:cNvSpPr/>
          <p:nvPr/>
        </p:nvSpPr>
        <p:spPr>
          <a:xfrm>
            <a:off x="1837944" y="551497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609469" y="551497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380994" y="551497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152519" y="551497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924044" y="551497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695569" y="551497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467094" y="5514975"/>
            <a:ext cx="753237" cy="456057"/>
          </a:xfrm>
          <a:prstGeom prst="rect">
            <a:avLst/>
          </a:prstGeom>
          <a:solidFill>
            <a:srgbClr val="F3E8B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38619" y="5514975"/>
            <a:ext cx="753237" cy="456057"/>
          </a:xfrm>
          <a:prstGeom prst="rect">
            <a:avLst/>
          </a:prstGeom>
          <a:solidFill>
            <a:srgbClr val="A8C7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275320" y="1755648"/>
            <a:ext cx="3246120" cy="3474720"/>
          </a:xfrm>
          <a:prstGeom prst="roundRect">
            <a:avLst>
              <a:gd name="adj" fmla="val 1408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275320" y="1755648"/>
            <a:ext cx="73152" cy="3474720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476488" y="19202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 prompts</a:t>
            </a:r>
            <a:endParaRPr lang="en-US" sz="1320" dirty="0"/>
          </a:p>
        </p:txBody>
      </p:sp>
      <p:sp>
        <p:nvSpPr>
          <p:cNvPr id="89" name="Text 87"/>
          <p:cNvSpPr/>
          <p:nvPr/>
        </p:nvSpPr>
        <p:spPr>
          <a:xfrm>
            <a:off x="8476488" y="2267712"/>
            <a:ext cx="286207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categories improved?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concerns reappeared?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Are companies describing recovery consistently?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Which themes are sector-wide versus company-specific?</a:t>
            </a:r>
            <a:endParaRPr lang="en-US" sz="1010" dirty="0"/>
          </a:p>
          <a:p>
            <a:pPr indent="0" marL="0">
              <a:buNone/>
            </a:pPr>
            <a:r>
              <a:rPr lang="en-US" sz="101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 should the next call questions test?</a:t>
            </a:r>
            <a:endParaRPr lang="en-US" sz="1010" dirty="0"/>
          </a:p>
        </p:txBody>
      </p:sp>
      <p:sp>
        <p:nvSpPr>
          <p:cNvPr id="90" name="Shape 88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tracker visuals to support an investment interpretation, not merely to summarize management commentary.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and data-integrity checklist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if the audience asks how the datasets were collected, cleaned or benchmarked.</a:t>
            </a:r>
            <a:endParaRPr lang="en-US" sz="1140" dirty="0"/>
          </a:p>
        </p:txBody>
      </p:sp>
      <p:sp>
        <p:nvSpPr>
          <p:cNvPr id="5" name="Shape 3"/>
          <p:cNvSpPr/>
          <p:nvPr/>
        </p:nvSpPr>
        <p:spPr>
          <a:xfrm>
            <a:off x="713232" y="1719072"/>
            <a:ext cx="2194560" cy="347472"/>
          </a:xfrm>
          <a:prstGeom prst="roundRect">
            <a:avLst>
              <a:gd name="adj" fmla="val 10526"/>
            </a:avLst>
          </a:prstGeom>
          <a:solidFill>
            <a:srgbClr val="E9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01368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analysis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3154680" y="1737360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company x one record; all matched terms retained in the row.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2514600"/>
            <a:ext cx="2194560" cy="347472"/>
          </a:xfrm>
          <a:prstGeom prst="roundRect">
            <a:avLst>
              <a:gd name="adj" fmla="val 10526"/>
            </a:avLst>
          </a:prstGeom>
          <a:solidFill>
            <a:srgbClr val="E9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96896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3154680" y="2532888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Full-text datasets use fixed-seed random sampling and validated full-text access.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13232" y="3310128"/>
            <a:ext cx="2194560" cy="347472"/>
          </a:xfrm>
          <a:prstGeom prst="roundRect">
            <a:avLst>
              <a:gd name="adj" fmla="val 10526"/>
            </a:avLst>
          </a:prstGeom>
          <a:solidFill>
            <a:srgbClr val="E9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92424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Deduplication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3154680" y="3328416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applications / families and S10 application IDs deduplicated where necessary.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" y="4105656"/>
            <a:ext cx="2194560" cy="347472"/>
          </a:xfrm>
          <a:prstGeom prst="roundRect">
            <a:avLst>
              <a:gd name="adj" fmla="val 10526"/>
            </a:avLst>
          </a:prstGeom>
          <a:solidFill>
            <a:srgbClr val="E9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87952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Standardization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154680" y="4123944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R&amp;D-adjusted outputs use log-log peer benchmarks; heatmap colors are peer-relative.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" y="4901184"/>
            <a:ext cx="2194560" cy="347472"/>
          </a:xfrm>
          <a:prstGeom prst="roundRect">
            <a:avLst>
              <a:gd name="adj" fmla="val 10526"/>
            </a:avLst>
          </a:prstGeom>
          <a:solidFill>
            <a:srgbClr val="E9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983480"/>
            <a:ext cx="19751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154680" y="4919472"/>
            <a:ext cx="8028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triangulate observable signals and do not measure innovation quality directly.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5998464"/>
            <a:ext cx="11183112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6089904"/>
            <a:ext cx="10771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analysis was designed to be repeatable, auditable and conservative in attribution.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035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972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Full-chart template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a chart that needs more space than the main storyline allows.</a:t>
            </a:r>
            <a:endParaRPr lang="en-US" sz="114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909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0F41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chart placeholder</a:t>
            </a:r>
            <a:endParaRPr lang="en-US" sz="112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7909560" cy="3840480"/>
          </a:xfrm>
          <a:prstGeom prst="rect">
            <a:avLst/>
          </a:prstGeom>
          <a:solidFill>
            <a:srgbClr val="FFFFFF"/>
          </a:solidFill>
          <a:ln w="11430">
            <a:solidFill>
              <a:srgbClr val="CDD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43000" y="5596128"/>
            <a:ext cx="7086600" cy="0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2542032"/>
            <a:ext cx="0" cy="3054096"/>
          </a:xfrm>
          <a:prstGeom prst="line">
            <a:avLst/>
          </a:prstGeom>
          <a:noFill/>
          <a:ln w="10160">
            <a:solidFill>
              <a:srgbClr val="676C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4268" y="4553712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69718" y="4107942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3650" y="4315968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078" y="3721608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10505" y="3899916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4438" y="3305556"/>
            <a:ext cx="82296" cy="82296"/>
          </a:xfrm>
          <a:prstGeom prst="ellipse">
            <a:avLst/>
          </a:prstGeom>
          <a:solidFill>
            <a:srgbClr val="00000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9382" y="3513582"/>
            <a:ext cx="82296" cy="82296"/>
          </a:xfrm>
          <a:prstGeom prst="ellipse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53312" y="5001768"/>
            <a:ext cx="6492240" cy="-2377440"/>
          </a:xfrm>
          <a:prstGeom prst="line">
            <a:avLst/>
          </a:prstGeom>
          <a:noFill/>
          <a:ln w="19050">
            <a:solidFill>
              <a:srgbClr val="1E9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61872" y="2331720"/>
            <a:ext cx="5074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3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Y: Y-axis</a:t>
            </a:r>
            <a:endParaRPr lang="en-US" sz="630" dirty="0"/>
          </a:p>
        </p:txBody>
      </p:sp>
      <p:sp>
        <p:nvSpPr>
          <p:cNvPr id="18" name="Text 16"/>
          <p:cNvSpPr/>
          <p:nvPr/>
        </p:nvSpPr>
        <p:spPr>
          <a:xfrm>
            <a:off x="1143000" y="5788152"/>
            <a:ext cx="7223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X-axis</a:t>
            </a:r>
            <a:endParaRPr lang="en-US" sz="670" dirty="0"/>
          </a:p>
        </p:txBody>
      </p:sp>
      <p:sp>
        <p:nvSpPr>
          <p:cNvPr id="19" name="Shape 17"/>
          <p:cNvSpPr/>
          <p:nvPr/>
        </p:nvSpPr>
        <p:spPr>
          <a:xfrm>
            <a:off x="6583680" y="2221992"/>
            <a:ext cx="1719072" cy="274320"/>
          </a:xfrm>
          <a:prstGeom prst="roundRect">
            <a:avLst>
              <a:gd name="adj" fmla="val 16667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276856"/>
            <a:ext cx="15361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6E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FINAL EXHIBIT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8851392" y="1828800"/>
            <a:ext cx="2688336" cy="2423160"/>
          </a:xfrm>
          <a:prstGeom prst="roundRect">
            <a:avLst>
              <a:gd name="adj" fmla="val 1887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51392" y="1828800"/>
            <a:ext cx="73152" cy="242316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52560" y="199339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9052560" y="2340864"/>
            <a:ext cx="2304288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clear sentence that interprets the chart.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add two short bullets with evidence and caveats.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8851392" y="4526280"/>
            <a:ext cx="2688336" cy="1325880"/>
          </a:xfrm>
          <a:prstGeom prst="roundRect">
            <a:avLst>
              <a:gd name="adj" fmla="val 3448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51392" y="4526280"/>
            <a:ext cx="73152" cy="13258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0" y="469087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Footnote and source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9052560" y="5038344"/>
            <a:ext cx="230428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25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methodology, denominator and source language here.</a:t>
            </a:r>
            <a:endParaRPr lang="en-US" sz="8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583680"/>
            <a:ext cx="27432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76C7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Bernstein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Differentiated Research Through Proprietary Data</dc:title>
  <dc:subject>Summer Internship Final Presentation</dc:subject>
  <dc:creator>Justin Curcio</dc:creator>
  <cp:lastModifiedBy>Justin Curcio</cp:lastModifiedBy>
  <cp:revision>1</cp:revision>
  <dcterms:created xsi:type="dcterms:W3CDTF">2026-08-06T15:35:55Z</dcterms:created>
  <dcterms:modified xsi:type="dcterms:W3CDTF">2026-08-06T15:35:55Z</dcterms:modified>
</cp:coreProperties>
</file>