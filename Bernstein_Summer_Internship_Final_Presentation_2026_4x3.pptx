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seconds. Open with the common thread: the summer was not only about completing research tasks; it was about building repeatable infrastructure that turns messy sector information into differentiated, investable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thesis slide. Emphasize that the same skill set connected every project: structuring ambiguous information, validating it, and making the output useful to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Keep this high-level for the Director of Research and HR. The point is that the proprietary projects were not isolated side projects; they were developed inside the live cadence of coverage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Tie each value to a concrete action. Avoid making this feel like a values recitation; use it to frame how you approached research.
[Sources]
- https://www.bernsteinresearch.com/About/ — Bernstein Research values: Intellectual Curiosity, Collaboration, Integrity and Entrepreneurial culture.
- https://www.bernstein.com/what-we-do/investment-research.html — Bernstein’s emphasis on the “so what” and the implications for investment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first major project started from a sector-specific problem—there was limited clean quantitative evidence on the timing and shape of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Explain the sector in plain language for a mixed audience. Emphasize that the value comes from consistent coding across companies—not from any one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 once the final exhibit is inserted. Use the slide to tell one longitudinal story—not to narrate every cell. A strong story could be: consumables destocking fades, while China or policy concerns remain mixed.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Choose only three or four themes for the live presentation. Insert one representative management quote or a small count by theme if it improves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seconds. This is the “why it matters” slide. Pick one concrete example from the final tracker and explain how it changed or sharpened the team’s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seconds. Transition: the second major project addressed a different research problem—how to compare innovation consistently across tools companies when product launch disclosure is incomplete.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seconds. This slide should make the project feel commercially motivated, not technical for its own sake. The key improvement is broader, more comparable evidence—not merely more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Keep this conceptual. Explain why each category adds a different piece of evidence. Avoid explaining every scraper here—the next slide covers the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Explain only the architecture at a high level. The audience does not need code details; the message is that the process is robust enough to refresh and extend.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This is a framing slide, not a data slide. Replace one or more panels with the final strongest exhibits, or move the selected exhibits to standalone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seconds after the final heatmap is inserted. Lead with two or three company archetypes rather than reading the ranking from top to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~35 seconds. This slide is optional in the final live deck. Once the analysis is complete, replace the hypotheses with validated conclusions or remove it if the heatmap slide carries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Briefly show breadth, but do not let this become a task list. The message is that you contributed to live publishing and learned the cadence of the research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~55 seconds. This is the personal reflection slide. Make it specific: mention one moment when you had to choose a defensible method rather than wait for perfect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~25 seconds. Close on the research mindset you want the audience to remember: curiosity, creativity, rigor and commercial usefulness.
[Sources]
- https://www.bernsteinresearch.com/About/ — Bernstein founder quote and research-culture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keep row order purposeful; use the same scoring scale across columns; show raw values in backup; write one takeaway sentence rather than narrating the full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the headline should state the conclusion, the chart should prove it, and the right-hand box should explain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keep identical scales if possible; use the same company order when the purpose is direct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reserve KPIs for denominators, total market size or sample quality—not for repeating the main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with a small peer set, emphasize direction and residuals rather than p-values or complex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avoid overloading the slide with quotes. Use one quote or paraphrase per theme and explain the longitudinal implication.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use this slide to establish trust, not to explain code. Limit the main text to the few controls that materially affect interpretation.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Template guidance: use for raw values and definitions. Do not put the full source table in the main presentation.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731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8610" y="164592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22326" y="384048"/>
            <a:ext cx="13030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spc="1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550" dirty="0"/>
          </a:p>
        </p:txBody>
      </p:sp>
      <p:sp>
        <p:nvSpPr>
          <p:cNvPr id="5" name="Shape 3"/>
          <p:cNvSpPr/>
          <p:nvPr/>
        </p:nvSpPr>
        <p:spPr>
          <a:xfrm>
            <a:off x="308610" y="6565392"/>
            <a:ext cx="8503920" cy="0"/>
          </a:xfrm>
          <a:prstGeom prst="line">
            <a:avLst/>
          </a:prstGeom>
          <a:noFill/>
          <a:ln w="8890">
            <a:solidFill>
              <a:srgbClr val="D7D9DC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2900" y="2907792"/>
            <a:ext cx="8469630" cy="34015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225796" y="749808"/>
            <a:ext cx="3387852" cy="43159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27940" dist="15240" dir="2700000">
              <a:srgbClr val="00000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339328" y="384048"/>
            <a:ext cx="411480" cy="406908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2900" y="3840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370332" y="877824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404104" y="1225296"/>
            <a:ext cx="277749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US Life Science</a:t>
            </a:r>
            <a:endParaRPr lang="en-US" sz="2900" dirty="0"/>
          </a:p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Tools &amp; Diagnostics</a:t>
            </a:r>
            <a:endParaRPr lang="en-US" sz="2900" dirty="0"/>
          </a:p>
        </p:txBody>
      </p:sp>
      <p:sp>
        <p:nvSpPr>
          <p:cNvPr id="8" name="Shape 6"/>
          <p:cNvSpPr/>
          <p:nvPr/>
        </p:nvSpPr>
        <p:spPr>
          <a:xfrm>
            <a:off x="5410962" y="2679192"/>
            <a:ext cx="2434590" cy="0"/>
          </a:xfrm>
          <a:prstGeom prst="line">
            <a:avLst/>
          </a:prstGeom>
          <a:noFill/>
          <a:ln w="2032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04104" y="2944368"/>
            <a:ext cx="276377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Building Differentiated Research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Through Proprietary Data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04104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Bernstein Summer Internship 2026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88670" y="480060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August 2026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88670" y="5532120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Justin Curcio  |  Equity Research Intern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8670" y="58795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Sector commentary • Innovation analytics • Coverage execution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focused on building research edge while contributing to live coverage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connected outcomes defined the summer.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66344" y="1901952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66344" y="1901952"/>
            <a:ext cx="54864" cy="342900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7220" y="2066544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1  Built proprietary research infrastructure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7220" y="2404872"/>
            <a:ext cx="228371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Restored and expanded a longitudinal sector commentary tracker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Created a multi-source innovation dataset across publications, patents, NIH awards, talent and R&amp;D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Designed outputs to be auditable, repeatable and reusable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3271266" y="1901952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71266" y="1901952"/>
            <a:ext cx="54864" cy="3429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2142" y="2066544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2  Supported live equity research execution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22142" y="2404872"/>
            <a:ext cx="228371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Helped resume coverage across eight companies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Contributed to seven earnings notes and call-readout sections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Built and refreshed exhibits, tracked guidance and supported call preparation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069330" y="1901952"/>
            <a:ext cx="2571750" cy="3429000"/>
          </a:xfrm>
          <a:prstGeom prst="roundRect">
            <a:avLst>
              <a:gd name="adj" fmla="val 213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9330" y="1901952"/>
            <a:ext cx="54864" cy="342900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0206" y="2066544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3  Developed a differentiated research mindset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20206" y="2404872"/>
            <a:ext cx="2283714" cy="2770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Learned to interpret noisy, incomplete evidence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Balanced scientific rigor with commercial relevance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25282B"/>
                </a:solidFill>
              </a:rPr>
              <a:t>• Improved speed, writing clarity and judgment under deadline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strongest contribution was converting fragmented information into structured evidence the team can revisit quarter after quarter.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SCOPE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work spanned the full research workflow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proprietary projects were built alongside initiation, earnings and recurring team support.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26948" y="2441448"/>
            <a:ext cx="768096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7794" y="2320290"/>
            <a:ext cx="260604" cy="260604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4924" y="1920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EARLY SUMMER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480060" y="2807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Coverage resumption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80060" y="3355848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Tracker reconstruction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NIH funding work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Thesis &amp; valuation slides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42566" y="2320290"/>
            <a:ext cx="260604" cy="260604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920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THROUGHOUT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084832" y="2807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Sector commentary tracker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2084832" y="3355848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Transcript 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Boogeyman expansion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Longitudinal exhibits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7338" y="2320290"/>
            <a:ext cx="260604" cy="260604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4468" y="1920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EARNINGS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3689604" y="2807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Q2 execution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3689604" y="3355848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Seven notes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Call takeaways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Guidance &amp; exhibit updates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52110" y="2320290"/>
            <a:ext cx="260604" cy="260604"/>
          </a:xfrm>
          <a:prstGeom prst="ellipse">
            <a:avLst/>
          </a:prstGeom>
          <a:solidFill>
            <a:srgbClr val="1E9DD2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1920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LATER SUMMER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5294376" y="2807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Innovation analysis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294376" y="3355848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Scrapers &amp; data cleaning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Metric design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Scoring framework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056882" y="2320290"/>
            <a:ext cx="260604" cy="260604"/>
          </a:xfrm>
          <a:prstGeom prst="ellipse">
            <a:avLst/>
          </a:prstGeom>
          <a:solidFill>
            <a:srgbClr val="000000"/>
          </a:solidFill>
          <a:ln w="1778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4012" y="1920240"/>
            <a:ext cx="12687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spc="100" kern="0" dirty="0">
                <a:solidFill>
                  <a:srgbClr val="0B5486"/>
                </a:solidFill>
              </a:rPr>
              <a:t>ONGOING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6899148" y="280720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Research support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6899148" y="3355848"/>
            <a:ext cx="142646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Call prep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Webinars &amp; symposiums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Policy / market work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8670" y="4892040"/>
            <a:ext cx="7578090" cy="804672"/>
          </a:xfrm>
          <a:prstGeom prst="roundRect">
            <a:avLst>
              <a:gd name="adj" fmla="val 6818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8670" y="4892040"/>
            <a:ext cx="54864" cy="80467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9546" y="5056632"/>
            <a:ext cx="7303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The common thread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9546" y="5394960"/>
            <a:ext cx="729005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Every project required turning incomplete, qualitative or inconsistently disclosed information into a structured view of the investment debate.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BERNSTEIN VALUES IN PRACTICE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projects reflected how Bernstein defines differentiated research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tried to translate the firm’s research culture into specific working habits.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77190" y="1874520"/>
            <a:ext cx="1563624" cy="3218688"/>
          </a:xfrm>
          <a:prstGeom prst="roundRect">
            <a:avLst>
              <a:gd name="adj" fmla="val 350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7190" y="1874520"/>
            <a:ext cx="1563624" cy="91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" y="2176272"/>
            <a:ext cx="135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INTELLECTUAL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CURIOSITY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500634" y="2926080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Asked bigger questions when conventional sector data was insufficient.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105406" y="1874520"/>
            <a:ext cx="1563624" cy="3218688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5406" y="1874520"/>
            <a:ext cx="1563624" cy="914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8276" y="2176272"/>
            <a:ext cx="135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ENTREPRENEURIAL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2228850" y="2926080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Built new trackers, scrapers and analytical frameworks rather than accepting process gaps.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3833622" y="1874520"/>
            <a:ext cx="1563624" cy="3218688"/>
          </a:xfrm>
          <a:prstGeom prst="roundRect">
            <a:avLst>
              <a:gd name="adj" fmla="val 350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33622" y="1874520"/>
            <a:ext cx="1563624" cy="91440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6492" y="2176272"/>
            <a:ext cx="135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INTEGRITY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3957066" y="2926080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Used conservative attribution, audit trails and transparent assumptions to “get it right.”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5561838" y="1874520"/>
            <a:ext cx="1563624" cy="3218688"/>
          </a:xfrm>
          <a:prstGeom prst="roundRect">
            <a:avLst>
              <a:gd name="adj" fmla="val 3509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61838" y="1874520"/>
            <a:ext cx="1563624" cy="9144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4708" y="2176272"/>
            <a:ext cx="135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COLLABORATION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685282" y="2926080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Designed outputs around the analyst and associate workflow—not as standalone academic exercises.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7290054" y="1874520"/>
            <a:ext cx="1563624" cy="3218688"/>
          </a:xfrm>
          <a:prstGeom prst="roundRect">
            <a:avLst>
              <a:gd name="adj" fmla="val 350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90054" y="1874520"/>
            <a:ext cx="1563624" cy="91440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92924" y="2176272"/>
            <a:ext cx="13578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CLIENT</a:t>
            </a:r>
            <a:endParaRPr lang="en-US" sz="1280" dirty="0"/>
          </a:p>
          <a:p>
            <a:pPr algn="ctr" indent="0" marL="0">
              <a:buNone/>
            </a:pPr>
            <a:r>
              <a:rPr lang="en-US" sz="1280" b="1" dirty="0">
                <a:solidFill>
                  <a:srgbClr val="000000"/>
                </a:solidFill>
              </a:rPr>
              <a:t>RELEVANCE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413498" y="2926080"/>
            <a:ext cx="131673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Focused on the “so what”: what changes the debate, expectations or confidence in recovery.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2263140" y="5468112"/>
            <a:ext cx="45948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B5486"/>
                </a:solidFill>
              </a:rPr>
              <a:t>“We ask more (and bigger) questions.”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differentiator was not simply collecting more data—it was creating a defensible process for asking better questions.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5109210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7790" y="676656"/>
            <a:ext cx="3380994" cy="5257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5038" y="274320"/>
            <a:ext cx="356616" cy="507492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190" y="45720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97764" y="896112"/>
            <a:ext cx="1714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62956" y="960120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E9DD2"/>
                </a:solidFill>
              </a:rPr>
              <a:t>PROPRIETARY PROJECT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62956" y="1399032"/>
            <a:ext cx="2708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Sector Commentary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Tracker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362956" y="3246120"/>
            <a:ext cx="24345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2956" y="3493008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Turning management language into longitudinal sector evidence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quantitative data is sparse, management language becomes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makes qualitative commentary comparable across companies and over time.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45770" y="1847088"/>
            <a:ext cx="2228850" cy="3493008"/>
          </a:xfrm>
          <a:prstGeom prst="roundRect">
            <a:avLst>
              <a:gd name="adj" fmla="val 2462"/>
            </a:avLst>
          </a:prstGeom>
          <a:solidFill>
            <a:srgbClr val="FFF9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5770" y="1847088"/>
            <a:ext cx="54864" cy="3493008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6646" y="2011680"/>
            <a:ext cx="195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The problem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6646" y="2350008"/>
            <a:ext cx="194081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The sector has faced an uneven, multi-quarter recovery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Reported numbers alone do not explain confidence, timing or breadth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Each company frames the same market differently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25282B"/>
                </a:solidFill>
              </a:rPr>
              <a:t>• Valuable signals are buried across calls, transcripts and events</a:t>
            </a:r>
            <a:endParaRPr lang="en-US" sz="1110" dirty="0"/>
          </a:p>
        </p:txBody>
      </p:sp>
      <p:sp>
        <p:nvSpPr>
          <p:cNvPr id="9" name="Shape 7"/>
          <p:cNvSpPr/>
          <p:nvPr/>
        </p:nvSpPr>
        <p:spPr>
          <a:xfrm>
            <a:off x="2914650" y="1940814"/>
            <a:ext cx="288036" cy="28803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14650" y="1965960"/>
            <a:ext cx="2880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8698" y="1847088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Collect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94226" y="1847088"/>
            <a:ext cx="203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Earnings calls, conferences, webinars and sector events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2914650" y="2782062"/>
            <a:ext cx="288036" cy="288036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14650" y="2807208"/>
            <a:ext cx="2880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8698" y="2688336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094226" y="2688336"/>
            <a:ext cx="203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Positive / negative / mixed by company and concern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2914650" y="3623310"/>
            <a:ext cx="288036" cy="28803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14650" y="3648456"/>
            <a:ext cx="2880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98698" y="3529584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Compare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094226" y="3529584"/>
            <a:ext cx="203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Quarterly snapshot plus longitudinal change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2914650" y="4464558"/>
            <a:ext cx="288036" cy="288036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14650" y="4489704"/>
            <a:ext cx="2880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8698" y="4370832"/>
            <a:ext cx="754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Interpret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094226" y="4370832"/>
            <a:ext cx="20368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Sector health, turning points and emerging risks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412230" y="1847088"/>
            <a:ext cx="2228850" cy="3493008"/>
          </a:xfrm>
          <a:prstGeom prst="roundRect">
            <a:avLst>
              <a:gd name="adj" fmla="val 2462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2230" y="1847088"/>
            <a:ext cx="54864" cy="349300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63106" y="2011680"/>
            <a:ext cx="19545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What the tracker covers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563106" y="2350008"/>
            <a:ext cx="194081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Inherited categories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Pharma cautiousness • Biotech spend • Consumables destocking • Instrument weakness • Market recovery • China weakness • NIH / A&amp;G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My additions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Tariffs • MFN / reshoring • Middle East • AI—internal • AI—external market view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converts isolated quotes into a repeatable view of whether the sector debate is improving, deteriorating or simply changing shape.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heatmap: separating persistent headwinds from fading concerns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the placeholder grid with the final tracker exhibit.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091690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3Q23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544318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996946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49574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2Q24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902202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54830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4Q24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807458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260086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2Q25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712714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3Q25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165342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4Q25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617970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1Q26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070598" y="1911096"/>
            <a:ext cx="4526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2Q26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48640" y="2304288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Pharma cautiousness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91690" y="2212848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44318" y="221284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6946" y="221284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49574" y="221284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02202" y="221284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4830" y="2212848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7458" y="221284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0086" y="2212848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12714" y="221284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5342" y="221284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17970" y="2212848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70598" y="221284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2743200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Biotech spend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091690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44318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96946" y="265176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49574" y="2651760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902202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54830" y="265176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7458" y="2651760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60086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712714" y="2651760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65342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17970" y="265176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70598" y="265176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8640" y="3182112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Consumables destocking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91690" y="3090672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544318" y="3090672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996946" y="3090672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49574" y="3090672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02202" y="3090672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354830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07458" y="3090672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60086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12714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65342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617970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70598" y="3090672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621024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Instrument weakness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091690" y="3529584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544318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996946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49574" y="3529584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902202" y="3529584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354830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807458" y="3529584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260086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12714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65342" y="3529584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617970" y="3529584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070598" y="3529584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4059936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China weakness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091690" y="3968496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544318" y="3968496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96946" y="3968496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449574" y="3968496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02202" y="3968496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54830" y="3968496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07458" y="3968496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260086" y="3968496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5712714" y="3968496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165342" y="3968496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617970" y="3968496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70598" y="3968496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48640" y="4498848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NIH / A&amp;G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091690" y="4407408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44318" y="440740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996946" y="4407408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449574" y="440740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902202" y="440740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354830" y="4407408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07458" y="440740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260086" y="4407408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5712714" y="440740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165342" y="4407408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617970" y="4407408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070598" y="4407408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8640" y="4937760"/>
            <a:ext cx="14058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5282B"/>
                </a:solidFill>
              </a:rPr>
              <a:t>Tariffs / policy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2091690" y="484632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44318" y="4846320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996946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3449574" y="4846320"/>
            <a:ext cx="425196" cy="402336"/>
          </a:xfrm>
          <a:prstGeom prst="rect">
            <a:avLst/>
          </a:prstGeom>
          <a:solidFill>
            <a:srgbClr val="D95A4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902202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54830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07458" y="484632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260086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5712714" y="4846320"/>
            <a:ext cx="425196" cy="402336"/>
          </a:xfrm>
          <a:prstGeom prst="rect">
            <a:avLst/>
          </a:prstGeom>
          <a:solidFill>
            <a:srgbClr val="50A46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165342" y="4846320"/>
            <a:ext cx="425196" cy="402336"/>
          </a:xfrm>
          <a:prstGeom prst="rect">
            <a:avLst/>
          </a:prstGeom>
          <a:solidFill>
            <a:srgbClr val="E5B9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6617970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7070598" y="4846320"/>
            <a:ext cx="425196" cy="402336"/>
          </a:xfrm>
          <a:prstGeom prst="rect">
            <a:avLst/>
          </a:prstGeom>
          <a:solidFill>
            <a:srgbClr val="E8EAEC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495794" y="2212848"/>
            <a:ext cx="1220724" cy="3246120"/>
          </a:xfrm>
          <a:prstGeom prst="roundRect">
            <a:avLst>
              <a:gd name="adj" fmla="val 4494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646670" y="2377440"/>
            <a:ext cx="9464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0000"/>
                </a:solidFill>
              </a:rPr>
              <a:t>What this answers</a:t>
            </a:r>
            <a:endParaRPr lang="en-US" sz="1220" dirty="0"/>
          </a:p>
        </p:txBody>
      </p:sp>
      <p:sp>
        <p:nvSpPr>
          <p:cNvPr id="110" name="Text 108"/>
          <p:cNvSpPr/>
          <p:nvPr/>
        </p:nvSpPr>
        <p:spPr>
          <a:xfrm>
            <a:off x="7646670" y="2715768"/>
            <a:ext cx="932688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Which concerns are fading?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Is recovery broadening?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What remains structural?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• Which risks are new?</a:t>
            </a:r>
            <a:endParaRPr lang="en-US" sz="980" dirty="0"/>
          </a:p>
        </p:txBody>
      </p:sp>
      <p:sp>
        <p:nvSpPr>
          <p:cNvPr id="111" name="Shape 109"/>
          <p:cNvSpPr/>
          <p:nvPr/>
        </p:nvSpPr>
        <p:spPr>
          <a:xfrm>
            <a:off x="589788" y="5513832"/>
            <a:ext cx="157734" cy="1645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95528" y="5532120"/>
            <a:ext cx="4251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Positive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1405890" y="5513832"/>
            <a:ext cx="157734" cy="164592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611630" y="5532120"/>
            <a:ext cx="356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Mixed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2091690" y="5513832"/>
            <a:ext cx="157734" cy="164592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2297430" y="5532120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76C72"/>
                </a:solidFill>
              </a:rPr>
              <a:t>Negative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exhibit creates a longitudinal sector memory: a claimed recovery can be tested against how companies actually describe demand.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snapshot: what improved, what persisted, and what emerged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with the selected quarter and supporting quotes.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894076" y="1755648"/>
            <a:ext cx="3346704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76372" y="1819656"/>
            <a:ext cx="3182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EDITABLE PLACEHOLDER — INSERT CURRENT-QUARTER SNAPSHOT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93776" y="2212848"/>
            <a:ext cx="2606040" cy="34015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3776" y="2212848"/>
            <a:ext cx="2606040" cy="5669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7220" y="23774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EASING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9516" y="3008376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Consumables destocking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Selected biotech demand signals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70966" y="4288536"/>
            <a:ext cx="185166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" y="4498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validated tracker evidence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346704" y="2212848"/>
            <a:ext cx="2606040" cy="34015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46704" y="2212848"/>
            <a:ext cx="2606040" cy="566928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0148" y="23774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UNRESOLVED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52444" y="3008376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China demand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Instrument replacement cycle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NIH / academic budgets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3723894" y="4288536"/>
            <a:ext cx="185166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52444" y="4498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mixed commentary and cross-company differences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99632" y="2212848"/>
            <a:ext cx="2606040" cy="34015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9632" y="2212848"/>
            <a:ext cx="2606040" cy="566928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3076" y="237744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EMERGING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5372" y="3008376"/>
            <a:ext cx="2194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Tariffs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MFN / reshoring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Middle East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000000"/>
                </a:solidFill>
              </a:rPr>
              <a:t>AI narratives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6576822" y="4288536"/>
            <a:ext cx="185166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5372" y="44988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676C72"/>
                </a:solidFill>
              </a:rPr>
              <a:t>Replace with new risks or opportunities introduced this quarter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quarterly view helps distinguish a genuine sector inflection from isolated company commentary or short-term noise.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SECTOR COMMENTARY TRACKER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differentiated edge is context—not simply a count of positive and negative comments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makes several investment questions answerable in a disciplined way.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2356" y="1906524"/>
            <a:ext cx="301752" cy="30175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2356" y="1938528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14984" y="1828800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Is the recovery broadening?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3374136" y="1828800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Compare reported growth with changes in language across companies and end markets.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562356" y="2784348"/>
            <a:ext cx="301752" cy="30175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2356" y="2816352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14984" y="2706624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Are old headwinds truly fading?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3374136" y="2706624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Test whether concerns such as consumables destocking disappear or merely change labels.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562356" y="3662172"/>
            <a:ext cx="301752" cy="3017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" y="3694176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14984" y="3584448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What is sector-wide versus company-specific?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3374136" y="3584448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Separate common demand signals from execution, portfolio or geographic differences.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562356" y="4539996"/>
            <a:ext cx="301752" cy="30175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2356" y="4572000"/>
            <a:ext cx="301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14984" y="4462272"/>
            <a:ext cx="22974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00000"/>
                </a:solidFill>
              </a:rPr>
              <a:t>What risks are emerging before guidance changes?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374136" y="4462272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25282B"/>
                </a:solidFill>
              </a:rPr>
              <a:t>Track new policy, geopolitical and AI narratives as they enter management commentary.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7098030" y="1847088"/>
            <a:ext cx="1474470" cy="3520440"/>
          </a:xfrm>
          <a:prstGeom prst="roundRect">
            <a:avLst>
              <a:gd name="adj" fmla="val 3721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98030" y="1847088"/>
            <a:ext cx="54864" cy="3520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48906" y="2011680"/>
            <a:ext cx="12001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Research value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248906" y="2350008"/>
            <a:ext cx="118643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Better sector memory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Faster quarter-over-quarter read-throughs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More consistent call preparation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• A differentiated client narrative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tracker is reusable research infrastructure: each quarter adds evidence rather than restarting the debate from zero.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50208"/>
            <a:ext cx="5109210" cy="2907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77790" y="676656"/>
            <a:ext cx="3380994" cy="52578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05038" y="274320"/>
            <a:ext cx="356616" cy="507492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190" y="457200"/>
            <a:ext cx="17145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97764" y="896112"/>
            <a:ext cx="17145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362956" y="960120"/>
            <a:ext cx="26746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1E9DD2"/>
                </a:solidFill>
              </a:rPr>
              <a:t>PROPRIETARY PROJECT 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62956" y="1399032"/>
            <a:ext cx="270891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Innovation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Analysis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362956" y="3246120"/>
            <a:ext cx="243459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62956" y="3493008"/>
            <a:ext cx="26197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Replacing hard-to-compare product-launch tracking with a proprietary multi-source evidence base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reframed innovation from a launch-counting problem into a multi-source evidence problem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framework combines capacity, scientific usage, intellectual property, adoption and recognition.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3776" y="1847088"/>
            <a:ext cx="3326130" cy="3520440"/>
          </a:xfrm>
          <a:prstGeom prst="roundRect">
            <a:avLst>
              <a:gd name="adj" fmla="val 1649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" y="1847088"/>
            <a:ext cx="54864" cy="3520440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" y="2011680"/>
            <a:ext cx="3051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Previous approach: new product launches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4652" y="2350008"/>
            <a:ext cx="303809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Strengths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Intuitive and tangible</a:t>
            </a:r>
            <a:endParaRPr lang="en-US" sz="1060" dirty="0"/>
          </a:p>
          <a:p>
            <a:pPr indent="0" marL="0">
              <a:buNone/>
            </a:pP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Limitations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Disclosure is inconsistent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Definitions vary by company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Launches are difficult to identify retrospectively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A launch count does not show adoption, scientific usage or quality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3977640" y="2926080"/>
            <a:ext cx="582930" cy="960120"/>
          </a:xfrm>
          <a:prstGeom prst="chevron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2020" y="1847088"/>
            <a:ext cx="3909060" cy="3520440"/>
          </a:xfrm>
          <a:prstGeom prst="roundRect">
            <a:avLst>
              <a:gd name="adj" fmla="val 1558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2020" y="1847088"/>
            <a:ext cx="54864" cy="352044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82896" y="2011680"/>
            <a:ext cx="36347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New approach: eight complementary metrics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82896" y="2350008"/>
            <a:ext cx="3621024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Uses public data sources that can be refreshed by year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Measures both innovation inputs and observable outputs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Distinguishes scientific usage, IP creation and institutional adoption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Preserves source-specific context rather than forcing one dataset to answer every question</a:t>
            </a:r>
            <a:endParaRPr lang="en-US" sz="1090" dirty="0"/>
          </a:p>
          <a:p>
            <a:pPr indent="0" marL="0">
              <a:buNone/>
            </a:pPr>
            <a:r>
              <a:rPr lang="en-US" sz="1090" dirty="0">
                <a:solidFill>
                  <a:srgbClr val="25282B"/>
                </a:solidFill>
              </a:rPr>
              <a:t>• Supports individual exhibits and a composite heatmap</a:t>
            </a:r>
            <a:endParaRPr lang="en-US" sz="1090" dirty="0"/>
          </a:p>
        </p:txBody>
      </p:sp>
      <p:sp>
        <p:nvSpPr>
          <p:cNvPr id="14" name="Shape 12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value is the combination: no single metric is “innovation,” but together they reveal different company innovation models.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 metrics capture different stages of the innovation cycle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separates innovation capacity from scientific use, IP creation, adoption and recognition.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3776" y="1783080"/>
            <a:ext cx="816102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" y="1783080"/>
            <a:ext cx="89154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090" y="1947672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INNOVATION CAPACITY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2194560" y="1947672"/>
            <a:ext cx="277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R&amp;D as % of sales  •  LinkedIn PhD share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5074920" y="1911096"/>
            <a:ext cx="3326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Resources and scientific talent available to innovate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93776" y="2615184"/>
            <a:ext cx="8161020" cy="658368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3776" y="2615184"/>
            <a:ext cx="89154" cy="65836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0090" y="2779776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SCIENTIFIC USAGE</a:t>
            </a:r>
            <a:endParaRPr lang="en-US" sz="1030" dirty="0"/>
          </a:p>
        </p:txBody>
      </p:sp>
      <p:sp>
        <p:nvSpPr>
          <p:cNvPr id="13" name="Text 11"/>
          <p:cNvSpPr/>
          <p:nvPr/>
        </p:nvSpPr>
        <p:spPr>
          <a:xfrm>
            <a:off x="2194560" y="2779776"/>
            <a:ext cx="277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1E9DD2"/>
                </a:solidFill>
              </a:rPr>
              <a:t>bioRxiv full text  •  PMC Methods full text  •  PubMed title / abstract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5074920" y="2743200"/>
            <a:ext cx="3326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Visibility in active research workflows and scientific literature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493776" y="3447288"/>
            <a:ext cx="816102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" y="3447288"/>
            <a:ext cx="89154" cy="658368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0090" y="3611880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IP CREATION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2194560" y="3611880"/>
            <a:ext cx="277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B5486"/>
                </a:solidFill>
              </a:rPr>
              <a:t>USPTO patents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5074920" y="3575304"/>
            <a:ext cx="3326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Formal intellectual property and company-owned invention activity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493776" y="4279392"/>
            <a:ext cx="8161020" cy="658368"/>
          </a:xfrm>
          <a:prstGeom prst="roundRect">
            <a:avLst>
              <a:gd name="adj" fmla="val 5556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" y="4279392"/>
            <a:ext cx="89154" cy="65836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0090" y="4443984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INSTITUTIONAL ADOPTION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2194560" y="4443984"/>
            <a:ext cx="277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50A46D"/>
                </a:solidFill>
              </a:rPr>
              <a:t>NIH S10 awards / funding</a:t>
            </a:r>
            <a:endParaRPr lang="en-US" sz="1060" dirty="0"/>
          </a:p>
        </p:txBody>
      </p:sp>
      <p:sp>
        <p:nvSpPr>
          <p:cNvPr id="24" name="Text 22"/>
          <p:cNvSpPr/>
          <p:nvPr/>
        </p:nvSpPr>
        <p:spPr>
          <a:xfrm>
            <a:off x="5074920" y="4407408"/>
            <a:ext cx="3326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Presence in federally funded shared-instrumentation purchases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493776" y="5111496"/>
            <a:ext cx="8161020" cy="658368"/>
          </a:xfrm>
          <a:prstGeom prst="roundRect">
            <a:avLst>
              <a:gd name="adj" fmla="val 5556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5111496"/>
            <a:ext cx="89154" cy="658368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090" y="5276088"/>
            <a:ext cx="1474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EXTERNAL RECOGNITION</a:t>
            </a:r>
            <a:endParaRPr lang="en-US" sz="1030" dirty="0"/>
          </a:p>
        </p:txBody>
      </p:sp>
      <p:sp>
        <p:nvSpPr>
          <p:cNvPr id="28" name="Text 26"/>
          <p:cNvSpPr/>
          <p:nvPr/>
        </p:nvSpPr>
        <p:spPr>
          <a:xfrm>
            <a:off x="2194560" y="5276088"/>
            <a:ext cx="27774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676C72"/>
                </a:solidFill>
              </a:rPr>
              <a:t>Innovation awards</a:t>
            </a:r>
            <a:endParaRPr lang="en-US" sz="1060" dirty="0"/>
          </a:p>
        </p:txBody>
      </p:sp>
      <p:sp>
        <p:nvSpPr>
          <p:cNvPr id="29" name="Text 27"/>
          <p:cNvSpPr/>
          <p:nvPr/>
        </p:nvSpPr>
        <p:spPr>
          <a:xfrm>
            <a:off x="5074920" y="5239512"/>
            <a:ext cx="332613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Independent recognition of notable products and platforms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framework is differentiated because it links what companies invest, what scientists use, what firms patent, and what institutions fund.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public data to an auditable proprietary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standardizes collection, attribution, deduplication and yearly outputs across very different sources.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97764" y="1938528"/>
            <a:ext cx="1522476" cy="2231136"/>
          </a:xfrm>
          <a:prstGeom prst="roundRect">
            <a:avLst>
              <a:gd name="adj" fmla="val 300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242566"/>
            <a:ext cx="397764" cy="39776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340864"/>
            <a:ext cx="3977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0060" y="2880360"/>
            <a:ext cx="1357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PUBLIC SOURCES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492" y="33832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APIs • JATS XML • AWS open data • filings • LinkedIn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1933956" y="2697480"/>
            <a:ext cx="212598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6554" y="1938528"/>
            <a:ext cx="1522476" cy="2231136"/>
          </a:xfrm>
          <a:prstGeom prst="roundRect">
            <a:avLst>
              <a:gd name="adj" fmla="val 300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8910" y="2242566"/>
            <a:ext cx="397764" cy="39776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08910" y="2340864"/>
            <a:ext cx="3977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28850" y="2880360"/>
            <a:ext cx="1357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STANDARDIZED DICTIONARIES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56282" y="33832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Company aliases • product terms • ownership rules • exclusions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3682746" y="2697480"/>
            <a:ext cx="212598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95344" y="1938528"/>
            <a:ext cx="1522476" cy="2231136"/>
          </a:xfrm>
          <a:prstGeom prst="roundRect">
            <a:avLst>
              <a:gd name="adj" fmla="val 300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57700" y="2242566"/>
            <a:ext cx="397764" cy="3977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57700" y="2340864"/>
            <a:ext cx="3977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77640" y="2880360"/>
            <a:ext cx="1357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SOURCE-SPECIFIC MATCHING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005072" y="33832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Methods context • applicant / assignee fields • title / abstract • grant text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431536" y="2697480"/>
            <a:ext cx="212598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44134" y="1938528"/>
            <a:ext cx="1522476" cy="2231136"/>
          </a:xfrm>
          <a:prstGeom prst="roundRect">
            <a:avLst>
              <a:gd name="adj" fmla="val 300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06490" y="2242566"/>
            <a:ext cx="397764" cy="39776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6490" y="2340864"/>
            <a:ext cx="3977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26430" y="2880360"/>
            <a:ext cx="1357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DATA INTEGRITY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53862" y="33832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One company-record row • all terms retained • dedup • failures audited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7180326" y="2697480"/>
            <a:ext cx="212598" cy="50292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92924" y="1938528"/>
            <a:ext cx="1522476" cy="2231136"/>
          </a:xfrm>
          <a:prstGeom prst="roundRect">
            <a:avLst>
              <a:gd name="adj" fmla="val 300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55280" y="2242566"/>
            <a:ext cx="397764" cy="397764"/>
          </a:xfrm>
          <a:prstGeom prst="ellipse">
            <a:avLst/>
          </a:prstGeom>
          <a:solidFill>
            <a:srgbClr val="50A46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340864"/>
            <a:ext cx="3977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75220" y="2880360"/>
            <a:ext cx="13578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ANALYTICAL OUTPUTS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02652" y="3383280"/>
            <a:ext cx="13030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25282B"/>
                </a:solidFill>
              </a:rPr>
              <a:t>Yearly files • metric exhibits • category scores • final heatmap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534924" y="4800600"/>
            <a:ext cx="1453896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" y="487375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Reproducible random samples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15134" y="4800600"/>
            <a:ext cx="1453896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97430" y="487375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Full-text validation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95344" y="4800600"/>
            <a:ext cx="1453896" cy="329184"/>
          </a:xfrm>
          <a:prstGeom prst="roundRect">
            <a:avLst>
              <a:gd name="adj" fmla="val 22222"/>
            </a:avLst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77640" y="487375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Context-gated terms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5554" y="4800600"/>
            <a:ext cx="1453896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7850" y="487375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Current-parent mapping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55764" y="4800600"/>
            <a:ext cx="1453896" cy="329184"/>
          </a:xfrm>
          <a:prstGeom prst="roundRect">
            <a:avLst>
              <a:gd name="adj" fmla="val 22222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38060" y="4873752"/>
            <a:ext cx="12893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Checkpointed / resumable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reduced manual collection time while improving reproducibility, breadth and auditability.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Metric-specific exhibits preserve the meaning of each source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layouts—replace with the final company data and takeaways.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531870" y="1755648"/>
            <a:ext cx="2125980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4166" y="1819656"/>
            <a:ext cx="19613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EDITABLE EXHIBIT EXAMPLES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25196" y="2084832"/>
            <a:ext cx="2743200" cy="3328416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" y="228600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R&amp;D investment intensity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7220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486"/>
                </a:solidFill>
              </a:rPr>
              <a:t>Range-and-dot plot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30936" y="30175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PACB*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110996" y="3108960"/>
            <a:ext cx="164592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8548" y="3047238"/>
            <a:ext cx="123444" cy="123444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" y="344728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110996" y="3538728"/>
            <a:ext cx="144018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3477006"/>
            <a:ext cx="123444" cy="12344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" y="3877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110996" y="3968496"/>
            <a:ext cx="120015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31086" y="3906774"/>
            <a:ext cx="123444" cy="12344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" y="43068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110996" y="4398264"/>
            <a:ext cx="994410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07642" y="4336542"/>
            <a:ext cx="123444" cy="12344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473659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110996" y="4828032"/>
            <a:ext cx="809244" cy="0"/>
          </a:xfrm>
          <a:prstGeom prst="line">
            <a:avLst/>
          </a:prstGeom>
          <a:noFill/>
          <a:ln w="25400">
            <a:solidFill>
              <a:srgbClr val="C8C9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96542" y="4766310"/>
            <a:ext cx="123444" cy="123444"/>
          </a:xfrm>
          <a:prstGeom prst="ellipse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" y="5193792"/>
            <a:ext cx="10287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76C72"/>
                </a:solidFill>
              </a:rPr>
              <a:t>* off-scale treatment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202686" y="2084832"/>
            <a:ext cx="2743200" cy="3328416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94710" y="228600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NIH S10 institutional adoption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94710" y="2596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0A46D"/>
                </a:solidFill>
              </a:rPr>
              <a:t>Clustered bars: award share vs funding share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94710" y="3035808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874770" y="3044952"/>
            <a:ext cx="802386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4770" y="3200400"/>
            <a:ext cx="894969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94710" y="3465576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74770" y="3474720"/>
            <a:ext cx="678942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74770" y="3630168"/>
            <a:ext cx="617220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94710" y="3895344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74770" y="3904488"/>
            <a:ext cx="555498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74770" y="4059936"/>
            <a:ext cx="493776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4710" y="4325112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4770" y="4334256"/>
            <a:ext cx="216027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874770" y="4489704"/>
            <a:ext cx="246888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94710" y="4754880"/>
            <a:ext cx="37719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74770" y="4764024"/>
            <a:ext cx="108014" cy="1097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74770" y="4919472"/>
            <a:ext cx="123444" cy="109728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97580" y="5175504"/>
            <a:ext cx="5143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9DD2"/>
                </a:solidFill>
              </a:rPr>
              <a:t>Award share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4238244" y="5175504"/>
            <a:ext cx="58293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0A46D"/>
                </a:solidFill>
              </a:rPr>
              <a:t>Funding share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980176" y="2084832"/>
            <a:ext cx="2743200" cy="3328416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2286000"/>
            <a:ext cx="23660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Scientific research footprint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6172200" y="2596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B5486"/>
                </a:solidFill>
              </a:rPr>
              <a:t>Ranked company-paper relationships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172200" y="3054096"/>
            <a:ext cx="445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652260" y="3081528"/>
            <a:ext cx="1431950" cy="164592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3493008"/>
            <a:ext cx="445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652260" y="3520440"/>
            <a:ext cx="1135685" cy="164592"/>
          </a:xfrm>
          <a:prstGeom prst="rect">
            <a:avLst/>
          </a:prstGeom>
          <a:solidFill>
            <a:srgbClr val="0B5486"/>
          </a:solidFill>
          <a:ln w="12700">
            <a:solidFill>
              <a:srgbClr val="0B548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3931920"/>
            <a:ext cx="445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652260" y="3959352"/>
            <a:ext cx="987552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72200" y="4370832"/>
            <a:ext cx="445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652260" y="4398264"/>
            <a:ext cx="765353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4809744"/>
            <a:ext cx="44577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652260" y="4837176"/>
            <a:ext cx="518465" cy="164592"/>
          </a:xfrm>
          <a:prstGeom prst="rect">
            <a:avLst/>
          </a:prstGeom>
          <a:solidFill>
            <a:srgbClr val="A9DDF0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exhibit should answer a source-specific question; the composite heatmap comes only after the individual metrics are understood.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output: a company-by-metric heatmap with a transparent composite score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layout—replace values, scoring logic and company ordering with the final analysis.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337310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R&amp;D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940814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PhD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544318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bioRxiv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147822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PMC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751326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PubMed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354830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USPTO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958334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S10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561838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76C72"/>
                </a:solidFill>
              </a:rPr>
              <a:t>Awards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165342" y="1865376"/>
            <a:ext cx="603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0000"/>
                </a:solidFill>
              </a:rPr>
              <a:t>Composite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82930" y="2276856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337310" y="221284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37310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0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1940814" y="221284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0814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23</a:t>
            </a:r>
            <a:endParaRPr lang="en-US" sz="720" dirty="0"/>
          </a:p>
        </p:txBody>
      </p:sp>
      <p:sp>
        <p:nvSpPr>
          <p:cNvPr id="19" name="Shape 17"/>
          <p:cNvSpPr/>
          <p:nvPr/>
        </p:nvSpPr>
        <p:spPr>
          <a:xfrm>
            <a:off x="2544318" y="221284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44318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46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3147822" y="2212848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47822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69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751326" y="221284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1326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92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4354830" y="221284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4830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14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4958334" y="221284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8334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37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5561838" y="2212848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1838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60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6165342" y="2212848"/>
            <a:ext cx="569214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65342" y="226771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83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582930" y="2560320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337310" y="249631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37310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17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1940814" y="249631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40814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40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2544318" y="2496312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4318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63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3147822" y="249631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47822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86</a:t>
            </a:r>
            <a:endParaRPr lang="en-US" sz="720" dirty="0"/>
          </a:p>
        </p:txBody>
      </p:sp>
      <p:sp>
        <p:nvSpPr>
          <p:cNvPr id="42" name="Shape 40"/>
          <p:cNvSpPr/>
          <p:nvPr/>
        </p:nvSpPr>
        <p:spPr>
          <a:xfrm>
            <a:off x="3751326" y="249631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51326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4354830" y="249631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4830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31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4958334" y="2496312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8334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54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5561838" y="249631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61838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77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6165342" y="2496312"/>
            <a:ext cx="569214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65342" y="255117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100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582930" y="2843784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337310" y="2779776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37310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34</a:t>
            </a:r>
            <a:endParaRPr lang="en-US" sz="720" dirty="0"/>
          </a:p>
        </p:txBody>
      </p:sp>
      <p:sp>
        <p:nvSpPr>
          <p:cNvPr id="55" name="Shape 53"/>
          <p:cNvSpPr/>
          <p:nvPr/>
        </p:nvSpPr>
        <p:spPr>
          <a:xfrm>
            <a:off x="1940814" y="2779776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40814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57</a:t>
            </a:r>
            <a:endParaRPr lang="en-US" sz="720" dirty="0"/>
          </a:p>
        </p:txBody>
      </p:sp>
      <p:sp>
        <p:nvSpPr>
          <p:cNvPr id="57" name="Shape 55"/>
          <p:cNvSpPr/>
          <p:nvPr/>
        </p:nvSpPr>
        <p:spPr>
          <a:xfrm>
            <a:off x="2544318" y="2779776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44318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80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3147822" y="2779776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147822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</a:t>
            </a:r>
            <a:endParaRPr lang="en-US" sz="720" dirty="0"/>
          </a:p>
        </p:txBody>
      </p:sp>
      <p:sp>
        <p:nvSpPr>
          <p:cNvPr id="61" name="Shape 59"/>
          <p:cNvSpPr/>
          <p:nvPr/>
        </p:nvSpPr>
        <p:spPr>
          <a:xfrm>
            <a:off x="3751326" y="2779776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751326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25</a:t>
            </a:r>
            <a:endParaRPr lang="en-US" sz="720" dirty="0"/>
          </a:p>
        </p:txBody>
      </p:sp>
      <p:sp>
        <p:nvSpPr>
          <p:cNvPr id="63" name="Shape 61"/>
          <p:cNvSpPr/>
          <p:nvPr/>
        </p:nvSpPr>
        <p:spPr>
          <a:xfrm>
            <a:off x="4354830" y="2779776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354830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48</a:t>
            </a:r>
            <a:endParaRPr lang="en-US" sz="720" dirty="0"/>
          </a:p>
        </p:txBody>
      </p:sp>
      <p:sp>
        <p:nvSpPr>
          <p:cNvPr id="65" name="Shape 63"/>
          <p:cNvSpPr/>
          <p:nvPr/>
        </p:nvSpPr>
        <p:spPr>
          <a:xfrm>
            <a:off x="4958334" y="2779776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958334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71</a:t>
            </a:r>
            <a:endParaRPr lang="en-US" sz="720" dirty="0"/>
          </a:p>
        </p:txBody>
      </p:sp>
      <p:sp>
        <p:nvSpPr>
          <p:cNvPr id="67" name="Shape 65"/>
          <p:cNvSpPr/>
          <p:nvPr/>
        </p:nvSpPr>
        <p:spPr>
          <a:xfrm>
            <a:off x="5561838" y="2779776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61838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94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6165342" y="2779776"/>
            <a:ext cx="569214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165342" y="283464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16</a:t>
            </a:r>
            <a:endParaRPr lang="en-US" sz="720" dirty="0"/>
          </a:p>
        </p:txBody>
      </p:sp>
      <p:sp>
        <p:nvSpPr>
          <p:cNvPr id="71" name="Text 69"/>
          <p:cNvSpPr/>
          <p:nvPr/>
        </p:nvSpPr>
        <p:spPr>
          <a:xfrm>
            <a:off x="582930" y="3127248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337310" y="3063240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337310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51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1940814" y="3063240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940814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74</a:t>
            </a:r>
            <a:endParaRPr lang="en-US" sz="720" dirty="0"/>
          </a:p>
        </p:txBody>
      </p:sp>
      <p:sp>
        <p:nvSpPr>
          <p:cNvPr id="76" name="Shape 74"/>
          <p:cNvSpPr/>
          <p:nvPr/>
        </p:nvSpPr>
        <p:spPr>
          <a:xfrm>
            <a:off x="2544318" y="3063240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544318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97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3147822" y="3063240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147822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19</a:t>
            </a:r>
            <a:endParaRPr lang="en-US" sz="720" dirty="0"/>
          </a:p>
        </p:txBody>
      </p:sp>
      <p:sp>
        <p:nvSpPr>
          <p:cNvPr id="80" name="Shape 78"/>
          <p:cNvSpPr/>
          <p:nvPr/>
        </p:nvSpPr>
        <p:spPr>
          <a:xfrm>
            <a:off x="3751326" y="3063240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51326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42</a:t>
            </a:r>
            <a:endParaRPr lang="en-US" sz="720" dirty="0"/>
          </a:p>
        </p:txBody>
      </p:sp>
      <p:sp>
        <p:nvSpPr>
          <p:cNvPr id="82" name="Shape 80"/>
          <p:cNvSpPr/>
          <p:nvPr/>
        </p:nvSpPr>
        <p:spPr>
          <a:xfrm>
            <a:off x="4354830" y="3063240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354830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65</a:t>
            </a:r>
            <a:endParaRPr lang="en-US" sz="720" dirty="0"/>
          </a:p>
        </p:txBody>
      </p:sp>
      <p:sp>
        <p:nvSpPr>
          <p:cNvPr id="84" name="Shape 82"/>
          <p:cNvSpPr/>
          <p:nvPr/>
        </p:nvSpPr>
        <p:spPr>
          <a:xfrm>
            <a:off x="4958334" y="3063240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58334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88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5561838" y="3063240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61838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10</a:t>
            </a:r>
            <a:endParaRPr lang="en-US" sz="720" dirty="0"/>
          </a:p>
        </p:txBody>
      </p:sp>
      <p:sp>
        <p:nvSpPr>
          <p:cNvPr id="88" name="Shape 86"/>
          <p:cNvSpPr/>
          <p:nvPr/>
        </p:nvSpPr>
        <p:spPr>
          <a:xfrm>
            <a:off x="6165342" y="3063240"/>
            <a:ext cx="569214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165342" y="311810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33</a:t>
            </a:r>
            <a:endParaRPr lang="en-US" sz="720" dirty="0"/>
          </a:p>
        </p:txBody>
      </p:sp>
      <p:sp>
        <p:nvSpPr>
          <p:cNvPr id="90" name="Text 88"/>
          <p:cNvSpPr/>
          <p:nvPr/>
        </p:nvSpPr>
        <p:spPr>
          <a:xfrm>
            <a:off x="582930" y="3410712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1337310" y="3346704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1337310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68</a:t>
            </a:r>
            <a:endParaRPr lang="en-US" sz="720" dirty="0"/>
          </a:p>
        </p:txBody>
      </p:sp>
      <p:sp>
        <p:nvSpPr>
          <p:cNvPr id="93" name="Shape 91"/>
          <p:cNvSpPr/>
          <p:nvPr/>
        </p:nvSpPr>
        <p:spPr>
          <a:xfrm>
            <a:off x="1940814" y="3346704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940814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91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2544318" y="3346704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544318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13</a:t>
            </a:r>
            <a:endParaRPr lang="en-US" sz="720" dirty="0"/>
          </a:p>
        </p:txBody>
      </p:sp>
      <p:sp>
        <p:nvSpPr>
          <p:cNvPr id="97" name="Shape 95"/>
          <p:cNvSpPr/>
          <p:nvPr/>
        </p:nvSpPr>
        <p:spPr>
          <a:xfrm>
            <a:off x="3147822" y="3346704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47822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36</a:t>
            </a:r>
            <a:endParaRPr lang="en-US" sz="720" dirty="0"/>
          </a:p>
        </p:txBody>
      </p:sp>
      <p:sp>
        <p:nvSpPr>
          <p:cNvPr id="99" name="Shape 97"/>
          <p:cNvSpPr/>
          <p:nvPr/>
        </p:nvSpPr>
        <p:spPr>
          <a:xfrm>
            <a:off x="3751326" y="3346704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751326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59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4354830" y="3346704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354830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82</a:t>
            </a:r>
            <a:endParaRPr lang="en-US" sz="720" dirty="0"/>
          </a:p>
        </p:txBody>
      </p:sp>
      <p:sp>
        <p:nvSpPr>
          <p:cNvPr id="103" name="Shape 101"/>
          <p:cNvSpPr/>
          <p:nvPr/>
        </p:nvSpPr>
        <p:spPr>
          <a:xfrm>
            <a:off x="4958334" y="3346704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958334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</a:t>
            </a:r>
            <a:endParaRPr lang="en-US" sz="720" dirty="0"/>
          </a:p>
        </p:txBody>
      </p:sp>
      <p:sp>
        <p:nvSpPr>
          <p:cNvPr id="105" name="Shape 103"/>
          <p:cNvSpPr/>
          <p:nvPr/>
        </p:nvSpPr>
        <p:spPr>
          <a:xfrm>
            <a:off x="5561838" y="3346704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561838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27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6165342" y="3346704"/>
            <a:ext cx="569214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165342" y="340156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50</a:t>
            </a:r>
            <a:endParaRPr lang="en-US" sz="720" dirty="0"/>
          </a:p>
        </p:txBody>
      </p:sp>
      <p:sp>
        <p:nvSpPr>
          <p:cNvPr id="109" name="Text 107"/>
          <p:cNvSpPr/>
          <p:nvPr/>
        </p:nvSpPr>
        <p:spPr>
          <a:xfrm>
            <a:off x="582930" y="3694176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MTD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1337310" y="363016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337310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85</a:t>
            </a:r>
            <a:endParaRPr lang="en-US" sz="720" dirty="0"/>
          </a:p>
        </p:txBody>
      </p:sp>
      <p:sp>
        <p:nvSpPr>
          <p:cNvPr id="112" name="Shape 110"/>
          <p:cNvSpPr/>
          <p:nvPr/>
        </p:nvSpPr>
        <p:spPr>
          <a:xfrm>
            <a:off x="1940814" y="363016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940814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</a:t>
            </a:r>
            <a:endParaRPr lang="en-US" sz="720" dirty="0"/>
          </a:p>
        </p:txBody>
      </p:sp>
      <p:sp>
        <p:nvSpPr>
          <p:cNvPr id="114" name="Shape 112"/>
          <p:cNvSpPr/>
          <p:nvPr/>
        </p:nvSpPr>
        <p:spPr>
          <a:xfrm>
            <a:off x="2544318" y="363016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544318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30</a:t>
            </a:r>
            <a:endParaRPr lang="en-US" sz="720" dirty="0"/>
          </a:p>
        </p:txBody>
      </p:sp>
      <p:sp>
        <p:nvSpPr>
          <p:cNvPr id="116" name="Shape 114"/>
          <p:cNvSpPr/>
          <p:nvPr/>
        </p:nvSpPr>
        <p:spPr>
          <a:xfrm>
            <a:off x="3147822" y="3630168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147822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53</a:t>
            </a:r>
            <a:endParaRPr lang="en-US" sz="720" dirty="0"/>
          </a:p>
        </p:txBody>
      </p:sp>
      <p:sp>
        <p:nvSpPr>
          <p:cNvPr id="118" name="Shape 116"/>
          <p:cNvSpPr/>
          <p:nvPr/>
        </p:nvSpPr>
        <p:spPr>
          <a:xfrm>
            <a:off x="3751326" y="363016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751326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76</a:t>
            </a:r>
            <a:endParaRPr lang="en-US" sz="720" dirty="0"/>
          </a:p>
        </p:txBody>
      </p:sp>
      <p:sp>
        <p:nvSpPr>
          <p:cNvPr id="120" name="Shape 118"/>
          <p:cNvSpPr/>
          <p:nvPr/>
        </p:nvSpPr>
        <p:spPr>
          <a:xfrm>
            <a:off x="4354830" y="363016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354830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99</a:t>
            </a:r>
            <a:endParaRPr lang="en-US" sz="720" dirty="0"/>
          </a:p>
        </p:txBody>
      </p:sp>
      <p:sp>
        <p:nvSpPr>
          <p:cNvPr id="122" name="Shape 120"/>
          <p:cNvSpPr/>
          <p:nvPr/>
        </p:nvSpPr>
        <p:spPr>
          <a:xfrm>
            <a:off x="4958334" y="363016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58334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21</a:t>
            </a:r>
            <a:endParaRPr lang="en-US" sz="720" dirty="0"/>
          </a:p>
        </p:txBody>
      </p:sp>
      <p:sp>
        <p:nvSpPr>
          <p:cNvPr id="124" name="Shape 122"/>
          <p:cNvSpPr/>
          <p:nvPr/>
        </p:nvSpPr>
        <p:spPr>
          <a:xfrm>
            <a:off x="5561838" y="363016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561838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44</a:t>
            </a:r>
            <a:endParaRPr lang="en-US" sz="720" dirty="0"/>
          </a:p>
        </p:txBody>
      </p:sp>
      <p:sp>
        <p:nvSpPr>
          <p:cNvPr id="126" name="Shape 124"/>
          <p:cNvSpPr/>
          <p:nvPr/>
        </p:nvSpPr>
        <p:spPr>
          <a:xfrm>
            <a:off x="6165342" y="3630168"/>
            <a:ext cx="569214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165342" y="368503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67</a:t>
            </a:r>
            <a:endParaRPr lang="en-US" sz="720" dirty="0"/>
          </a:p>
        </p:txBody>
      </p:sp>
      <p:sp>
        <p:nvSpPr>
          <p:cNvPr id="128" name="Text 126"/>
          <p:cNvSpPr/>
          <p:nvPr/>
        </p:nvSpPr>
        <p:spPr>
          <a:xfrm>
            <a:off x="582930" y="3977640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PACB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1337310" y="391363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1337310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</a:t>
            </a:r>
            <a:endParaRPr lang="en-US" sz="720" dirty="0"/>
          </a:p>
        </p:txBody>
      </p:sp>
      <p:sp>
        <p:nvSpPr>
          <p:cNvPr id="131" name="Shape 129"/>
          <p:cNvSpPr/>
          <p:nvPr/>
        </p:nvSpPr>
        <p:spPr>
          <a:xfrm>
            <a:off x="1940814" y="391363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940814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24</a:t>
            </a:r>
            <a:endParaRPr lang="en-US" sz="720" dirty="0"/>
          </a:p>
        </p:txBody>
      </p:sp>
      <p:sp>
        <p:nvSpPr>
          <p:cNvPr id="133" name="Shape 131"/>
          <p:cNvSpPr/>
          <p:nvPr/>
        </p:nvSpPr>
        <p:spPr>
          <a:xfrm>
            <a:off x="2544318" y="391363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544318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47</a:t>
            </a:r>
            <a:endParaRPr lang="en-US" sz="720" dirty="0"/>
          </a:p>
        </p:txBody>
      </p:sp>
      <p:sp>
        <p:nvSpPr>
          <p:cNvPr id="135" name="Shape 133"/>
          <p:cNvSpPr/>
          <p:nvPr/>
        </p:nvSpPr>
        <p:spPr>
          <a:xfrm>
            <a:off x="3147822" y="3913632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147822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70</a:t>
            </a:r>
            <a:endParaRPr lang="en-US" sz="720" dirty="0"/>
          </a:p>
        </p:txBody>
      </p:sp>
      <p:sp>
        <p:nvSpPr>
          <p:cNvPr id="137" name="Shape 135"/>
          <p:cNvSpPr/>
          <p:nvPr/>
        </p:nvSpPr>
        <p:spPr>
          <a:xfrm>
            <a:off x="3751326" y="391363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751326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93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4354830" y="391363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354830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15</a:t>
            </a:r>
            <a:endParaRPr lang="en-US" sz="720" dirty="0"/>
          </a:p>
        </p:txBody>
      </p:sp>
      <p:sp>
        <p:nvSpPr>
          <p:cNvPr id="141" name="Shape 139"/>
          <p:cNvSpPr/>
          <p:nvPr/>
        </p:nvSpPr>
        <p:spPr>
          <a:xfrm>
            <a:off x="4958334" y="391363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4958334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38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5561838" y="3913632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561838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61</a:t>
            </a:r>
            <a:endParaRPr lang="en-US" sz="720" dirty="0"/>
          </a:p>
        </p:txBody>
      </p:sp>
      <p:sp>
        <p:nvSpPr>
          <p:cNvPr id="145" name="Shape 143"/>
          <p:cNvSpPr/>
          <p:nvPr/>
        </p:nvSpPr>
        <p:spPr>
          <a:xfrm>
            <a:off x="6165342" y="3913632"/>
            <a:ext cx="569214" cy="256032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165342" y="396849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84</a:t>
            </a:r>
            <a:endParaRPr lang="en-US" sz="720" dirty="0"/>
          </a:p>
        </p:txBody>
      </p:sp>
      <p:sp>
        <p:nvSpPr>
          <p:cNvPr id="147" name="Text 145"/>
          <p:cNvSpPr/>
          <p:nvPr/>
        </p:nvSpPr>
        <p:spPr>
          <a:xfrm>
            <a:off x="582930" y="4261104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1337310" y="4197096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1337310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18</a:t>
            </a:r>
            <a:endParaRPr lang="en-US" sz="720" dirty="0"/>
          </a:p>
        </p:txBody>
      </p:sp>
      <p:sp>
        <p:nvSpPr>
          <p:cNvPr id="150" name="Shape 148"/>
          <p:cNvSpPr/>
          <p:nvPr/>
        </p:nvSpPr>
        <p:spPr>
          <a:xfrm>
            <a:off x="1940814" y="4197096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940814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41</a:t>
            </a:r>
            <a:endParaRPr lang="en-US" sz="720" dirty="0"/>
          </a:p>
        </p:txBody>
      </p:sp>
      <p:sp>
        <p:nvSpPr>
          <p:cNvPr id="152" name="Shape 150"/>
          <p:cNvSpPr/>
          <p:nvPr/>
        </p:nvSpPr>
        <p:spPr>
          <a:xfrm>
            <a:off x="2544318" y="4197096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544318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64</a:t>
            </a:r>
            <a:endParaRPr lang="en-US" sz="720" dirty="0"/>
          </a:p>
        </p:txBody>
      </p:sp>
      <p:sp>
        <p:nvSpPr>
          <p:cNvPr id="154" name="Shape 152"/>
          <p:cNvSpPr/>
          <p:nvPr/>
        </p:nvSpPr>
        <p:spPr>
          <a:xfrm>
            <a:off x="3147822" y="4197096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3147822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87</a:t>
            </a:r>
            <a:endParaRPr lang="en-US" sz="720" dirty="0"/>
          </a:p>
        </p:txBody>
      </p:sp>
      <p:sp>
        <p:nvSpPr>
          <p:cNvPr id="156" name="Shape 154"/>
          <p:cNvSpPr/>
          <p:nvPr/>
        </p:nvSpPr>
        <p:spPr>
          <a:xfrm>
            <a:off x="3751326" y="4197096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751326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</a:t>
            </a:r>
            <a:endParaRPr lang="en-US" sz="720" dirty="0"/>
          </a:p>
        </p:txBody>
      </p:sp>
      <p:sp>
        <p:nvSpPr>
          <p:cNvPr id="158" name="Shape 156"/>
          <p:cNvSpPr/>
          <p:nvPr/>
        </p:nvSpPr>
        <p:spPr>
          <a:xfrm>
            <a:off x="4354830" y="4197096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354830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32</a:t>
            </a:r>
            <a:endParaRPr lang="en-US" sz="720" dirty="0"/>
          </a:p>
        </p:txBody>
      </p:sp>
      <p:sp>
        <p:nvSpPr>
          <p:cNvPr id="160" name="Shape 158"/>
          <p:cNvSpPr/>
          <p:nvPr/>
        </p:nvSpPr>
        <p:spPr>
          <a:xfrm>
            <a:off x="4958334" y="4197096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958334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55</a:t>
            </a:r>
            <a:endParaRPr lang="en-US" sz="720" dirty="0"/>
          </a:p>
        </p:txBody>
      </p:sp>
      <p:sp>
        <p:nvSpPr>
          <p:cNvPr id="162" name="Shape 160"/>
          <p:cNvSpPr/>
          <p:nvPr/>
        </p:nvSpPr>
        <p:spPr>
          <a:xfrm>
            <a:off x="5561838" y="4197096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561838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78</a:t>
            </a:r>
            <a:endParaRPr lang="en-US" sz="720" dirty="0"/>
          </a:p>
        </p:txBody>
      </p:sp>
      <p:sp>
        <p:nvSpPr>
          <p:cNvPr id="164" name="Shape 162"/>
          <p:cNvSpPr/>
          <p:nvPr/>
        </p:nvSpPr>
        <p:spPr>
          <a:xfrm>
            <a:off x="6165342" y="4197096"/>
            <a:ext cx="569214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165342" y="4251960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0</a:t>
            </a:r>
            <a:endParaRPr lang="en-US" sz="720" dirty="0"/>
          </a:p>
        </p:txBody>
      </p:sp>
      <p:sp>
        <p:nvSpPr>
          <p:cNvPr id="166" name="Text 164"/>
          <p:cNvSpPr/>
          <p:nvPr/>
        </p:nvSpPr>
        <p:spPr>
          <a:xfrm>
            <a:off x="582930" y="4544568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RVTY</a:t>
            </a:r>
            <a:endParaRPr lang="en-US" sz="850" dirty="0"/>
          </a:p>
        </p:txBody>
      </p:sp>
      <p:sp>
        <p:nvSpPr>
          <p:cNvPr id="167" name="Shape 165"/>
          <p:cNvSpPr/>
          <p:nvPr/>
        </p:nvSpPr>
        <p:spPr>
          <a:xfrm>
            <a:off x="1337310" y="4480560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337310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35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1940814" y="4480560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940814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58</a:t>
            </a:r>
            <a:endParaRPr lang="en-US" sz="720" dirty="0"/>
          </a:p>
        </p:txBody>
      </p:sp>
      <p:sp>
        <p:nvSpPr>
          <p:cNvPr id="171" name="Shape 169"/>
          <p:cNvSpPr/>
          <p:nvPr/>
        </p:nvSpPr>
        <p:spPr>
          <a:xfrm>
            <a:off x="2544318" y="4480560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544318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81</a:t>
            </a:r>
            <a:endParaRPr lang="en-US" sz="720" dirty="0"/>
          </a:p>
        </p:txBody>
      </p:sp>
      <p:sp>
        <p:nvSpPr>
          <p:cNvPr id="173" name="Shape 171"/>
          <p:cNvSpPr/>
          <p:nvPr/>
        </p:nvSpPr>
        <p:spPr>
          <a:xfrm>
            <a:off x="3147822" y="4480560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3147822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</a:t>
            </a:r>
            <a:endParaRPr lang="en-US" sz="720" dirty="0"/>
          </a:p>
        </p:txBody>
      </p:sp>
      <p:sp>
        <p:nvSpPr>
          <p:cNvPr id="175" name="Shape 173"/>
          <p:cNvSpPr/>
          <p:nvPr/>
        </p:nvSpPr>
        <p:spPr>
          <a:xfrm>
            <a:off x="3751326" y="4480560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751326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26</a:t>
            </a:r>
            <a:endParaRPr lang="en-US" sz="720" dirty="0"/>
          </a:p>
        </p:txBody>
      </p:sp>
      <p:sp>
        <p:nvSpPr>
          <p:cNvPr id="177" name="Shape 175"/>
          <p:cNvSpPr/>
          <p:nvPr/>
        </p:nvSpPr>
        <p:spPr>
          <a:xfrm>
            <a:off x="4354830" y="4480560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354830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49</a:t>
            </a:r>
            <a:endParaRPr lang="en-US" sz="720" dirty="0"/>
          </a:p>
        </p:txBody>
      </p:sp>
      <p:sp>
        <p:nvSpPr>
          <p:cNvPr id="179" name="Shape 177"/>
          <p:cNvSpPr/>
          <p:nvPr/>
        </p:nvSpPr>
        <p:spPr>
          <a:xfrm>
            <a:off x="4958334" y="4480560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958334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72</a:t>
            </a:r>
            <a:endParaRPr lang="en-US" sz="720" dirty="0"/>
          </a:p>
        </p:txBody>
      </p:sp>
      <p:sp>
        <p:nvSpPr>
          <p:cNvPr id="181" name="Shape 179"/>
          <p:cNvSpPr/>
          <p:nvPr/>
        </p:nvSpPr>
        <p:spPr>
          <a:xfrm>
            <a:off x="5561838" y="4480560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561838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95</a:t>
            </a:r>
            <a:endParaRPr lang="en-US" sz="720" dirty="0"/>
          </a:p>
        </p:txBody>
      </p:sp>
      <p:sp>
        <p:nvSpPr>
          <p:cNvPr id="183" name="Shape 181"/>
          <p:cNvSpPr/>
          <p:nvPr/>
        </p:nvSpPr>
        <p:spPr>
          <a:xfrm>
            <a:off x="6165342" y="4480560"/>
            <a:ext cx="569214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165342" y="4535424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17</a:t>
            </a:r>
            <a:endParaRPr lang="en-US" sz="720" dirty="0"/>
          </a:p>
        </p:txBody>
      </p:sp>
      <p:sp>
        <p:nvSpPr>
          <p:cNvPr id="185" name="Text 183"/>
          <p:cNvSpPr/>
          <p:nvPr/>
        </p:nvSpPr>
        <p:spPr>
          <a:xfrm>
            <a:off x="582930" y="4828032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1337310" y="4764024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337310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52</a:t>
            </a:r>
            <a:endParaRPr lang="en-US" sz="720" dirty="0"/>
          </a:p>
        </p:txBody>
      </p:sp>
      <p:sp>
        <p:nvSpPr>
          <p:cNvPr id="188" name="Shape 186"/>
          <p:cNvSpPr/>
          <p:nvPr/>
        </p:nvSpPr>
        <p:spPr>
          <a:xfrm>
            <a:off x="1940814" y="4764024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940814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75</a:t>
            </a:r>
            <a:endParaRPr lang="en-US" sz="720" dirty="0"/>
          </a:p>
        </p:txBody>
      </p:sp>
      <p:sp>
        <p:nvSpPr>
          <p:cNvPr id="190" name="Shape 188"/>
          <p:cNvSpPr/>
          <p:nvPr/>
        </p:nvSpPr>
        <p:spPr>
          <a:xfrm>
            <a:off x="2544318" y="4764024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544318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98</a:t>
            </a:r>
            <a:endParaRPr lang="en-US" sz="720" dirty="0"/>
          </a:p>
        </p:txBody>
      </p:sp>
      <p:sp>
        <p:nvSpPr>
          <p:cNvPr id="192" name="Shape 190"/>
          <p:cNvSpPr/>
          <p:nvPr/>
        </p:nvSpPr>
        <p:spPr>
          <a:xfrm>
            <a:off x="3147822" y="4764024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3147822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20</a:t>
            </a:r>
            <a:endParaRPr lang="en-US" sz="720" dirty="0"/>
          </a:p>
        </p:txBody>
      </p:sp>
      <p:sp>
        <p:nvSpPr>
          <p:cNvPr id="194" name="Shape 192"/>
          <p:cNvSpPr/>
          <p:nvPr/>
        </p:nvSpPr>
        <p:spPr>
          <a:xfrm>
            <a:off x="3751326" y="4764024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751326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43</a:t>
            </a:r>
            <a:endParaRPr lang="en-US" sz="720" dirty="0"/>
          </a:p>
        </p:txBody>
      </p:sp>
      <p:sp>
        <p:nvSpPr>
          <p:cNvPr id="196" name="Shape 194"/>
          <p:cNvSpPr/>
          <p:nvPr/>
        </p:nvSpPr>
        <p:spPr>
          <a:xfrm>
            <a:off x="4354830" y="4764024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354830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66</a:t>
            </a:r>
            <a:endParaRPr lang="en-US" sz="720" dirty="0"/>
          </a:p>
        </p:txBody>
      </p:sp>
      <p:sp>
        <p:nvSpPr>
          <p:cNvPr id="198" name="Shape 196"/>
          <p:cNvSpPr/>
          <p:nvPr/>
        </p:nvSpPr>
        <p:spPr>
          <a:xfrm>
            <a:off x="4958334" y="4764024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58334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89</a:t>
            </a:r>
            <a:endParaRPr lang="en-US" sz="720" dirty="0"/>
          </a:p>
        </p:txBody>
      </p:sp>
      <p:sp>
        <p:nvSpPr>
          <p:cNvPr id="200" name="Shape 198"/>
          <p:cNvSpPr/>
          <p:nvPr/>
        </p:nvSpPr>
        <p:spPr>
          <a:xfrm>
            <a:off x="5561838" y="4764024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561838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11</a:t>
            </a:r>
            <a:endParaRPr lang="en-US" sz="720" dirty="0"/>
          </a:p>
        </p:txBody>
      </p:sp>
      <p:sp>
        <p:nvSpPr>
          <p:cNvPr id="202" name="Shape 200"/>
          <p:cNvSpPr/>
          <p:nvPr/>
        </p:nvSpPr>
        <p:spPr>
          <a:xfrm>
            <a:off x="6165342" y="4764024"/>
            <a:ext cx="569214" cy="256032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165342" y="4818888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34</a:t>
            </a:r>
            <a:endParaRPr lang="en-US" sz="720" dirty="0"/>
          </a:p>
        </p:txBody>
      </p:sp>
      <p:sp>
        <p:nvSpPr>
          <p:cNvPr id="204" name="Text 202"/>
          <p:cNvSpPr/>
          <p:nvPr/>
        </p:nvSpPr>
        <p:spPr>
          <a:xfrm>
            <a:off x="582930" y="5111496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5" name="Shape 203"/>
          <p:cNvSpPr/>
          <p:nvPr/>
        </p:nvSpPr>
        <p:spPr>
          <a:xfrm>
            <a:off x="1337310" y="5047488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337310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69</a:t>
            </a:r>
            <a:endParaRPr lang="en-US" sz="720" dirty="0"/>
          </a:p>
        </p:txBody>
      </p:sp>
      <p:sp>
        <p:nvSpPr>
          <p:cNvPr id="207" name="Shape 205"/>
          <p:cNvSpPr/>
          <p:nvPr/>
        </p:nvSpPr>
        <p:spPr>
          <a:xfrm>
            <a:off x="1940814" y="504748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940814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92</a:t>
            </a:r>
            <a:endParaRPr lang="en-US" sz="720" dirty="0"/>
          </a:p>
        </p:txBody>
      </p:sp>
      <p:sp>
        <p:nvSpPr>
          <p:cNvPr id="209" name="Shape 207"/>
          <p:cNvSpPr/>
          <p:nvPr/>
        </p:nvSpPr>
        <p:spPr>
          <a:xfrm>
            <a:off x="2544318" y="504748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544318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14</a:t>
            </a:r>
            <a:endParaRPr lang="en-US" sz="720" dirty="0"/>
          </a:p>
        </p:txBody>
      </p:sp>
      <p:sp>
        <p:nvSpPr>
          <p:cNvPr id="211" name="Shape 209"/>
          <p:cNvSpPr/>
          <p:nvPr/>
        </p:nvSpPr>
        <p:spPr>
          <a:xfrm>
            <a:off x="3147822" y="504748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3147822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37</a:t>
            </a:r>
            <a:endParaRPr lang="en-US" sz="720" dirty="0"/>
          </a:p>
        </p:txBody>
      </p:sp>
      <p:sp>
        <p:nvSpPr>
          <p:cNvPr id="213" name="Shape 211"/>
          <p:cNvSpPr/>
          <p:nvPr/>
        </p:nvSpPr>
        <p:spPr>
          <a:xfrm>
            <a:off x="3751326" y="5047488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751326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60</a:t>
            </a:r>
            <a:endParaRPr lang="en-US" sz="720" dirty="0"/>
          </a:p>
        </p:txBody>
      </p:sp>
      <p:sp>
        <p:nvSpPr>
          <p:cNvPr id="215" name="Shape 213"/>
          <p:cNvSpPr/>
          <p:nvPr/>
        </p:nvSpPr>
        <p:spPr>
          <a:xfrm>
            <a:off x="4354830" y="5047488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354830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83</a:t>
            </a:r>
            <a:endParaRPr lang="en-US" sz="720" dirty="0"/>
          </a:p>
        </p:txBody>
      </p:sp>
      <p:sp>
        <p:nvSpPr>
          <p:cNvPr id="217" name="Shape 215"/>
          <p:cNvSpPr/>
          <p:nvPr/>
        </p:nvSpPr>
        <p:spPr>
          <a:xfrm>
            <a:off x="4958334" y="5047488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4958334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</a:t>
            </a:r>
            <a:endParaRPr lang="en-US" sz="720" dirty="0"/>
          </a:p>
        </p:txBody>
      </p:sp>
      <p:sp>
        <p:nvSpPr>
          <p:cNvPr id="219" name="Shape 217"/>
          <p:cNvSpPr/>
          <p:nvPr/>
        </p:nvSpPr>
        <p:spPr>
          <a:xfrm>
            <a:off x="5561838" y="5047488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561838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28</a:t>
            </a:r>
            <a:endParaRPr lang="en-US" sz="720" dirty="0"/>
          </a:p>
        </p:txBody>
      </p:sp>
      <p:sp>
        <p:nvSpPr>
          <p:cNvPr id="221" name="Shape 219"/>
          <p:cNvSpPr/>
          <p:nvPr/>
        </p:nvSpPr>
        <p:spPr>
          <a:xfrm>
            <a:off x="6165342" y="5047488"/>
            <a:ext cx="569214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165342" y="5102352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51</a:t>
            </a:r>
            <a:endParaRPr lang="en-US" sz="720" dirty="0"/>
          </a:p>
        </p:txBody>
      </p:sp>
      <p:sp>
        <p:nvSpPr>
          <p:cNvPr id="223" name="Text 221"/>
          <p:cNvSpPr/>
          <p:nvPr/>
        </p:nvSpPr>
        <p:spPr>
          <a:xfrm>
            <a:off x="582930" y="5394960"/>
            <a:ext cx="5623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1337310" y="533095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5" name="Text 223"/>
          <p:cNvSpPr/>
          <p:nvPr/>
        </p:nvSpPr>
        <p:spPr>
          <a:xfrm>
            <a:off x="1337310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86</a:t>
            </a:r>
            <a:endParaRPr lang="en-US" sz="720" dirty="0"/>
          </a:p>
        </p:txBody>
      </p:sp>
      <p:sp>
        <p:nvSpPr>
          <p:cNvPr id="226" name="Shape 224"/>
          <p:cNvSpPr/>
          <p:nvPr/>
        </p:nvSpPr>
        <p:spPr>
          <a:xfrm>
            <a:off x="1940814" y="533095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940814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8</a:t>
            </a:r>
            <a:endParaRPr lang="en-US" sz="720" dirty="0"/>
          </a:p>
        </p:txBody>
      </p:sp>
      <p:sp>
        <p:nvSpPr>
          <p:cNvPr id="228" name="Shape 226"/>
          <p:cNvSpPr/>
          <p:nvPr/>
        </p:nvSpPr>
        <p:spPr>
          <a:xfrm>
            <a:off x="2544318" y="533095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544318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31</a:t>
            </a:r>
            <a:endParaRPr lang="en-US" sz="720" dirty="0"/>
          </a:p>
        </p:txBody>
      </p:sp>
      <p:sp>
        <p:nvSpPr>
          <p:cNvPr id="230" name="Shape 228"/>
          <p:cNvSpPr/>
          <p:nvPr/>
        </p:nvSpPr>
        <p:spPr>
          <a:xfrm>
            <a:off x="3147822" y="5330952"/>
            <a:ext cx="569214" cy="256032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3147822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54</a:t>
            </a:r>
            <a:endParaRPr lang="en-US" sz="720" dirty="0"/>
          </a:p>
        </p:txBody>
      </p:sp>
      <p:sp>
        <p:nvSpPr>
          <p:cNvPr id="232" name="Shape 230"/>
          <p:cNvSpPr/>
          <p:nvPr/>
        </p:nvSpPr>
        <p:spPr>
          <a:xfrm>
            <a:off x="3751326" y="533095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751326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77</a:t>
            </a:r>
            <a:endParaRPr lang="en-US" sz="720" dirty="0"/>
          </a:p>
        </p:txBody>
      </p:sp>
      <p:sp>
        <p:nvSpPr>
          <p:cNvPr id="234" name="Shape 232"/>
          <p:cNvSpPr/>
          <p:nvPr/>
        </p:nvSpPr>
        <p:spPr>
          <a:xfrm>
            <a:off x="4354830" y="5330952"/>
            <a:ext cx="569214" cy="256032"/>
          </a:xfrm>
          <a:prstGeom prst="rect">
            <a:avLst/>
          </a:prstGeom>
          <a:solidFill>
            <a:srgbClr val="5DB6D8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354830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100</a:t>
            </a:r>
            <a:endParaRPr lang="en-US" sz="720" dirty="0"/>
          </a:p>
        </p:txBody>
      </p:sp>
      <p:sp>
        <p:nvSpPr>
          <p:cNvPr id="236" name="Shape 234"/>
          <p:cNvSpPr/>
          <p:nvPr/>
        </p:nvSpPr>
        <p:spPr>
          <a:xfrm>
            <a:off x="4958334" y="5330952"/>
            <a:ext cx="569214" cy="256032"/>
          </a:xfrm>
          <a:prstGeom prst="rect">
            <a:avLst/>
          </a:prstGeom>
          <a:solidFill>
            <a:srgbClr val="E9B0A9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4958334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22</a:t>
            </a:r>
            <a:endParaRPr lang="en-US" sz="720" dirty="0"/>
          </a:p>
        </p:txBody>
      </p:sp>
      <p:sp>
        <p:nvSpPr>
          <p:cNvPr id="238" name="Shape 236"/>
          <p:cNvSpPr/>
          <p:nvPr/>
        </p:nvSpPr>
        <p:spPr>
          <a:xfrm>
            <a:off x="5561838" y="5330952"/>
            <a:ext cx="569214" cy="256032"/>
          </a:xfrm>
          <a:prstGeom prst="rect">
            <a:avLst/>
          </a:prstGeom>
          <a:solidFill>
            <a:srgbClr val="E7D8A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561838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25282B"/>
                </a:solidFill>
              </a:rPr>
              <a:t>45</a:t>
            </a:r>
            <a:endParaRPr lang="en-US" sz="720" dirty="0"/>
          </a:p>
        </p:txBody>
      </p:sp>
      <p:sp>
        <p:nvSpPr>
          <p:cNvPr id="240" name="Shape 238"/>
          <p:cNvSpPr/>
          <p:nvPr/>
        </p:nvSpPr>
        <p:spPr>
          <a:xfrm>
            <a:off x="6165342" y="5330952"/>
            <a:ext cx="569214" cy="256032"/>
          </a:xfrm>
          <a:prstGeom prst="rect">
            <a:avLst/>
          </a:prstGeom>
          <a:solidFill>
            <a:srgbClr val="1E9DD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165342" y="5385816"/>
            <a:ext cx="56921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68</a:t>
            </a:r>
            <a:endParaRPr lang="en-US" sz="720" dirty="0"/>
          </a:p>
        </p:txBody>
      </p:sp>
      <p:sp>
        <p:nvSpPr>
          <p:cNvPr id="242" name="Shape 240"/>
          <p:cNvSpPr/>
          <p:nvPr/>
        </p:nvSpPr>
        <p:spPr>
          <a:xfrm>
            <a:off x="7029450" y="2212848"/>
            <a:ext cx="1577340" cy="3337560"/>
          </a:xfrm>
          <a:prstGeom prst="roundRect">
            <a:avLst>
              <a:gd name="adj" fmla="val 3478"/>
            </a:avLst>
          </a:prstGeom>
          <a:solidFill>
            <a:srgbClr val="F7F7F7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7180326" y="2377440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Design principles</a:t>
            </a:r>
            <a:endParaRPr lang="en-US" sz="1250" dirty="0"/>
          </a:p>
        </p:txBody>
      </p:sp>
      <p:sp>
        <p:nvSpPr>
          <p:cNvPr id="244" name="Text 242"/>
          <p:cNvSpPr/>
          <p:nvPr/>
        </p:nvSpPr>
        <p:spPr>
          <a:xfrm>
            <a:off x="7180326" y="2715768"/>
            <a:ext cx="1289304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Show raw values in backup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Use distance-based scores where magnitudes matter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Avoid double-counting related metrics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Keep assumptions explicit</a:t>
            </a:r>
            <a:endParaRPr lang="en-US" sz="970" dirty="0"/>
          </a:p>
          <a:p>
            <a:pPr indent="0" marL="0">
              <a:buNone/>
            </a:pP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25282B"/>
                </a:solidFill>
              </a:rPr>
              <a:t>• Preserve company archetypes—not just rank order</a:t>
            </a:r>
            <a:endParaRPr lang="en-US" sz="970" dirty="0"/>
          </a:p>
        </p:txBody>
      </p:sp>
      <p:sp>
        <p:nvSpPr>
          <p:cNvPr id="245" name="Shape 243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6" name="Text 244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heatmap should explain both who leads and why—broad strength, category specialization or a distinct innovation model.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ANALYSIS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hypotheses to test with the final exhibits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directional expectations—not final conclusions.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57550" y="1755648"/>
            <a:ext cx="2606040" cy="292608"/>
          </a:xfrm>
          <a:prstGeom prst="roundRect">
            <a:avLst>
              <a:gd name="adj" fmla="val 25000"/>
            </a:avLst>
          </a:prstGeom>
          <a:solidFill>
            <a:srgbClr val="FFF2CC"/>
          </a:solidFill>
          <a:ln w="12700">
            <a:solidFill>
              <a:srgbClr val="E1C7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9846" y="1819656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5A00"/>
                </a:solidFill>
              </a:rPr>
              <a:t>REPLACE WITH VALIDATED TAKEAWAYS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8058150" cy="621792"/>
          </a:xfrm>
          <a:prstGeom prst="roundRect">
            <a:avLst>
              <a:gd name="adj" fmla="val 7353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12848"/>
            <a:ext cx="82296" cy="6217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670" y="2395728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BREADTH LEADERS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2318004" y="2340864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TMO, DHR and BRKR may show the broadest institutional and scientific footprint.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999232"/>
            <a:ext cx="8058150" cy="621792"/>
          </a:xfrm>
          <a:prstGeom prst="roundRect">
            <a:avLst>
              <a:gd name="adj" fmla="val 7353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999232"/>
            <a:ext cx="82296" cy="62179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8670" y="3182112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PRE-SCALE OUTLIER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2318004" y="3127248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PACB’s R&amp;D intensity is structurally different and should be interpreted in the context of a smaller revenue base.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85616"/>
            <a:ext cx="8058150" cy="621792"/>
          </a:xfrm>
          <a:prstGeom prst="roundRect">
            <a:avLst>
              <a:gd name="adj" fmla="val 7353"/>
            </a:avLst>
          </a:prstGeom>
          <a:solidFill>
            <a:srgbClr val="F7FBFD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85616"/>
            <a:ext cx="82296" cy="62179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8670" y="3968496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DIFFERENT INNOVATION MODELS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2318004" y="3913632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Some companies may over-index in scientific usage, while others show stronger patents or institutional adoption.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8058150" cy="621792"/>
          </a:xfrm>
          <a:prstGeom prst="roundRect">
            <a:avLst>
              <a:gd name="adj" fmla="val 7353"/>
            </a:avLst>
          </a:prstGeom>
          <a:solidFill>
            <a:srgbClr val="F8F8F8"/>
          </a:solidFill>
          <a:ln w="1016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572000"/>
            <a:ext cx="82296" cy="62179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8670" y="4754880"/>
            <a:ext cx="14744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00000"/>
                </a:solidFill>
              </a:rPr>
              <a:t>CONSISTENCY MATTERS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2318004" y="4700016"/>
            <a:ext cx="5980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The strongest companies should demonstrate breadth across metrics—not dependence on a single source.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440180" y="5468112"/>
            <a:ext cx="6275070" cy="530352"/>
          </a:xfrm>
          <a:prstGeom prst="roundRect">
            <a:avLst>
              <a:gd name="adj" fmla="val 10345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40180" y="5468112"/>
            <a:ext cx="54864" cy="53035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91056" y="5632704"/>
            <a:ext cx="60007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Final slide objective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591056" y="5971032"/>
            <a:ext cx="5987034" cy="-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25282B"/>
                </a:solidFill>
              </a:rPr>
              <a:t>Replace these hypotheses with three concise conclusions supported by the final charts: one leader, one differentiated company archetype, and one surprising disconnect.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RESEARCH EXECUTION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proprietary projects were built alongside initiation, earnings and day-to-day team support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work touched both long-cycle research and fast-turnaround publishing.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3776" y="1901952"/>
            <a:ext cx="2503170" cy="1042416"/>
          </a:xfrm>
          <a:prstGeom prst="roundRect">
            <a:avLst>
              <a:gd name="adj" fmla="val 4386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1510" y="2066544"/>
            <a:ext cx="445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E9DD2"/>
                </a:solidFill>
              </a:rPr>
              <a:t>8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1200150" y="2075688"/>
            <a:ext cx="1543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companies in coverage resumption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5556" y="1901952"/>
            <a:ext cx="2503170" cy="1042416"/>
          </a:xfrm>
          <a:prstGeom prst="roundRect">
            <a:avLst>
              <a:gd name="adj" fmla="val 4386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3864" y="2066544"/>
            <a:ext cx="44577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0000"/>
                </a:solidFill>
              </a:rPr>
              <a:t>7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4025646" y="2075688"/>
            <a:ext cx="154305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</a:rPr>
              <a:t>earnings notes supported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17336" y="1901952"/>
            <a:ext cx="2503170" cy="1042416"/>
          </a:xfrm>
          <a:prstGeom prst="roundRect">
            <a:avLst>
              <a:gd name="adj" fmla="val 4386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1354" y="210312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5486"/>
                </a:solidFill>
              </a:rPr>
              <a:t>Ongoing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50024" y="2075688"/>
            <a:ext cx="13921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00000"/>
                </a:solidFill>
              </a:rPr>
              <a:t>call prep, events and policy work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493776" y="3246120"/>
            <a:ext cx="2503170" cy="2212848"/>
          </a:xfrm>
          <a:prstGeom prst="roundRect">
            <a:avLst>
              <a:gd name="adj" fmla="val 2479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" y="3246120"/>
            <a:ext cx="54864" cy="221284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" y="3410712"/>
            <a:ext cx="2228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Coverage resumption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" y="3749040"/>
            <a:ext cx="22151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GH • NTRA • A • AVTR • WAT • TMO • RVTY • ILMN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Rebuilt commentary history, supported NIH funding work, refreshed exhibits and condensed thesis / valuation material for marketing slides.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3305556" y="3246120"/>
            <a:ext cx="2503170" cy="2212848"/>
          </a:xfrm>
          <a:prstGeom prst="roundRect">
            <a:avLst>
              <a:gd name="adj" fmla="val 2479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05556" y="3246120"/>
            <a:ext cx="54864" cy="22128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3410712"/>
            <a:ext cx="2228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Earnings execution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56432" y="3749040"/>
            <a:ext cx="22151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Drafted commentary sections and key call takeaways; updated guidance and historical exhibits; tracked down supporting data under deadline.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17336" y="3246120"/>
            <a:ext cx="2503170" cy="2212848"/>
          </a:xfrm>
          <a:prstGeom prst="roundRect">
            <a:avLst>
              <a:gd name="adj" fmla="val 2479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3246120"/>
            <a:ext cx="54864" cy="2212848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8212" y="3410712"/>
            <a:ext cx="22288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00000"/>
                </a:solidFill>
              </a:rPr>
              <a:t>Broader research support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68212" y="3749040"/>
            <a:ext cx="221513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5282B"/>
                </a:solidFill>
              </a:rPr>
              <a:t>Prepared questions and cheat sheets; summarized AI webinars and the Medtech / Tools symposium; supported China VBP and other ad hoc research needs.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learned how long-form differentiated research and rapid earnings execution reinforce each other inside the same coverage process.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IMPROVEMENT AND LEARNING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lesson was how to be rigorous without waiting for perfect information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scientific background helped with diligence; equity research taught me how to turn evidence into judgment.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4350" y="1847088"/>
            <a:ext cx="1577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5486"/>
                </a:solidFill>
              </a:rPr>
              <a:t>PROCESS IMPROVEMENT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14350" y="2176272"/>
            <a:ext cx="2160270" cy="2999232"/>
          </a:xfrm>
          <a:prstGeom prst="roundRect">
            <a:avLst>
              <a:gd name="adj" fmla="val 254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4350" y="2176272"/>
            <a:ext cx="54864" cy="299923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226" y="2340864"/>
            <a:ext cx="1885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Before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5226" y="2679192"/>
            <a:ext cx="187223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Fragmented or manual collection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Limited longitudinal memory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Inconsistent comparability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Hard to refresh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Important context living in notes and transcripts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798064" y="3273552"/>
            <a:ext cx="466344" cy="768096"/>
          </a:xfrm>
          <a:prstGeom prst="chevron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15284" y="2176272"/>
            <a:ext cx="2160270" cy="2999232"/>
          </a:xfrm>
          <a:prstGeom prst="roundRect">
            <a:avLst>
              <a:gd name="adj" fmla="val 2540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15284" y="2176272"/>
            <a:ext cx="54864" cy="299923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40864"/>
            <a:ext cx="1885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66160" y="2679192"/>
            <a:ext cx="187223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Standardized definitions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Reusable yearly outputs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Conservative attribution and audit trails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Faster refreshes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5282B"/>
                </a:solidFill>
              </a:rPr>
              <a:t>• Exhibits designed around the investment debate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5884164" y="1847088"/>
            <a:ext cx="1577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B5486"/>
                </a:solidFill>
              </a:rPr>
              <a:t>WHAT I LEARNED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84164" y="2176272"/>
            <a:ext cx="2708910" cy="2999232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84164" y="2176272"/>
            <a:ext cx="54864" cy="2999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340864"/>
            <a:ext cx="2434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Research judgment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2679192"/>
            <a:ext cx="2420874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Messy information can still be decision-useful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The best answer is often a transparent, defensible approximation—not a false sense of precision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Management language is data when collected consistently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Clear writing under pressure is part of the analytical process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25282B"/>
                </a:solidFill>
              </a:rPr>
              <a:t>• Commercial relevance determines which questions matter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summer taught me to combine scientific rigor, creativity and speed—and to communicate the “so what” clearly.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5225796" cy="292608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94376" y="658368"/>
            <a:ext cx="3326130" cy="5120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11896" y="292608"/>
            <a:ext cx="377190" cy="4828032"/>
          </a:xfrm>
          <a:prstGeom prst="rect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7190" y="457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BERNSTEIN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397764" y="896112"/>
            <a:ext cx="17145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000000"/>
                </a:solidFill>
              </a:rPr>
              <a:t>SOCIETE GENERALE GROUP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472684" y="1078992"/>
            <a:ext cx="25717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E9DD2"/>
                </a:solidFill>
              </a:rPr>
              <a:t>The common thread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72684" y="1572768"/>
            <a:ext cx="26746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Turning messy information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into differentiated,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investable research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5472684" y="3456432"/>
            <a:ext cx="236601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72684" y="3749040"/>
            <a:ext cx="257175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Curious enough to ask better questions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Creative enough to build the process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Diligent enough to validate the answer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4846320"/>
            <a:ext cx="43205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FFFF"/>
                </a:solidFill>
              </a:rPr>
              <a:t>“We don’t control the world, we just try to out-think it.”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85800" y="5669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" y="6035040"/>
            <a:ext cx="29489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Justin Curcio  |  Equity Research Intern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Full-slide heatmap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the final composite or a single-source company-by-year view.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37310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1</a:t>
            </a:r>
            <a:endParaRPr lang="en-US" sz="770" dirty="0"/>
          </a:p>
        </p:txBody>
      </p:sp>
      <p:sp>
        <p:nvSpPr>
          <p:cNvPr id="8" name="Text 6"/>
          <p:cNvSpPr/>
          <p:nvPr/>
        </p:nvSpPr>
        <p:spPr>
          <a:xfrm>
            <a:off x="2077974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2</a:t>
            </a:r>
            <a:endParaRPr lang="en-US" sz="770" dirty="0"/>
          </a:p>
        </p:txBody>
      </p:sp>
      <p:sp>
        <p:nvSpPr>
          <p:cNvPr id="9" name="Text 7"/>
          <p:cNvSpPr/>
          <p:nvPr/>
        </p:nvSpPr>
        <p:spPr>
          <a:xfrm>
            <a:off x="2818638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3</a:t>
            </a:r>
            <a:endParaRPr lang="en-US" sz="770" dirty="0"/>
          </a:p>
        </p:txBody>
      </p:sp>
      <p:sp>
        <p:nvSpPr>
          <p:cNvPr id="10" name="Text 8"/>
          <p:cNvSpPr/>
          <p:nvPr/>
        </p:nvSpPr>
        <p:spPr>
          <a:xfrm>
            <a:off x="3559302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4</a:t>
            </a:r>
            <a:endParaRPr lang="en-US" sz="770" dirty="0"/>
          </a:p>
        </p:txBody>
      </p:sp>
      <p:sp>
        <p:nvSpPr>
          <p:cNvPr id="11" name="Text 9"/>
          <p:cNvSpPr/>
          <p:nvPr/>
        </p:nvSpPr>
        <p:spPr>
          <a:xfrm>
            <a:off x="4299966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5</a:t>
            </a:r>
            <a:endParaRPr lang="en-US" sz="770" dirty="0"/>
          </a:p>
        </p:txBody>
      </p:sp>
      <p:sp>
        <p:nvSpPr>
          <p:cNvPr id="12" name="Text 10"/>
          <p:cNvSpPr/>
          <p:nvPr/>
        </p:nvSpPr>
        <p:spPr>
          <a:xfrm>
            <a:off x="5040630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6</a:t>
            </a:r>
            <a:endParaRPr lang="en-US" sz="770" dirty="0"/>
          </a:p>
        </p:txBody>
      </p:sp>
      <p:sp>
        <p:nvSpPr>
          <p:cNvPr id="13" name="Text 11"/>
          <p:cNvSpPr/>
          <p:nvPr/>
        </p:nvSpPr>
        <p:spPr>
          <a:xfrm>
            <a:off x="5781294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7</a:t>
            </a:r>
            <a:endParaRPr lang="en-US" sz="770" dirty="0"/>
          </a:p>
        </p:txBody>
      </p:sp>
      <p:sp>
        <p:nvSpPr>
          <p:cNvPr id="14" name="Text 12"/>
          <p:cNvSpPr/>
          <p:nvPr/>
        </p:nvSpPr>
        <p:spPr>
          <a:xfrm>
            <a:off x="6521958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Metric 8</a:t>
            </a:r>
            <a:endParaRPr lang="en-US" sz="770" dirty="0"/>
          </a:p>
        </p:txBody>
      </p:sp>
      <p:sp>
        <p:nvSpPr>
          <p:cNvPr id="15" name="Text 13"/>
          <p:cNvSpPr/>
          <p:nvPr/>
        </p:nvSpPr>
        <p:spPr>
          <a:xfrm>
            <a:off x="7262622" y="1865376"/>
            <a:ext cx="740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676C72"/>
                </a:solidFill>
              </a:rPr>
              <a:t>Overall</a:t>
            </a:r>
            <a:endParaRPr lang="en-US" sz="770" dirty="0"/>
          </a:p>
        </p:txBody>
      </p:sp>
      <p:sp>
        <p:nvSpPr>
          <p:cNvPr id="16" name="Text 14"/>
          <p:cNvSpPr/>
          <p:nvPr/>
        </p:nvSpPr>
        <p:spPr>
          <a:xfrm>
            <a:off x="651510" y="22768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37310" y="221284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37310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2077974" y="221284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77974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818638" y="221284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8638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38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559302" y="2212848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59302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57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299966" y="2212848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9966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76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5040630" y="2212848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40630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95</a:t>
            </a:r>
            <a:endParaRPr lang="en-US" sz="740" dirty="0"/>
          </a:p>
        </p:txBody>
      </p:sp>
      <p:sp>
        <p:nvSpPr>
          <p:cNvPr id="29" name="Shape 27"/>
          <p:cNvSpPr/>
          <p:nvPr/>
        </p:nvSpPr>
        <p:spPr>
          <a:xfrm>
            <a:off x="5781294" y="221284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1294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13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521958" y="221284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21958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32</a:t>
            </a:r>
            <a:endParaRPr lang="en-US" sz="740" dirty="0"/>
          </a:p>
        </p:txBody>
      </p:sp>
      <p:sp>
        <p:nvSpPr>
          <p:cNvPr id="33" name="Shape 31"/>
          <p:cNvSpPr/>
          <p:nvPr/>
        </p:nvSpPr>
        <p:spPr>
          <a:xfrm>
            <a:off x="7262622" y="2212848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2622" y="226771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51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651510" y="256946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BIO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1337310" y="250545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37310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2077974" y="250545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77974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40" name="Shape 38"/>
          <p:cNvSpPr/>
          <p:nvPr/>
        </p:nvSpPr>
        <p:spPr>
          <a:xfrm>
            <a:off x="2818638" y="250545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18638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49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3559302" y="2505456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59302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68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4299966" y="250545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9966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87</a:t>
            </a:r>
            <a:endParaRPr lang="en-US" sz="740" dirty="0"/>
          </a:p>
        </p:txBody>
      </p:sp>
      <p:sp>
        <p:nvSpPr>
          <p:cNvPr id="46" name="Shape 44"/>
          <p:cNvSpPr/>
          <p:nvPr/>
        </p:nvSpPr>
        <p:spPr>
          <a:xfrm>
            <a:off x="5040630" y="250545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40630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5781294" y="250545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81294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24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6521958" y="250545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21958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43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7262622" y="2505456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62622" y="256032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62</a:t>
            </a:r>
            <a:endParaRPr lang="en-US" sz="740" dirty="0"/>
          </a:p>
        </p:txBody>
      </p:sp>
      <p:sp>
        <p:nvSpPr>
          <p:cNvPr id="54" name="Text 52"/>
          <p:cNvSpPr/>
          <p:nvPr/>
        </p:nvSpPr>
        <p:spPr>
          <a:xfrm>
            <a:off x="651510" y="286207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BRKR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1337310" y="2798064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37310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2077974" y="2798064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77974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2818638" y="2798064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18638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60</a:t>
            </a:r>
            <a:endParaRPr lang="en-US" sz="740" dirty="0"/>
          </a:p>
        </p:txBody>
      </p:sp>
      <p:sp>
        <p:nvSpPr>
          <p:cNvPr id="61" name="Shape 59"/>
          <p:cNvSpPr/>
          <p:nvPr/>
        </p:nvSpPr>
        <p:spPr>
          <a:xfrm>
            <a:off x="3559302" y="2798064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59302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79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4299966" y="2798064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299966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98</a:t>
            </a:r>
            <a:endParaRPr lang="en-US" sz="740" dirty="0"/>
          </a:p>
        </p:txBody>
      </p:sp>
      <p:sp>
        <p:nvSpPr>
          <p:cNvPr id="65" name="Shape 63"/>
          <p:cNvSpPr/>
          <p:nvPr/>
        </p:nvSpPr>
        <p:spPr>
          <a:xfrm>
            <a:off x="5040630" y="2798064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040630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16</a:t>
            </a:r>
            <a:endParaRPr lang="en-US" sz="740" dirty="0"/>
          </a:p>
        </p:txBody>
      </p:sp>
      <p:sp>
        <p:nvSpPr>
          <p:cNvPr id="67" name="Shape 65"/>
          <p:cNvSpPr/>
          <p:nvPr/>
        </p:nvSpPr>
        <p:spPr>
          <a:xfrm>
            <a:off x="5781294" y="2798064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81294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35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6521958" y="2798064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21958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54</a:t>
            </a:r>
            <a:endParaRPr lang="en-US" sz="740" dirty="0"/>
          </a:p>
        </p:txBody>
      </p:sp>
      <p:sp>
        <p:nvSpPr>
          <p:cNvPr id="71" name="Shape 69"/>
          <p:cNvSpPr/>
          <p:nvPr/>
        </p:nvSpPr>
        <p:spPr>
          <a:xfrm>
            <a:off x="7262622" y="2798064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262622" y="285292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73</a:t>
            </a:r>
            <a:endParaRPr lang="en-US" sz="740" dirty="0"/>
          </a:p>
        </p:txBody>
      </p:sp>
      <p:sp>
        <p:nvSpPr>
          <p:cNvPr id="73" name="Text 71"/>
          <p:cNvSpPr/>
          <p:nvPr/>
        </p:nvSpPr>
        <p:spPr>
          <a:xfrm>
            <a:off x="651510" y="315468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DHR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1337310" y="3090672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337310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76" name="Shape 74"/>
          <p:cNvSpPr/>
          <p:nvPr/>
        </p:nvSpPr>
        <p:spPr>
          <a:xfrm>
            <a:off x="2077974" y="3090672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77974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78" name="Shape 76"/>
          <p:cNvSpPr/>
          <p:nvPr/>
        </p:nvSpPr>
        <p:spPr>
          <a:xfrm>
            <a:off x="2818638" y="3090672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818638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71</a:t>
            </a:r>
            <a:endParaRPr lang="en-US" sz="740" dirty="0"/>
          </a:p>
        </p:txBody>
      </p:sp>
      <p:sp>
        <p:nvSpPr>
          <p:cNvPr id="80" name="Shape 78"/>
          <p:cNvSpPr/>
          <p:nvPr/>
        </p:nvSpPr>
        <p:spPr>
          <a:xfrm>
            <a:off x="3559302" y="3090672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559302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90</a:t>
            </a:r>
            <a:endParaRPr lang="en-US" sz="740" dirty="0"/>
          </a:p>
        </p:txBody>
      </p:sp>
      <p:sp>
        <p:nvSpPr>
          <p:cNvPr id="82" name="Shape 80"/>
          <p:cNvSpPr/>
          <p:nvPr/>
        </p:nvSpPr>
        <p:spPr>
          <a:xfrm>
            <a:off x="4299966" y="3090672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299966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</a:t>
            </a:r>
            <a:endParaRPr lang="en-US" sz="740" dirty="0"/>
          </a:p>
        </p:txBody>
      </p:sp>
      <p:sp>
        <p:nvSpPr>
          <p:cNvPr id="84" name="Shape 82"/>
          <p:cNvSpPr/>
          <p:nvPr/>
        </p:nvSpPr>
        <p:spPr>
          <a:xfrm>
            <a:off x="5040630" y="3090672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040630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27</a:t>
            </a:r>
            <a:endParaRPr lang="en-US" sz="740" dirty="0"/>
          </a:p>
        </p:txBody>
      </p:sp>
      <p:sp>
        <p:nvSpPr>
          <p:cNvPr id="86" name="Shape 84"/>
          <p:cNvSpPr/>
          <p:nvPr/>
        </p:nvSpPr>
        <p:spPr>
          <a:xfrm>
            <a:off x="5781294" y="3090672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781294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46</a:t>
            </a:r>
            <a:endParaRPr lang="en-US" sz="740" dirty="0"/>
          </a:p>
        </p:txBody>
      </p:sp>
      <p:sp>
        <p:nvSpPr>
          <p:cNvPr id="88" name="Shape 86"/>
          <p:cNvSpPr/>
          <p:nvPr/>
        </p:nvSpPr>
        <p:spPr>
          <a:xfrm>
            <a:off x="6521958" y="3090672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521958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65</a:t>
            </a:r>
            <a:endParaRPr lang="en-US" sz="740" dirty="0"/>
          </a:p>
        </p:txBody>
      </p:sp>
      <p:sp>
        <p:nvSpPr>
          <p:cNvPr id="90" name="Shape 88"/>
          <p:cNvSpPr/>
          <p:nvPr/>
        </p:nvSpPr>
        <p:spPr>
          <a:xfrm>
            <a:off x="7262622" y="3090672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262622" y="314553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84</a:t>
            </a:r>
            <a:endParaRPr lang="en-US" sz="740" dirty="0"/>
          </a:p>
        </p:txBody>
      </p:sp>
      <p:sp>
        <p:nvSpPr>
          <p:cNvPr id="92" name="Text 90"/>
          <p:cNvSpPr/>
          <p:nvPr/>
        </p:nvSpPr>
        <p:spPr>
          <a:xfrm>
            <a:off x="651510" y="34472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ILMN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337310" y="3383280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37310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44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2077974" y="3383280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077974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63</a:t>
            </a:r>
            <a:endParaRPr lang="en-US" sz="740" dirty="0"/>
          </a:p>
        </p:txBody>
      </p:sp>
      <p:sp>
        <p:nvSpPr>
          <p:cNvPr id="97" name="Shape 95"/>
          <p:cNvSpPr/>
          <p:nvPr/>
        </p:nvSpPr>
        <p:spPr>
          <a:xfrm>
            <a:off x="2818638" y="3383280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2818638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82</a:t>
            </a:r>
            <a:endParaRPr lang="en-US" sz="740" dirty="0"/>
          </a:p>
        </p:txBody>
      </p:sp>
      <p:sp>
        <p:nvSpPr>
          <p:cNvPr id="99" name="Shape 97"/>
          <p:cNvSpPr/>
          <p:nvPr/>
        </p:nvSpPr>
        <p:spPr>
          <a:xfrm>
            <a:off x="3559302" y="3383280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559302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01" name="Shape 99"/>
          <p:cNvSpPr/>
          <p:nvPr/>
        </p:nvSpPr>
        <p:spPr>
          <a:xfrm>
            <a:off x="4299966" y="3383280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299966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103" name="Shape 101"/>
          <p:cNvSpPr/>
          <p:nvPr/>
        </p:nvSpPr>
        <p:spPr>
          <a:xfrm>
            <a:off x="5040630" y="3383280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40630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38</a:t>
            </a:r>
            <a:endParaRPr lang="en-US" sz="740" dirty="0"/>
          </a:p>
        </p:txBody>
      </p:sp>
      <p:sp>
        <p:nvSpPr>
          <p:cNvPr id="105" name="Shape 103"/>
          <p:cNvSpPr/>
          <p:nvPr/>
        </p:nvSpPr>
        <p:spPr>
          <a:xfrm>
            <a:off x="5781294" y="3383280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781294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57</a:t>
            </a:r>
            <a:endParaRPr lang="en-US" sz="740" dirty="0"/>
          </a:p>
        </p:txBody>
      </p:sp>
      <p:sp>
        <p:nvSpPr>
          <p:cNvPr id="107" name="Shape 105"/>
          <p:cNvSpPr/>
          <p:nvPr/>
        </p:nvSpPr>
        <p:spPr>
          <a:xfrm>
            <a:off x="6521958" y="3383280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521958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76</a:t>
            </a:r>
            <a:endParaRPr lang="en-US" sz="740" dirty="0"/>
          </a:p>
        </p:txBody>
      </p:sp>
      <p:sp>
        <p:nvSpPr>
          <p:cNvPr id="109" name="Shape 107"/>
          <p:cNvSpPr/>
          <p:nvPr/>
        </p:nvSpPr>
        <p:spPr>
          <a:xfrm>
            <a:off x="7262622" y="3383280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262622" y="343814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95</a:t>
            </a:r>
            <a:endParaRPr lang="en-US" sz="740" dirty="0"/>
          </a:p>
        </p:txBody>
      </p:sp>
      <p:sp>
        <p:nvSpPr>
          <p:cNvPr id="111" name="Text 109"/>
          <p:cNvSpPr/>
          <p:nvPr/>
        </p:nvSpPr>
        <p:spPr>
          <a:xfrm>
            <a:off x="651510" y="373989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MTD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1337310" y="3675888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37310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55</a:t>
            </a:r>
            <a:endParaRPr lang="en-US" sz="740" dirty="0"/>
          </a:p>
        </p:txBody>
      </p:sp>
      <p:sp>
        <p:nvSpPr>
          <p:cNvPr id="114" name="Shape 112"/>
          <p:cNvSpPr/>
          <p:nvPr/>
        </p:nvSpPr>
        <p:spPr>
          <a:xfrm>
            <a:off x="2077974" y="3675888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2077974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74</a:t>
            </a:r>
            <a:endParaRPr lang="en-US" sz="740" dirty="0"/>
          </a:p>
        </p:txBody>
      </p:sp>
      <p:sp>
        <p:nvSpPr>
          <p:cNvPr id="116" name="Shape 114"/>
          <p:cNvSpPr/>
          <p:nvPr/>
        </p:nvSpPr>
        <p:spPr>
          <a:xfrm>
            <a:off x="2818638" y="3675888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818638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93</a:t>
            </a:r>
            <a:endParaRPr lang="en-US" sz="740" dirty="0"/>
          </a:p>
        </p:txBody>
      </p:sp>
      <p:sp>
        <p:nvSpPr>
          <p:cNvPr id="118" name="Shape 116"/>
          <p:cNvSpPr/>
          <p:nvPr/>
        </p:nvSpPr>
        <p:spPr>
          <a:xfrm>
            <a:off x="3559302" y="367588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3559302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120" name="Shape 118"/>
          <p:cNvSpPr/>
          <p:nvPr/>
        </p:nvSpPr>
        <p:spPr>
          <a:xfrm>
            <a:off x="4299966" y="367588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299966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122" name="Shape 120"/>
          <p:cNvSpPr/>
          <p:nvPr/>
        </p:nvSpPr>
        <p:spPr>
          <a:xfrm>
            <a:off x="5040630" y="367588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5040630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49</a:t>
            </a:r>
            <a:endParaRPr lang="en-US" sz="740" dirty="0"/>
          </a:p>
        </p:txBody>
      </p:sp>
      <p:sp>
        <p:nvSpPr>
          <p:cNvPr id="124" name="Shape 122"/>
          <p:cNvSpPr/>
          <p:nvPr/>
        </p:nvSpPr>
        <p:spPr>
          <a:xfrm>
            <a:off x="5781294" y="3675888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781294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68</a:t>
            </a:r>
            <a:endParaRPr lang="en-US" sz="740" dirty="0"/>
          </a:p>
        </p:txBody>
      </p:sp>
      <p:sp>
        <p:nvSpPr>
          <p:cNvPr id="126" name="Shape 124"/>
          <p:cNvSpPr/>
          <p:nvPr/>
        </p:nvSpPr>
        <p:spPr>
          <a:xfrm>
            <a:off x="6521958" y="3675888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521958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87</a:t>
            </a:r>
            <a:endParaRPr lang="en-US" sz="740" dirty="0"/>
          </a:p>
        </p:txBody>
      </p:sp>
      <p:sp>
        <p:nvSpPr>
          <p:cNvPr id="128" name="Shape 126"/>
          <p:cNvSpPr/>
          <p:nvPr/>
        </p:nvSpPr>
        <p:spPr>
          <a:xfrm>
            <a:off x="7262622" y="3675888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262622" y="373075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5</a:t>
            </a:r>
            <a:endParaRPr lang="en-US" sz="740" dirty="0"/>
          </a:p>
        </p:txBody>
      </p:sp>
      <p:sp>
        <p:nvSpPr>
          <p:cNvPr id="130" name="Text 128"/>
          <p:cNvSpPr/>
          <p:nvPr/>
        </p:nvSpPr>
        <p:spPr>
          <a:xfrm>
            <a:off x="651510" y="403250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PACB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1337310" y="3968496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337310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66</a:t>
            </a:r>
            <a:endParaRPr lang="en-US" sz="740" dirty="0"/>
          </a:p>
        </p:txBody>
      </p:sp>
      <p:sp>
        <p:nvSpPr>
          <p:cNvPr id="133" name="Shape 131"/>
          <p:cNvSpPr/>
          <p:nvPr/>
        </p:nvSpPr>
        <p:spPr>
          <a:xfrm>
            <a:off x="2077974" y="396849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2077974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85</a:t>
            </a:r>
            <a:endParaRPr lang="en-US" sz="740" dirty="0"/>
          </a:p>
        </p:txBody>
      </p:sp>
      <p:sp>
        <p:nvSpPr>
          <p:cNvPr id="135" name="Shape 133"/>
          <p:cNvSpPr/>
          <p:nvPr/>
        </p:nvSpPr>
        <p:spPr>
          <a:xfrm>
            <a:off x="2818638" y="396849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818638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</a:t>
            </a:r>
            <a:endParaRPr lang="en-US" sz="740" dirty="0"/>
          </a:p>
        </p:txBody>
      </p:sp>
      <p:sp>
        <p:nvSpPr>
          <p:cNvPr id="137" name="Shape 135"/>
          <p:cNvSpPr/>
          <p:nvPr/>
        </p:nvSpPr>
        <p:spPr>
          <a:xfrm>
            <a:off x="3559302" y="396849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3559302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139" name="Shape 137"/>
          <p:cNvSpPr/>
          <p:nvPr/>
        </p:nvSpPr>
        <p:spPr>
          <a:xfrm>
            <a:off x="4299966" y="396849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4299966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141" name="Shape 139"/>
          <p:cNvSpPr/>
          <p:nvPr/>
        </p:nvSpPr>
        <p:spPr>
          <a:xfrm>
            <a:off x="5040630" y="3968496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040630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60</a:t>
            </a:r>
            <a:endParaRPr lang="en-US" sz="740" dirty="0"/>
          </a:p>
        </p:txBody>
      </p:sp>
      <p:sp>
        <p:nvSpPr>
          <p:cNvPr id="143" name="Shape 141"/>
          <p:cNvSpPr/>
          <p:nvPr/>
        </p:nvSpPr>
        <p:spPr>
          <a:xfrm>
            <a:off x="5781294" y="396849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781294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79</a:t>
            </a:r>
            <a:endParaRPr lang="en-US" sz="740" dirty="0"/>
          </a:p>
        </p:txBody>
      </p:sp>
      <p:sp>
        <p:nvSpPr>
          <p:cNvPr id="145" name="Shape 143"/>
          <p:cNvSpPr/>
          <p:nvPr/>
        </p:nvSpPr>
        <p:spPr>
          <a:xfrm>
            <a:off x="6521958" y="396849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6521958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98</a:t>
            </a:r>
            <a:endParaRPr lang="en-US" sz="740" dirty="0"/>
          </a:p>
        </p:txBody>
      </p:sp>
      <p:sp>
        <p:nvSpPr>
          <p:cNvPr id="147" name="Shape 145"/>
          <p:cNvSpPr/>
          <p:nvPr/>
        </p:nvSpPr>
        <p:spPr>
          <a:xfrm>
            <a:off x="7262622" y="3968496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262622" y="402336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16</a:t>
            </a:r>
            <a:endParaRPr lang="en-US" sz="740" dirty="0"/>
          </a:p>
        </p:txBody>
      </p:sp>
      <p:sp>
        <p:nvSpPr>
          <p:cNvPr id="149" name="Text 147"/>
          <p:cNvSpPr/>
          <p:nvPr/>
        </p:nvSpPr>
        <p:spPr>
          <a:xfrm>
            <a:off x="651510" y="432511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QGEN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1337310" y="4261104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1337310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77</a:t>
            </a:r>
            <a:endParaRPr lang="en-US" sz="740" dirty="0"/>
          </a:p>
        </p:txBody>
      </p:sp>
      <p:sp>
        <p:nvSpPr>
          <p:cNvPr id="152" name="Shape 150"/>
          <p:cNvSpPr/>
          <p:nvPr/>
        </p:nvSpPr>
        <p:spPr>
          <a:xfrm>
            <a:off x="2077974" y="4261104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2077974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96</a:t>
            </a:r>
            <a:endParaRPr lang="en-US" sz="740" dirty="0"/>
          </a:p>
        </p:txBody>
      </p:sp>
      <p:sp>
        <p:nvSpPr>
          <p:cNvPr id="154" name="Shape 152"/>
          <p:cNvSpPr/>
          <p:nvPr/>
        </p:nvSpPr>
        <p:spPr>
          <a:xfrm>
            <a:off x="2818638" y="4261104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818638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14</a:t>
            </a:r>
            <a:endParaRPr lang="en-US" sz="740" dirty="0"/>
          </a:p>
        </p:txBody>
      </p:sp>
      <p:sp>
        <p:nvSpPr>
          <p:cNvPr id="156" name="Shape 154"/>
          <p:cNvSpPr/>
          <p:nvPr/>
        </p:nvSpPr>
        <p:spPr>
          <a:xfrm>
            <a:off x="3559302" y="4261104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3559302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158" name="Shape 156"/>
          <p:cNvSpPr/>
          <p:nvPr/>
        </p:nvSpPr>
        <p:spPr>
          <a:xfrm>
            <a:off x="4299966" y="4261104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4299966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160" name="Shape 158"/>
          <p:cNvSpPr/>
          <p:nvPr/>
        </p:nvSpPr>
        <p:spPr>
          <a:xfrm>
            <a:off x="5040630" y="4261104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5040630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71</a:t>
            </a:r>
            <a:endParaRPr lang="en-US" sz="740" dirty="0"/>
          </a:p>
        </p:txBody>
      </p:sp>
      <p:sp>
        <p:nvSpPr>
          <p:cNvPr id="162" name="Shape 160"/>
          <p:cNvSpPr/>
          <p:nvPr/>
        </p:nvSpPr>
        <p:spPr>
          <a:xfrm>
            <a:off x="5781294" y="4261104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781294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90</a:t>
            </a:r>
            <a:endParaRPr lang="en-US" sz="740" dirty="0"/>
          </a:p>
        </p:txBody>
      </p:sp>
      <p:sp>
        <p:nvSpPr>
          <p:cNvPr id="164" name="Shape 162"/>
          <p:cNvSpPr/>
          <p:nvPr/>
        </p:nvSpPr>
        <p:spPr>
          <a:xfrm>
            <a:off x="6521958" y="4261104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6521958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</a:t>
            </a:r>
            <a:endParaRPr lang="en-US" sz="740" dirty="0"/>
          </a:p>
        </p:txBody>
      </p:sp>
      <p:sp>
        <p:nvSpPr>
          <p:cNvPr id="166" name="Shape 164"/>
          <p:cNvSpPr/>
          <p:nvPr/>
        </p:nvSpPr>
        <p:spPr>
          <a:xfrm>
            <a:off x="7262622" y="4261104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262622" y="4315968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27</a:t>
            </a:r>
            <a:endParaRPr lang="en-US" sz="740" dirty="0"/>
          </a:p>
        </p:txBody>
      </p:sp>
      <p:sp>
        <p:nvSpPr>
          <p:cNvPr id="168" name="Text 166"/>
          <p:cNvSpPr/>
          <p:nvPr/>
        </p:nvSpPr>
        <p:spPr>
          <a:xfrm>
            <a:off x="651510" y="4617720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RVTY</a:t>
            </a:r>
            <a:endParaRPr lang="en-US" sz="850" dirty="0"/>
          </a:p>
        </p:txBody>
      </p:sp>
      <p:sp>
        <p:nvSpPr>
          <p:cNvPr id="169" name="Shape 167"/>
          <p:cNvSpPr/>
          <p:nvPr/>
        </p:nvSpPr>
        <p:spPr>
          <a:xfrm>
            <a:off x="1337310" y="4553712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337310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88</a:t>
            </a:r>
            <a:endParaRPr lang="en-US" sz="740" dirty="0"/>
          </a:p>
        </p:txBody>
      </p:sp>
      <p:sp>
        <p:nvSpPr>
          <p:cNvPr id="171" name="Shape 169"/>
          <p:cNvSpPr/>
          <p:nvPr/>
        </p:nvSpPr>
        <p:spPr>
          <a:xfrm>
            <a:off x="2077974" y="4553712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077974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</a:t>
            </a:r>
            <a:endParaRPr lang="en-US" sz="740" dirty="0"/>
          </a:p>
        </p:txBody>
      </p:sp>
      <p:sp>
        <p:nvSpPr>
          <p:cNvPr id="173" name="Shape 171"/>
          <p:cNvSpPr/>
          <p:nvPr/>
        </p:nvSpPr>
        <p:spPr>
          <a:xfrm>
            <a:off x="2818638" y="4553712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2818638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25</a:t>
            </a:r>
            <a:endParaRPr lang="en-US" sz="740" dirty="0"/>
          </a:p>
        </p:txBody>
      </p:sp>
      <p:sp>
        <p:nvSpPr>
          <p:cNvPr id="175" name="Shape 173"/>
          <p:cNvSpPr/>
          <p:nvPr/>
        </p:nvSpPr>
        <p:spPr>
          <a:xfrm>
            <a:off x="3559302" y="4553712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3559302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44</a:t>
            </a:r>
            <a:endParaRPr lang="en-US" sz="740" dirty="0"/>
          </a:p>
        </p:txBody>
      </p:sp>
      <p:sp>
        <p:nvSpPr>
          <p:cNvPr id="177" name="Shape 175"/>
          <p:cNvSpPr/>
          <p:nvPr/>
        </p:nvSpPr>
        <p:spPr>
          <a:xfrm>
            <a:off x="4299966" y="4553712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4299966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63</a:t>
            </a:r>
            <a:endParaRPr lang="en-US" sz="740" dirty="0"/>
          </a:p>
        </p:txBody>
      </p:sp>
      <p:sp>
        <p:nvSpPr>
          <p:cNvPr id="179" name="Shape 177"/>
          <p:cNvSpPr/>
          <p:nvPr/>
        </p:nvSpPr>
        <p:spPr>
          <a:xfrm>
            <a:off x="5040630" y="4553712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5040630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82</a:t>
            </a:r>
            <a:endParaRPr lang="en-US" sz="740" dirty="0"/>
          </a:p>
        </p:txBody>
      </p:sp>
      <p:sp>
        <p:nvSpPr>
          <p:cNvPr id="181" name="Shape 179"/>
          <p:cNvSpPr/>
          <p:nvPr/>
        </p:nvSpPr>
        <p:spPr>
          <a:xfrm>
            <a:off x="5781294" y="4553712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5781294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0</a:t>
            </a:r>
            <a:endParaRPr lang="en-US" sz="740" dirty="0"/>
          </a:p>
        </p:txBody>
      </p:sp>
      <p:sp>
        <p:nvSpPr>
          <p:cNvPr id="183" name="Shape 181"/>
          <p:cNvSpPr/>
          <p:nvPr/>
        </p:nvSpPr>
        <p:spPr>
          <a:xfrm>
            <a:off x="6521958" y="4553712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521958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19</a:t>
            </a:r>
            <a:endParaRPr lang="en-US" sz="740" dirty="0"/>
          </a:p>
        </p:txBody>
      </p:sp>
      <p:sp>
        <p:nvSpPr>
          <p:cNvPr id="185" name="Shape 183"/>
          <p:cNvSpPr/>
          <p:nvPr/>
        </p:nvSpPr>
        <p:spPr>
          <a:xfrm>
            <a:off x="7262622" y="4553712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262622" y="4608576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38</a:t>
            </a:r>
            <a:endParaRPr lang="en-US" sz="740" dirty="0"/>
          </a:p>
        </p:txBody>
      </p:sp>
      <p:sp>
        <p:nvSpPr>
          <p:cNvPr id="187" name="Text 185"/>
          <p:cNvSpPr/>
          <p:nvPr/>
        </p:nvSpPr>
        <p:spPr>
          <a:xfrm>
            <a:off x="651510" y="491032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TECH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1337310" y="4846320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1337310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99</a:t>
            </a:r>
            <a:endParaRPr lang="en-US" sz="740" dirty="0"/>
          </a:p>
        </p:txBody>
      </p:sp>
      <p:sp>
        <p:nvSpPr>
          <p:cNvPr id="190" name="Shape 188"/>
          <p:cNvSpPr/>
          <p:nvPr/>
        </p:nvSpPr>
        <p:spPr>
          <a:xfrm>
            <a:off x="2077974" y="4846320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2077974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17</a:t>
            </a:r>
            <a:endParaRPr lang="en-US" sz="740" dirty="0"/>
          </a:p>
        </p:txBody>
      </p:sp>
      <p:sp>
        <p:nvSpPr>
          <p:cNvPr id="192" name="Shape 190"/>
          <p:cNvSpPr/>
          <p:nvPr/>
        </p:nvSpPr>
        <p:spPr>
          <a:xfrm>
            <a:off x="2818638" y="4846320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2818638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36</a:t>
            </a:r>
            <a:endParaRPr lang="en-US" sz="740" dirty="0"/>
          </a:p>
        </p:txBody>
      </p:sp>
      <p:sp>
        <p:nvSpPr>
          <p:cNvPr id="194" name="Shape 192"/>
          <p:cNvSpPr/>
          <p:nvPr/>
        </p:nvSpPr>
        <p:spPr>
          <a:xfrm>
            <a:off x="3559302" y="4846320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3559302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55</a:t>
            </a:r>
            <a:endParaRPr lang="en-US" sz="740" dirty="0"/>
          </a:p>
        </p:txBody>
      </p:sp>
      <p:sp>
        <p:nvSpPr>
          <p:cNvPr id="196" name="Shape 194"/>
          <p:cNvSpPr/>
          <p:nvPr/>
        </p:nvSpPr>
        <p:spPr>
          <a:xfrm>
            <a:off x="4299966" y="4846320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4299966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74</a:t>
            </a:r>
            <a:endParaRPr lang="en-US" sz="740" dirty="0"/>
          </a:p>
        </p:txBody>
      </p:sp>
      <p:sp>
        <p:nvSpPr>
          <p:cNvPr id="198" name="Shape 196"/>
          <p:cNvSpPr/>
          <p:nvPr/>
        </p:nvSpPr>
        <p:spPr>
          <a:xfrm>
            <a:off x="5040630" y="4846320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5040630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93</a:t>
            </a:r>
            <a:endParaRPr lang="en-US" sz="740" dirty="0"/>
          </a:p>
        </p:txBody>
      </p:sp>
      <p:sp>
        <p:nvSpPr>
          <p:cNvPr id="200" name="Shape 198"/>
          <p:cNvSpPr/>
          <p:nvPr/>
        </p:nvSpPr>
        <p:spPr>
          <a:xfrm>
            <a:off x="5781294" y="4846320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5781294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11</a:t>
            </a:r>
            <a:endParaRPr lang="en-US" sz="740" dirty="0"/>
          </a:p>
        </p:txBody>
      </p:sp>
      <p:sp>
        <p:nvSpPr>
          <p:cNvPr id="202" name="Shape 200"/>
          <p:cNvSpPr/>
          <p:nvPr/>
        </p:nvSpPr>
        <p:spPr>
          <a:xfrm>
            <a:off x="6521958" y="4846320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6521958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30</a:t>
            </a:r>
            <a:endParaRPr lang="en-US" sz="740" dirty="0"/>
          </a:p>
        </p:txBody>
      </p:sp>
      <p:sp>
        <p:nvSpPr>
          <p:cNvPr id="204" name="Shape 202"/>
          <p:cNvSpPr/>
          <p:nvPr/>
        </p:nvSpPr>
        <p:spPr>
          <a:xfrm>
            <a:off x="7262622" y="4846320"/>
            <a:ext cx="706374" cy="265176"/>
          </a:xfrm>
          <a:prstGeom prst="rect">
            <a:avLst/>
          </a:prstGeom>
          <a:solidFill>
            <a:srgbClr val="C8C9CB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7262622" y="4901184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49</a:t>
            </a:r>
            <a:endParaRPr lang="en-US" sz="740" dirty="0"/>
          </a:p>
        </p:txBody>
      </p:sp>
      <p:sp>
        <p:nvSpPr>
          <p:cNvPr id="206" name="Text 204"/>
          <p:cNvSpPr/>
          <p:nvPr/>
        </p:nvSpPr>
        <p:spPr>
          <a:xfrm>
            <a:off x="651510" y="520293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TMO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337310" y="513892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1337310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</a:t>
            </a:r>
            <a:endParaRPr lang="en-US" sz="740" dirty="0"/>
          </a:p>
        </p:txBody>
      </p:sp>
      <p:sp>
        <p:nvSpPr>
          <p:cNvPr id="209" name="Shape 207"/>
          <p:cNvSpPr/>
          <p:nvPr/>
        </p:nvSpPr>
        <p:spPr>
          <a:xfrm>
            <a:off x="2077974" y="513892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2077974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28</a:t>
            </a:r>
            <a:endParaRPr lang="en-US" sz="740" dirty="0"/>
          </a:p>
        </p:txBody>
      </p:sp>
      <p:sp>
        <p:nvSpPr>
          <p:cNvPr id="211" name="Shape 209"/>
          <p:cNvSpPr/>
          <p:nvPr/>
        </p:nvSpPr>
        <p:spPr>
          <a:xfrm>
            <a:off x="2818638" y="513892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2" name="Text 210"/>
          <p:cNvSpPr/>
          <p:nvPr/>
        </p:nvSpPr>
        <p:spPr>
          <a:xfrm>
            <a:off x="2818638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47</a:t>
            </a:r>
            <a:endParaRPr lang="en-US" sz="740" dirty="0"/>
          </a:p>
        </p:txBody>
      </p:sp>
      <p:sp>
        <p:nvSpPr>
          <p:cNvPr id="213" name="Shape 211"/>
          <p:cNvSpPr/>
          <p:nvPr/>
        </p:nvSpPr>
        <p:spPr>
          <a:xfrm>
            <a:off x="3559302" y="5138928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3559302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66</a:t>
            </a:r>
            <a:endParaRPr lang="en-US" sz="740" dirty="0"/>
          </a:p>
        </p:txBody>
      </p:sp>
      <p:sp>
        <p:nvSpPr>
          <p:cNvPr id="215" name="Shape 213"/>
          <p:cNvSpPr/>
          <p:nvPr/>
        </p:nvSpPr>
        <p:spPr>
          <a:xfrm>
            <a:off x="4299966" y="5138928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4299966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85</a:t>
            </a:r>
            <a:endParaRPr lang="en-US" sz="740" dirty="0"/>
          </a:p>
        </p:txBody>
      </p:sp>
      <p:sp>
        <p:nvSpPr>
          <p:cNvPr id="217" name="Shape 215"/>
          <p:cNvSpPr/>
          <p:nvPr/>
        </p:nvSpPr>
        <p:spPr>
          <a:xfrm>
            <a:off x="5040630" y="513892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5040630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</a:t>
            </a:r>
            <a:endParaRPr lang="en-US" sz="740" dirty="0"/>
          </a:p>
        </p:txBody>
      </p:sp>
      <p:sp>
        <p:nvSpPr>
          <p:cNvPr id="219" name="Shape 217"/>
          <p:cNvSpPr/>
          <p:nvPr/>
        </p:nvSpPr>
        <p:spPr>
          <a:xfrm>
            <a:off x="5781294" y="5138928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5781294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22</a:t>
            </a:r>
            <a:endParaRPr lang="en-US" sz="740" dirty="0"/>
          </a:p>
        </p:txBody>
      </p:sp>
      <p:sp>
        <p:nvSpPr>
          <p:cNvPr id="221" name="Shape 219"/>
          <p:cNvSpPr/>
          <p:nvPr/>
        </p:nvSpPr>
        <p:spPr>
          <a:xfrm>
            <a:off x="6521958" y="5138928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6521958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41</a:t>
            </a:r>
            <a:endParaRPr lang="en-US" sz="740" dirty="0"/>
          </a:p>
        </p:txBody>
      </p:sp>
      <p:sp>
        <p:nvSpPr>
          <p:cNvPr id="223" name="Shape 221"/>
          <p:cNvSpPr/>
          <p:nvPr/>
        </p:nvSpPr>
        <p:spPr>
          <a:xfrm>
            <a:off x="7262622" y="5138928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7262622" y="5193792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60</a:t>
            </a:r>
            <a:endParaRPr lang="en-US" sz="740" dirty="0"/>
          </a:p>
        </p:txBody>
      </p:sp>
      <p:sp>
        <p:nvSpPr>
          <p:cNvPr id="225" name="Text 223"/>
          <p:cNvSpPr/>
          <p:nvPr/>
        </p:nvSpPr>
        <p:spPr>
          <a:xfrm>
            <a:off x="651510" y="5495544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282B"/>
                </a:solidFill>
              </a:rPr>
              <a:t>WAT</a:t>
            </a:r>
            <a:endParaRPr lang="en-US" sz="850" dirty="0"/>
          </a:p>
        </p:txBody>
      </p:sp>
      <p:sp>
        <p:nvSpPr>
          <p:cNvPr id="226" name="Shape 224"/>
          <p:cNvSpPr/>
          <p:nvPr/>
        </p:nvSpPr>
        <p:spPr>
          <a:xfrm>
            <a:off x="1337310" y="543153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7" name="Text 225"/>
          <p:cNvSpPr/>
          <p:nvPr/>
        </p:nvSpPr>
        <p:spPr>
          <a:xfrm>
            <a:off x="1337310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20</a:t>
            </a:r>
            <a:endParaRPr lang="en-US" sz="740" dirty="0"/>
          </a:p>
        </p:txBody>
      </p:sp>
      <p:sp>
        <p:nvSpPr>
          <p:cNvPr id="228" name="Shape 226"/>
          <p:cNvSpPr/>
          <p:nvPr/>
        </p:nvSpPr>
        <p:spPr>
          <a:xfrm>
            <a:off x="2077974" y="543153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2077974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39</a:t>
            </a:r>
            <a:endParaRPr lang="en-US" sz="740" dirty="0"/>
          </a:p>
        </p:txBody>
      </p:sp>
      <p:sp>
        <p:nvSpPr>
          <p:cNvPr id="230" name="Shape 228"/>
          <p:cNvSpPr/>
          <p:nvPr/>
        </p:nvSpPr>
        <p:spPr>
          <a:xfrm>
            <a:off x="2818638" y="5431536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1" name="Text 229"/>
          <p:cNvSpPr/>
          <p:nvPr/>
        </p:nvSpPr>
        <p:spPr>
          <a:xfrm>
            <a:off x="2818638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58</a:t>
            </a:r>
            <a:endParaRPr lang="en-US" sz="740" dirty="0"/>
          </a:p>
        </p:txBody>
      </p:sp>
      <p:sp>
        <p:nvSpPr>
          <p:cNvPr id="232" name="Shape 230"/>
          <p:cNvSpPr/>
          <p:nvPr/>
        </p:nvSpPr>
        <p:spPr>
          <a:xfrm>
            <a:off x="3559302" y="543153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3" name="Text 231"/>
          <p:cNvSpPr/>
          <p:nvPr/>
        </p:nvSpPr>
        <p:spPr>
          <a:xfrm>
            <a:off x="3559302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77</a:t>
            </a:r>
            <a:endParaRPr lang="en-US" sz="740" dirty="0"/>
          </a:p>
        </p:txBody>
      </p:sp>
      <p:sp>
        <p:nvSpPr>
          <p:cNvPr id="234" name="Shape 232"/>
          <p:cNvSpPr/>
          <p:nvPr/>
        </p:nvSpPr>
        <p:spPr>
          <a:xfrm>
            <a:off x="4299966" y="5431536"/>
            <a:ext cx="706374" cy="265176"/>
          </a:xfrm>
          <a:prstGeom prst="rect">
            <a:avLst/>
          </a:prstGeom>
          <a:solidFill>
            <a:srgbClr val="4FA8CD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4299966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96</a:t>
            </a:r>
            <a:endParaRPr lang="en-US" sz="740" dirty="0"/>
          </a:p>
        </p:txBody>
      </p:sp>
      <p:sp>
        <p:nvSpPr>
          <p:cNvPr id="236" name="Shape 234"/>
          <p:cNvSpPr/>
          <p:nvPr/>
        </p:nvSpPr>
        <p:spPr>
          <a:xfrm>
            <a:off x="5040630" y="5431536"/>
            <a:ext cx="706374" cy="265176"/>
          </a:xfrm>
          <a:prstGeom prst="rect">
            <a:avLst/>
          </a:prstGeom>
          <a:solidFill>
            <a:srgbClr val="E8AEA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5040630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14</a:t>
            </a:r>
            <a:endParaRPr lang="en-US" sz="740" dirty="0"/>
          </a:p>
        </p:txBody>
      </p:sp>
      <p:sp>
        <p:nvSpPr>
          <p:cNvPr id="238" name="Shape 236"/>
          <p:cNvSpPr/>
          <p:nvPr/>
        </p:nvSpPr>
        <p:spPr>
          <a:xfrm>
            <a:off x="5781294" y="5431536"/>
            <a:ext cx="706374" cy="265176"/>
          </a:xfrm>
          <a:prstGeom prst="rect">
            <a:avLst/>
          </a:prstGeom>
          <a:solidFill>
            <a:srgbClr val="E6D7A3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5781294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33</a:t>
            </a:r>
            <a:endParaRPr lang="en-US" sz="740" dirty="0"/>
          </a:p>
        </p:txBody>
      </p:sp>
      <p:sp>
        <p:nvSpPr>
          <p:cNvPr id="240" name="Shape 238"/>
          <p:cNvSpPr/>
          <p:nvPr/>
        </p:nvSpPr>
        <p:spPr>
          <a:xfrm>
            <a:off x="6521958" y="5431536"/>
            <a:ext cx="706374" cy="265176"/>
          </a:xfrm>
          <a:prstGeom prst="rect">
            <a:avLst/>
          </a:prstGeom>
          <a:solidFill>
            <a:srgbClr val="A9DDF0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6521958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dirty="0">
                <a:solidFill>
                  <a:srgbClr val="25282B"/>
                </a:solidFill>
              </a:rPr>
              <a:t>52</a:t>
            </a:r>
            <a:endParaRPr lang="en-US" sz="740" dirty="0"/>
          </a:p>
        </p:txBody>
      </p:sp>
      <p:sp>
        <p:nvSpPr>
          <p:cNvPr id="242" name="Shape 240"/>
          <p:cNvSpPr/>
          <p:nvPr/>
        </p:nvSpPr>
        <p:spPr>
          <a:xfrm>
            <a:off x="7262622" y="5431536"/>
            <a:ext cx="706374" cy="265176"/>
          </a:xfrm>
          <a:prstGeom prst="rect">
            <a:avLst/>
          </a:prstGeom>
          <a:solidFill>
            <a:srgbClr val="0B5486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7262622" y="5486400"/>
            <a:ext cx="70637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71</a:t>
            </a:r>
            <a:endParaRPr lang="en-US" sz="740" dirty="0"/>
          </a:p>
        </p:txBody>
      </p:sp>
      <p:sp>
        <p:nvSpPr>
          <p:cNvPr id="244" name="Shape 242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takeaway goes here: identify the leader, the differentiated archetype, and the surprising disconnect.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exhibit with executive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one high-value metric such as R&amp;D intensity, patents or scientific footprint.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0060" y="1847088"/>
            <a:ext cx="5795010" cy="3794760"/>
          </a:xfrm>
          <a:prstGeom prst="roundRect">
            <a:avLst>
              <a:gd name="adj" fmla="val 964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80844" y="3364992"/>
            <a:ext cx="243459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DROP FINAL CHART HERE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3926" y="3858768"/>
            <a:ext cx="33947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Recommended: horizontal ranked chart or dot-and-range plot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01384" y="1847088"/>
            <a:ext cx="2125980" cy="3794760"/>
          </a:xfrm>
          <a:prstGeom prst="roundRect">
            <a:avLst>
              <a:gd name="adj" fmla="val 2581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01384" y="1847088"/>
            <a:ext cx="54864" cy="3794760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2260" y="2011680"/>
            <a:ext cx="18516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</a:rPr>
              <a:t>Key takeaways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52260" y="2350008"/>
            <a:ext cx="183794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1. Main conclusion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2. Company or cluster that explains the result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3. What it means for the investment debate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5282B"/>
                </a:solidFill>
              </a:rPr>
              <a:t>4. Caveat / interpretation note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“so what” goes here.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Two-panel comparison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award share versus funding share, current versus historical, or two complementary metrics.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3776" y="1847088"/>
            <a:ext cx="3963924" cy="3703320"/>
          </a:xfrm>
          <a:prstGeom prst="roundRect">
            <a:avLst>
              <a:gd name="adj" fmla="val 988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62506" y="3255264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PANEL 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3926" y="3694176"/>
            <a:ext cx="1577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e.g., award share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847088"/>
            <a:ext cx="3963924" cy="3703320"/>
          </a:xfrm>
          <a:prstGeom prst="roundRect">
            <a:avLst>
              <a:gd name="adj" fmla="val 988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32170" y="3255264"/>
            <a:ext cx="14401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C9CB"/>
                </a:solidFill>
              </a:rPr>
              <a:t>PANEL 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863590" y="3694176"/>
            <a:ext cx="1577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76C72"/>
                </a:solidFill>
              </a:rPr>
              <a:t>e.g., funding share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one company order across both panels when row-by-row comparison matters.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KPIs plus trend exhibit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source-level overview before showing company rankings.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4350" y="1828800"/>
            <a:ext cx="1508760" cy="1143000"/>
          </a:xfrm>
          <a:prstGeom prst="roundRect">
            <a:avLst>
              <a:gd name="adj" fmla="val 3200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510" y="20756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E9DD2"/>
                </a:solidFill>
              </a:rPr>
              <a:t>XX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5151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28850" y="1828800"/>
            <a:ext cx="1508760" cy="1143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66010" y="20756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XX%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36601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2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43350" y="1828800"/>
            <a:ext cx="1508760" cy="1143000"/>
          </a:xfrm>
          <a:prstGeom prst="roundRect">
            <a:avLst>
              <a:gd name="adj" fmla="val 3200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80510" y="20756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$XXM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4080510" y="25420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KPI 3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14350" y="3273552"/>
            <a:ext cx="8126730" cy="2212848"/>
          </a:xfrm>
          <a:prstGeom prst="roundRect">
            <a:avLst>
              <a:gd name="adj" fmla="val 1653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97430" y="4087368"/>
            <a:ext cx="4594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8C9CB"/>
                </a:solidFill>
              </a:rPr>
              <a:t>DROP TREND / TIME-SERIES EXHIBIT HERE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format when the audience first needs context on the size or direction of the underlying market.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versus predicted / above-below benchmark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later for descriptive regression or peer-benchmark positioning.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4350" y="1828800"/>
            <a:ext cx="5554980" cy="3822192"/>
          </a:xfrm>
          <a:prstGeom prst="roundRect">
            <a:avLst>
              <a:gd name="adj" fmla="val 957"/>
            </a:avLst>
          </a:prstGeom>
          <a:solidFill>
            <a:srgbClr val="FBFBFB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25830" y="5166360"/>
            <a:ext cx="4608576" cy="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5830" y="5166360"/>
            <a:ext cx="0" cy="-2697480"/>
          </a:xfrm>
          <a:prstGeom prst="line">
            <a:avLst/>
          </a:prstGeom>
          <a:noFill/>
          <a:ln w="1397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2990" y="4956048"/>
            <a:ext cx="4080510" cy="-2240280"/>
          </a:xfrm>
          <a:prstGeom prst="line">
            <a:avLst/>
          </a:prstGeom>
          <a:noFill/>
          <a:ln w="15240">
            <a:solidFill>
              <a:srgbClr val="C8C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0180" y="4411980"/>
            <a:ext cx="137160" cy="13716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9908" y="43616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920240" y="3863340"/>
            <a:ext cx="137160" cy="13716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9968" y="381304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BIO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331720" y="4183380"/>
            <a:ext cx="137160" cy="137160"/>
          </a:xfrm>
          <a:prstGeom prst="ellipse">
            <a:avLst/>
          </a:prstGeom>
          <a:solidFill>
            <a:srgbClr val="1E9DD2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41448" y="41330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DHR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80360" y="349758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0088" y="344728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TMO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429000" y="299466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38728" y="294436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PACB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977640" y="336042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87368" y="331012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WAT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389120" y="2628900"/>
            <a:ext cx="137160" cy="137160"/>
          </a:xfrm>
          <a:prstGeom prst="ellipse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98848" y="2578608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5282B"/>
                </a:solidFill>
              </a:rPr>
              <a:t>BRKR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743200" y="5340096"/>
            <a:ext cx="11315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Predicted output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 rot="16200000">
            <a:off x="34290" y="3108960"/>
            <a:ext cx="2400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76C72"/>
                </a:solidFill>
              </a:rPr>
              <a:t>Actual output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75070" y="1828800"/>
            <a:ext cx="2331720" cy="3822192"/>
          </a:xfrm>
          <a:prstGeom prst="roundRect">
            <a:avLst>
              <a:gd name="adj" fmla="val 2353"/>
            </a:avLst>
          </a:prstGeom>
          <a:solidFill>
            <a:srgbClr val="F7FBFD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75070" y="1828800"/>
            <a:ext cx="54864" cy="3822192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25946" y="19933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25946" y="2331720"/>
            <a:ext cx="2043684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Above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Output exceeds the peer benchmark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Near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Broadly consistent with inputs / scale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Below the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Output trails the peer benchmark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5282B"/>
                </a:solidFill>
              </a:rPr>
              <a:t>Label this “relative output,” not efficiency.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only after the descriptive metrics are established; keep the model simple and transparent.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quote tracker / management language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a sector snapshot with representative evidence.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F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14350" y="1874520"/>
            <a:ext cx="2551176" cy="361188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4350" y="1874520"/>
            <a:ext cx="2551176" cy="530352"/>
          </a:xfrm>
          <a:prstGeom prst="rect">
            <a:avLst/>
          </a:prstGeom>
          <a:solidFill>
            <a:srgbClr val="50A46D"/>
          </a:solidFill>
          <a:ln w="12700">
            <a:solidFill>
              <a:srgbClr val="50A4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510" y="2029968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POSITIVE / EASING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7522" y="2834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2114" y="4041648"/>
            <a:ext cx="174879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7522" y="4261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9846" y="1874520"/>
            <a:ext cx="2551176" cy="361188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9846" y="1874520"/>
            <a:ext cx="2551176" cy="530352"/>
          </a:xfrm>
          <a:prstGeom prst="rect">
            <a:avLst/>
          </a:prstGeom>
          <a:solidFill>
            <a:srgbClr val="E5B944"/>
          </a:solidFill>
          <a:ln w="12700">
            <a:solidFill>
              <a:srgbClr val="E5B9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7006" y="2029968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MIXED / WATCH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573018" y="2834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737610" y="4041648"/>
            <a:ext cx="174879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73018" y="4261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65342" y="1874520"/>
            <a:ext cx="2551176" cy="3611880"/>
          </a:xfrm>
          <a:prstGeom prst="roundRect">
            <a:avLst>
              <a:gd name="adj" fmla="val 1792"/>
            </a:avLst>
          </a:prstGeom>
          <a:solidFill>
            <a:srgbClr val="FFFFFF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65342" y="1874520"/>
            <a:ext cx="2551176" cy="530352"/>
          </a:xfrm>
          <a:prstGeom prst="rect">
            <a:avLst/>
          </a:prstGeom>
          <a:solidFill>
            <a:srgbClr val="D95A4E"/>
          </a:solidFill>
          <a:ln w="12700">
            <a:solidFill>
              <a:srgbClr val="D95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2502" y="2029968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NEGATIVE / EMERGING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98514" y="2834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000000"/>
                </a:solidFill>
              </a:rPr>
              <a:t>“Representative management quote or concise paraphrase goes here.”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563106" y="4041648"/>
            <a:ext cx="1748790" cy="0"/>
          </a:xfrm>
          <a:prstGeom prst="line">
            <a:avLst/>
          </a:prstGeom>
          <a:noFill/>
          <a:ln w="1270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98514" y="4261104"/>
            <a:ext cx="2057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Company • quarter • event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76C72"/>
                </a:solidFill>
              </a:rPr>
              <a:t>Research interpretation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quotes selectively: the tracker provides breadth, while the slide shows only the evidence needed to support the conclusion.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data integrity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a senior audience needs confidence in a proprietary dataset.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77190" y="2011680"/>
            <a:ext cx="1543050" cy="2606040"/>
          </a:xfrm>
          <a:prstGeom prst="roundRect">
            <a:avLst>
              <a:gd name="adj" fmla="val 29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6978" y="2329434"/>
            <a:ext cx="370332" cy="37033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6978" y="2414016"/>
            <a:ext cx="3703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14350" y="2962656"/>
            <a:ext cx="1268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SOURCE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529584"/>
            <a:ext cx="12001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What was collected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4530" y="2999232"/>
            <a:ext cx="150876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25980" y="2011680"/>
            <a:ext cx="1543050" cy="2606040"/>
          </a:xfrm>
          <a:prstGeom prst="roundRect">
            <a:avLst>
              <a:gd name="adj" fmla="val 296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2329434"/>
            <a:ext cx="370332" cy="370332"/>
          </a:xfrm>
          <a:prstGeom prst="ellipse">
            <a:avLst/>
          </a:prstGeom>
          <a:solidFill>
            <a:srgbClr val="1E9DD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15768" y="2414016"/>
            <a:ext cx="3703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63140" y="2962656"/>
            <a:ext cx="1268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SAMPLE / UNIVERSE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297430" y="3529584"/>
            <a:ext cx="12001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How records entered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03320" y="2999232"/>
            <a:ext cx="150876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74770" y="2011680"/>
            <a:ext cx="1543050" cy="2606040"/>
          </a:xfrm>
          <a:prstGeom prst="roundRect">
            <a:avLst>
              <a:gd name="adj" fmla="val 29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64558" y="2329434"/>
            <a:ext cx="370332" cy="3703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64558" y="2414016"/>
            <a:ext cx="3703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11930" y="2962656"/>
            <a:ext cx="1268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MATCHING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046220" y="3529584"/>
            <a:ext cx="12001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How company links were identified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52110" y="2999232"/>
            <a:ext cx="150876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23560" y="2011680"/>
            <a:ext cx="1543050" cy="2606040"/>
          </a:xfrm>
          <a:prstGeom prst="roundRect">
            <a:avLst>
              <a:gd name="adj" fmla="val 2963"/>
            </a:avLst>
          </a:prstGeom>
          <a:solidFill>
            <a:srgbClr val="F8F8F8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3348" y="2329434"/>
            <a:ext cx="370332" cy="3703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3348" y="2414016"/>
            <a:ext cx="3703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2962656"/>
            <a:ext cx="1268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DEDUPLICATION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795010" y="3529584"/>
            <a:ext cx="12001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Unit of analysis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00900" y="2999232"/>
            <a:ext cx="150876" cy="457200"/>
          </a:xfrm>
          <a:prstGeom prst="chevron">
            <a:avLst/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72350" y="2011680"/>
            <a:ext cx="1543050" cy="2606040"/>
          </a:xfrm>
          <a:prstGeom prst="roundRect">
            <a:avLst>
              <a:gd name="adj" fmla="val 2963"/>
            </a:avLst>
          </a:prstGeom>
          <a:solidFill>
            <a:srgbClr val="F7FBFD"/>
          </a:solidFill>
          <a:ln w="12700">
            <a:solidFill>
              <a:srgbClr val="E8EA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62138" y="2329434"/>
            <a:ext cx="370332" cy="37033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62138" y="2414016"/>
            <a:ext cx="3703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09510" y="2962656"/>
            <a:ext cx="126873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0000"/>
                </a:solidFill>
              </a:rPr>
              <a:t>QUALITY CONTROL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43800" y="3529584"/>
            <a:ext cx="120015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76C72"/>
                </a:solidFill>
              </a:rPr>
              <a:t>What was audited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88670" y="4919472"/>
            <a:ext cx="7578090" cy="566928"/>
          </a:xfrm>
          <a:prstGeom prst="roundRect">
            <a:avLst>
              <a:gd name="adj" fmla="val 9677"/>
            </a:avLst>
          </a:prstGeom>
          <a:solidFill>
            <a:srgbClr val="DFF2FA"/>
          </a:solidFill>
          <a:ln w="12700">
            <a:solidFill>
              <a:srgbClr val="A9DD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8670" y="4919472"/>
            <a:ext cx="54864" cy="566928"/>
          </a:xfrm>
          <a:prstGeom prst="rect">
            <a:avLst/>
          </a:prstGeom>
          <a:solidFill>
            <a:srgbClr val="1E9DD2"/>
          </a:solidFill>
          <a:ln w="12700">
            <a:solidFill>
              <a:srgbClr val="1E9DD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9546" y="5084064"/>
            <a:ext cx="7303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</a:rPr>
              <a:t>Suggested footnote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939546" y="5422392"/>
            <a:ext cx="7290054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25282B"/>
                </a:solidFill>
              </a:rPr>
              <a:t>Define the source, date range, unit of analysis, treatment of duplicates, major exclusions and any non-exclusive categories. Keep technical details in backup—not in the headline.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658368"/>
            <a:ext cx="21259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0B54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EXHIBIT TEMPLATE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77190" y="896112"/>
            <a:ext cx="64122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Detailed backup 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7190" y="1389888"/>
            <a:ext cx="65493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676C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for raw values, definitions, sources or model assumptions.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7063740" y="658368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C8C9CB"/>
          </a:solidFill>
          <a:ln w="12700">
            <a:solidFill>
              <a:srgbClr val="C8C9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46036" y="73152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TEMPLATE 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45770" y="1847088"/>
            <a:ext cx="92583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0634" y="1984248"/>
            <a:ext cx="81610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Company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371600" y="1847088"/>
            <a:ext cx="85725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26464" y="1984248"/>
            <a:ext cx="7475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A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2228850" y="1847088"/>
            <a:ext cx="85725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3714" y="1984248"/>
            <a:ext cx="7475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B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086100" y="1847088"/>
            <a:ext cx="85725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40964" y="1984248"/>
            <a:ext cx="7475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C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3943350" y="1847088"/>
            <a:ext cx="85725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98214" y="1984248"/>
            <a:ext cx="74752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Metric D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800600" y="1847088"/>
            <a:ext cx="720090" cy="438912"/>
          </a:xfrm>
          <a:prstGeom prst="rect">
            <a:avLst/>
          </a:prstGeom>
          <a:solidFill>
            <a:srgbClr val="0000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55464" y="1984248"/>
            <a:ext cx="61036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Score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520690" y="1847088"/>
            <a:ext cx="3154680" cy="438912"/>
          </a:xfrm>
          <a:prstGeom prst="rect">
            <a:avLst/>
          </a:prstGeom>
          <a:solidFill>
            <a:srgbClr val="0B5486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5554" y="1984248"/>
            <a:ext cx="3044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Notes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445770" y="2286000"/>
            <a:ext cx="92583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2377440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A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1371600" y="2286000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9606" y="237744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17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2228850" y="2286000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76856" y="237744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34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086100" y="2286000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34106" y="237744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51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943350" y="2286000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1356" y="237744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68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800600" y="2286000"/>
            <a:ext cx="72009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8606" y="2377440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85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5520690" y="2286000"/>
            <a:ext cx="315468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68696" y="2377440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45770" y="2615184"/>
            <a:ext cx="92583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" y="2706624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BIO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1371600" y="2615184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9606" y="270662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30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2228850" y="2615184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76856" y="270662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47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3086100" y="2615184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34106" y="270662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64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3943350" y="2615184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91356" y="270662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81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4800600" y="2615184"/>
            <a:ext cx="72009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8606" y="2706624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98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520690" y="2615184"/>
            <a:ext cx="3154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568696" y="2706624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445770" y="2944368"/>
            <a:ext cx="92583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3776" y="3035808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BRKR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1371600" y="2944368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419606" y="303580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43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2228850" y="2944368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76856" y="303580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60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086100" y="2944368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34106" y="303580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77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943350" y="2944368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91356" y="303580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94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4800600" y="2944368"/>
            <a:ext cx="72009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848606" y="3035808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10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5520690" y="2944368"/>
            <a:ext cx="315468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68696" y="3035808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445770" y="3273552"/>
            <a:ext cx="92583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93776" y="3364992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DHR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1371600" y="3273552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419606" y="336499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56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2228850" y="3273552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276856" y="336499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73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3086100" y="3273552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34106" y="336499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90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3943350" y="3273552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91356" y="336499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4800600" y="3273552"/>
            <a:ext cx="72009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848606" y="3364992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23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5520690" y="3273552"/>
            <a:ext cx="3154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68696" y="3364992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77" name="Shape 75"/>
          <p:cNvSpPr/>
          <p:nvPr/>
        </p:nvSpPr>
        <p:spPr>
          <a:xfrm>
            <a:off x="445770" y="3602736"/>
            <a:ext cx="92583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93776" y="3694176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ILMN</a:t>
            </a:r>
            <a:endParaRPr lang="en-US" sz="780" dirty="0"/>
          </a:p>
        </p:txBody>
      </p:sp>
      <p:sp>
        <p:nvSpPr>
          <p:cNvPr id="79" name="Shape 77"/>
          <p:cNvSpPr/>
          <p:nvPr/>
        </p:nvSpPr>
        <p:spPr>
          <a:xfrm>
            <a:off x="1371600" y="3602736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419606" y="369417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69</a:t>
            </a:r>
            <a:endParaRPr lang="en-US" sz="780" dirty="0"/>
          </a:p>
        </p:txBody>
      </p:sp>
      <p:sp>
        <p:nvSpPr>
          <p:cNvPr id="81" name="Shape 79"/>
          <p:cNvSpPr/>
          <p:nvPr/>
        </p:nvSpPr>
        <p:spPr>
          <a:xfrm>
            <a:off x="2228850" y="3602736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276856" y="369417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86</a:t>
            </a:r>
            <a:endParaRPr lang="en-US" sz="780" dirty="0"/>
          </a:p>
        </p:txBody>
      </p:sp>
      <p:sp>
        <p:nvSpPr>
          <p:cNvPr id="83" name="Shape 81"/>
          <p:cNvSpPr/>
          <p:nvPr/>
        </p:nvSpPr>
        <p:spPr>
          <a:xfrm>
            <a:off x="3086100" y="3602736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134106" y="369417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</a:t>
            </a:r>
            <a:endParaRPr lang="en-US" sz="780" dirty="0"/>
          </a:p>
        </p:txBody>
      </p:sp>
      <p:sp>
        <p:nvSpPr>
          <p:cNvPr id="85" name="Shape 83"/>
          <p:cNvSpPr/>
          <p:nvPr/>
        </p:nvSpPr>
        <p:spPr>
          <a:xfrm>
            <a:off x="3943350" y="3602736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991356" y="369417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19</a:t>
            </a:r>
            <a:endParaRPr lang="en-US" sz="780" dirty="0"/>
          </a:p>
        </p:txBody>
      </p:sp>
      <p:sp>
        <p:nvSpPr>
          <p:cNvPr id="87" name="Shape 85"/>
          <p:cNvSpPr/>
          <p:nvPr/>
        </p:nvSpPr>
        <p:spPr>
          <a:xfrm>
            <a:off x="4800600" y="3602736"/>
            <a:ext cx="72009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48606" y="3694176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36</a:t>
            </a:r>
            <a:endParaRPr lang="en-US" sz="780" dirty="0"/>
          </a:p>
        </p:txBody>
      </p:sp>
      <p:sp>
        <p:nvSpPr>
          <p:cNvPr id="89" name="Shape 87"/>
          <p:cNvSpPr/>
          <p:nvPr/>
        </p:nvSpPr>
        <p:spPr>
          <a:xfrm>
            <a:off x="5520690" y="3602736"/>
            <a:ext cx="315468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68696" y="3694176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91" name="Shape 89"/>
          <p:cNvSpPr/>
          <p:nvPr/>
        </p:nvSpPr>
        <p:spPr>
          <a:xfrm>
            <a:off x="445770" y="3931920"/>
            <a:ext cx="92583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93776" y="4023360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MTD</a:t>
            </a:r>
            <a:endParaRPr lang="en-US" sz="780" dirty="0"/>
          </a:p>
        </p:txBody>
      </p:sp>
      <p:sp>
        <p:nvSpPr>
          <p:cNvPr id="93" name="Shape 91"/>
          <p:cNvSpPr/>
          <p:nvPr/>
        </p:nvSpPr>
        <p:spPr>
          <a:xfrm>
            <a:off x="1371600" y="3931920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419606" y="402336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82</a:t>
            </a:r>
            <a:endParaRPr lang="en-US" sz="780" dirty="0"/>
          </a:p>
        </p:txBody>
      </p:sp>
      <p:sp>
        <p:nvSpPr>
          <p:cNvPr id="95" name="Shape 93"/>
          <p:cNvSpPr/>
          <p:nvPr/>
        </p:nvSpPr>
        <p:spPr>
          <a:xfrm>
            <a:off x="2228850" y="3931920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276856" y="402336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99</a:t>
            </a:r>
            <a:endParaRPr lang="en-US" sz="780" dirty="0"/>
          </a:p>
        </p:txBody>
      </p:sp>
      <p:sp>
        <p:nvSpPr>
          <p:cNvPr id="97" name="Shape 95"/>
          <p:cNvSpPr/>
          <p:nvPr/>
        </p:nvSpPr>
        <p:spPr>
          <a:xfrm>
            <a:off x="3086100" y="3931920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34106" y="402336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15</a:t>
            </a:r>
            <a:endParaRPr lang="en-US" sz="780" dirty="0"/>
          </a:p>
        </p:txBody>
      </p:sp>
      <p:sp>
        <p:nvSpPr>
          <p:cNvPr id="99" name="Shape 97"/>
          <p:cNvSpPr/>
          <p:nvPr/>
        </p:nvSpPr>
        <p:spPr>
          <a:xfrm>
            <a:off x="3943350" y="3931920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991356" y="4023360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32</a:t>
            </a:r>
            <a:endParaRPr lang="en-US" sz="780" dirty="0"/>
          </a:p>
        </p:txBody>
      </p:sp>
      <p:sp>
        <p:nvSpPr>
          <p:cNvPr id="101" name="Shape 99"/>
          <p:cNvSpPr/>
          <p:nvPr/>
        </p:nvSpPr>
        <p:spPr>
          <a:xfrm>
            <a:off x="4800600" y="3931920"/>
            <a:ext cx="72009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848606" y="4023360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49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5520690" y="3931920"/>
            <a:ext cx="3154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568696" y="4023360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445770" y="4261104"/>
            <a:ext cx="92583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93776" y="4352544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PACB</a:t>
            </a:r>
            <a:endParaRPr lang="en-US" sz="780" dirty="0"/>
          </a:p>
        </p:txBody>
      </p:sp>
      <p:sp>
        <p:nvSpPr>
          <p:cNvPr id="107" name="Shape 105"/>
          <p:cNvSpPr/>
          <p:nvPr/>
        </p:nvSpPr>
        <p:spPr>
          <a:xfrm>
            <a:off x="1371600" y="4261104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419606" y="435254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95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2228850" y="4261104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276856" y="435254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11</a:t>
            </a:r>
            <a:endParaRPr lang="en-US" sz="780" dirty="0"/>
          </a:p>
        </p:txBody>
      </p:sp>
      <p:sp>
        <p:nvSpPr>
          <p:cNvPr id="111" name="Shape 109"/>
          <p:cNvSpPr/>
          <p:nvPr/>
        </p:nvSpPr>
        <p:spPr>
          <a:xfrm>
            <a:off x="3086100" y="4261104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134106" y="435254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28</a:t>
            </a:r>
            <a:endParaRPr lang="en-US" sz="780" dirty="0"/>
          </a:p>
        </p:txBody>
      </p:sp>
      <p:sp>
        <p:nvSpPr>
          <p:cNvPr id="113" name="Shape 111"/>
          <p:cNvSpPr/>
          <p:nvPr/>
        </p:nvSpPr>
        <p:spPr>
          <a:xfrm>
            <a:off x="3943350" y="4261104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3991356" y="4352544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45</a:t>
            </a:r>
            <a:endParaRPr lang="en-US" sz="780" dirty="0"/>
          </a:p>
        </p:txBody>
      </p:sp>
      <p:sp>
        <p:nvSpPr>
          <p:cNvPr id="115" name="Shape 113"/>
          <p:cNvSpPr/>
          <p:nvPr/>
        </p:nvSpPr>
        <p:spPr>
          <a:xfrm>
            <a:off x="4800600" y="4261104"/>
            <a:ext cx="72009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4848606" y="4352544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62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5520690" y="4261104"/>
            <a:ext cx="315468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568696" y="4352544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19" name="Shape 117"/>
          <p:cNvSpPr/>
          <p:nvPr/>
        </p:nvSpPr>
        <p:spPr>
          <a:xfrm>
            <a:off x="445770" y="4590288"/>
            <a:ext cx="92583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93776" y="4681728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QGEN</a:t>
            </a:r>
            <a:endParaRPr lang="en-US" sz="780" dirty="0"/>
          </a:p>
        </p:txBody>
      </p:sp>
      <p:sp>
        <p:nvSpPr>
          <p:cNvPr id="121" name="Shape 119"/>
          <p:cNvSpPr/>
          <p:nvPr/>
        </p:nvSpPr>
        <p:spPr>
          <a:xfrm>
            <a:off x="1371600" y="4590288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419606" y="468172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</a:t>
            </a:r>
            <a:endParaRPr lang="en-US" sz="780" dirty="0"/>
          </a:p>
        </p:txBody>
      </p:sp>
      <p:sp>
        <p:nvSpPr>
          <p:cNvPr id="123" name="Shape 121"/>
          <p:cNvSpPr/>
          <p:nvPr/>
        </p:nvSpPr>
        <p:spPr>
          <a:xfrm>
            <a:off x="2228850" y="4590288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276856" y="468172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24</a:t>
            </a:r>
            <a:endParaRPr lang="en-US" sz="780" dirty="0"/>
          </a:p>
        </p:txBody>
      </p:sp>
      <p:sp>
        <p:nvSpPr>
          <p:cNvPr id="125" name="Shape 123"/>
          <p:cNvSpPr/>
          <p:nvPr/>
        </p:nvSpPr>
        <p:spPr>
          <a:xfrm>
            <a:off x="3086100" y="4590288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134106" y="468172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41</a:t>
            </a:r>
            <a:endParaRPr lang="en-US" sz="780" dirty="0"/>
          </a:p>
        </p:txBody>
      </p:sp>
      <p:sp>
        <p:nvSpPr>
          <p:cNvPr id="127" name="Shape 125"/>
          <p:cNvSpPr/>
          <p:nvPr/>
        </p:nvSpPr>
        <p:spPr>
          <a:xfrm>
            <a:off x="3943350" y="4590288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991356" y="4681728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58</a:t>
            </a:r>
            <a:endParaRPr lang="en-US" sz="780" dirty="0"/>
          </a:p>
        </p:txBody>
      </p:sp>
      <p:sp>
        <p:nvSpPr>
          <p:cNvPr id="129" name="Shape 127"/>
          <p:cNvSpPr/>
          <p:nvPr/>
        </p:nvSpPr>
        <p:spPr>
          <a:xfrm>
            <a:off x="4800600" y="4590288"/>
            <a:ext cx="72009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4848606" y="4681728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75</a:t>
            </a:r>
            <a:endParaRPr lang="en-US" sz="780" dirty="0"/>
          </a:p>
        </p:txBody>
      </p:sp>
      <p:sp>
        <p:nvSpPr>
          <p:cNvPr id="131" name="Shape 129"/>
          <p:cNvSpPr/>
          <p:nvPr/>
        </p:nvSpPr>
        <p:spPr>
          <a:xfrm>
            <a:off x="5520690" y="4590288"/>
            <a:ext cx="3154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568696" y="4681728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33" name="Shape 131"/>
          <p:cNvSpPr/>
          <p:nvPr/>
        </p:nvSpPr>
        <p:spPr>
          <a:xfrm>
            <a:off x="445770" y="4919472"/>
            <a:ext cx="92583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3776" y="5010912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RVTY</a:t>
            </a:r>
            <a:endParaRPr lang="en-US" sz="780" dirty="0"/>
          </a:p>
        </p:txBody>
      </p:sp>
      <p:sp>
        <p:nvSpPr>
          <p:cNvPr id="135" name="Shape 133"/>
          <p:cNvSpPr/>
          <p:nvPr/>
        </p:nvSpPr>
        <p:spPr>
          <a:xfrm>
            <a:off x="1371600" y="4919472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1419606" y="501091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20</a:t>
            </a:r>
            <a:endParaRPr lang="en-US" sz="780" dirty="0"/>
          </a:p>
        </p:txBody>
      </p:sp>
      <p:sp>
        <p:nvSpPr>
          <p:cNvPr id="137" name="Shape 135"/>
          <p:cNvSpPr/>
          <p:nvPr/>
        </p:nvSpPr>
        <p:spPr>
          <a:xfrm>
            <a:off x="2228850" y="4919472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276856" y="501091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37</a:t>
            </a:r>
            <a:endParaRPr lang="en-US" sz="780" dirty="0"/>
          </a:p>
        </p:txBody>
      </p:sp>
      <p:sp>
        <p:nvSpPr>
          <p:cNvPr id="139" name="Shape 137"/>
          <p:cNvSpPr/>
          <p:nvPr/>
        </p:nvSpPr>
        <p:spPr>
          <a:xfrm>
            <a:off x="3086100" y="4919472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134106" y="501091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54</a:t>
            </a:r>
            <a:endParaRPr lang="en-US" sz="780" dirty="0"/>
          </a:p>
        </p:txBody>
      </p:sp>
      <p:sp>
        <p:nvSpPr>
          <p:cNvPr id="141" name="Shape 139"/>
          <p:cNvSpPr/>
          <p:nvPr/>
        </p:nvSpPr>
        <p:spPr>
          <a:xfrm>
            <a:off x="3943350" y="4919472"/>
            <a:ext cx="85725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3991356" y="5010912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71</a:t>
            </a:r>
            <a:endParaRPr lang="en-US" sz="780" dirty="0"/>
          </a:p>
        </p:txBody>
      </p:sp>
      <p:sp>
        <p:nvSpPr>
          <p:cNvPr id="143" name="Shape 141"/>
          <p:cNvSpPr/>
          <p:nvPr/>
        </p:nvSpPr>
        <p:spPr>
          <a:xfrm>
            <a:off x="4800600" y="4919472"/>
            <a:ext cx="72009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848606" y="5010912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88</a:t>
            </a:r>
            <a:endParaRPr lang="en-US" sz="780" dirty="0"/>
          </a:p>
        </p:txBody>
      </p:sp>
      <p:sp>
        <p:nvSpPr>
          <p:cNvPr id="145" name="Shape 143"/>
          <p:cNvSpPr/>
          <p:nvPr/>
        </p:nvSpPr>
        <p:spPr>
          <a:xfrm>
            <a:off x="5520690" y="4919472"/>
            <a:ext cx="3154680" cy="329184"/>
          </a:xfrm>
          <a:prstGeom prst="rect">
            <a:avLst/>
          </a:prstGeom>
          <a:solidFill>
            <a:srgbClr val="F7F7F7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5568696" y="5010912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47" name="Shape 145"/>
          <p:cNvSpPr/>
          <p:nvPr/>
        </p:nvSpPr>
        <p:spPr>
          <a:xfrm>
            <a:off x="445770" y="5248656"/>
            <a:ext cx="92583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93776" y="5340096"/>
            <a:ext cx="8298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TECH</a:t>
            </a:r>
            <a:endParaRPr lang="en-US" sz="780" dirty="0"/>
          </a:p>
        </p:txBody>
      </p:sp>
      <p:sp>
        <p:nvSpPr>
          <p:cNvPr id="149" name="Shape 147"/>
          <p:cNvSpPr/>
          <p:nvPr/>
        </p:nvSpPr>
        <p:spPr>
          <a:xfrm>
            <a:off x="1371600" y="5248656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419606" y="534009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33</a:t>
            </a:r>
            <a:endParaRPr lang="en-US" sz="780" dirty="0"/>
          </a:p>
        </p:txBody>
      </p:sp>
      <p:sp>
        <p:nvSpPr>
          <p:cNvPr id="151" name="Shape 149"/>
          <p:cNvSpPr/>
          <p:nvPr/>
        </p:nvSpPr>
        <p:spPr>
          <a:xfrm>
            <a:off x="2228850" y="5248656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2276856" y="534009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50</a:t>
            </a:r>
            <a:endParaRPr lang="en-US" sz="780" dirty="0"/>
          </a:p>
        </p:txBody>
      </p:sp>
      <p:sp>
        <p:nvSpPr>
          <p:cNvPr id="153" name="Shape 151"/>
          <p:cNvSpPr/>
          <p:nvPr/>
        </p:nvSpPr>
        <p:spPr>
          <a:xfrm>
            <a:off x="3086100" y="5248656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3134106" y="534009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67</a:t>
            </a:r>
            <a:endParaRPr lang="en-US" sz="780" dirty="0"/>
          </a:p>
        </p:txBody>
      </p:sp>
      <p:sp>
        <p:nvSpPr>
          <p:cNvPr id="155" name="Shape 153"/>
          <p:cNvSpPr/>
          <p:nvPr/>
        </p:nvSpPr>
        <p:spPr>
          <a:xfrm>
            <a:off x="3943350" y="5248656"/>
            <a:ext cx="85725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3991356" y="5340096"/>
            <a:ext cx="7612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84</a:t>
            </a:r>
            <a:endParaRPr lang="en-US" sz="780" dirty="0"/>
          </a:p>
        </p:txBody>
      </p:sp>
      <p:sp>
        <p:nvSpPr>
          <p:cNvPr id="157" name="Shape 155"/>
          <p:cNvSpPr/>
          <p:nvPr/>
        </p:nvSpPr>
        <p:spPr>
          <a:xfrm>
            <a:off x="4800600" y="5248656"/>
            <a:ext cx="72009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4848606" y="5340096"/>
            <a:ext cx="624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25282B"/>
                </a:solidFill>
              </a:rPr>
              <a:t>0</a:t>
            </a:r>
            <a:endParaRPr lang="en-US" sz="780" dirty="0"/>
          </a:p>
        </p:txBody>
      </p:sp>
      <p:sp>
        <p:nvSpPr>
          <p:cNvPr id="159" name="Shape 157"/>
          <p:cNvSpPr/>
          <p:nvPr/>
        </p:nvSpPr>
        <p:spPr>
          <a:xfrm>
            <a:off x="5520690" y="5248656"/>
            <a:ext cx="3154680" cy="329184"/>
          </a:xfrm>
          <a:prstGeom prst="rect">
            <a:avLst/>
          </a:prstGeom>
          <a:solidFill>
            <a:srgbClr val="FFFFFF"/>
          </a:solidFill>
          <a:ln w="5080">
            <a:solidFill>
              <a:srgbClr val="E8EAEC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5568696" y="5340096"/>
            <a:ext cx="30586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25282B"/>
                </a:solidFill>
              </a:rPr>
              <a:t>Definition / source / caveat placeholder</a:t>
            </a:r>
            <a:endParaRPr lang="en-US" sz="780" dirty="0"/>
          </a:p>
        </p:txBody>
      </p:sp>
      <p:sp>
        <p:nvSpPr>
          <p:cNvPr id="161" name="Shape 159"/>
          <p:cNvSpPr/>
          <p:nvPr/>
        </p:nvSpPr>
        <p:spPr>
          <a:xfrm>
            <a:off x="377190" y="6007608"/>
            <a:ext cx="8387334" cy="42062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534924" y="6099048"/>
            <a:ext cx="8092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in backup so the main deck can stay exhibit-led while the methodology remains transparent.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06790" y="6601968"/>
            <a:ext cx="240030" cy="1371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700">
                <a:solidFill>
                  <a:srgbClr val="6C707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Bernstein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Differentiated Research Through Proprietary Data</dc:title>
  <dc:subject>Summer Internship Final Presentation</dc:subject>
  <dc:creator>Justin Curcio</dc:creator>
  <cp:lastModifiedBy>Justin Curcio</cp:lastModifiedBy>
  <cp:revision>1</cp:revision>
  <dcterms:created xsi:type="dcterms:W3CDTF">2026-08-05T18:05:19Z</dcterms:created>
  <dcterms:modified xsi:type="dcterms:W3CDTF">2026-08-05T18:05:19Z</dcterms:modified>
</cp:coreProperties>
</file>