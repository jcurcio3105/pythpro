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https://www.sec.gov/Archives/edgar/data/1090872/000109087225000010/a-20250303.htm
https://www.agilent.com/about/newsroom/presrel/2025/24nov-gp25021.html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https://www.sec.gov/Archives/edgar/data/12208/000001220826000010/bio-20251231.htm
https://www.investing.com/news/company-news/biorad-q4-2025-slides-reveal-modest-growth-amid-segment-divergence-and-strategic-shifts-93CH-4504206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https://www.stocktitan.net/sec-filings/BRKRP/10-k-bruker-corp-files-annual-report-4e2867e6e62f.html
https://www.fxbaogao.com/detail/5345895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https://www.investing.com/news/company-news/illumina-q2-2025-slides-revenue-dips-3-while-eps-grows-9-amid-novaseq-x-transition-93CH-4321312
https://ca.investing.com/news/company-news/illumina-q4-2025-slides-clinical-growth-accelerates-as-novaseq-x-transition-advances-93CH-4442183
https://www.sec.gov/Archives/edgar/data/1110803/000119312526149669/d13789ddef14a.htm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https://www.tradingview.com/news/tradingview%3Adf8cb054074e7%3A0-mettler-toledo-international-inc-sec-10-k-report/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https://corporate.qiagen.com/English/newsroom/press-releases/press-release-details/2026/Qiagen-Announces-Form-20-F-Annual-Report-Filing-for-2025-Results/default.aspx
https://edgar.secdatabase.com/727/101582025000072/filing-main.htm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https://www.wsj.com/articles/revvity-ramps-up-r-d-spending-since-perkinelmer-split-152d997a
https://www.publicnow.com/view/817A65FE6572B48E73724BFDCD3F4621C2C7DD39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https://www.sec.gov/Archives/edgar/data/842023/000155837025011716/tech-20250630x10k.htm
https://www.fool.com/earnings/call-transcripts/2026/05/06/bio-techne-tech-q4-2025-earnings-transcript/
https://www.ft.com/content/4d5030cb-a61e-4d15-a5b5-c4c7c6bca471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https://ebs.publicnow.com/view/83395AF87B3DF07ACEBFFC9EC088050F41147AEA
https://www.stocktitan.net/sec-filings/TMO/10-k-thermo-fisher-scientific-inc-files-annual-report-277640f5ca53.html
https://www.ft.com/content/378ab1a3-9b4b-4fb4-ac1a-e10a9cb40c15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https://www.publicnow.com/view/383DE8DFEF0A85EF93754E6429E528371D14BA44
https://financialfilings.com/filings/waters-corporation/annual-report/2026/32827776/
https://www.investopedia.com/analytics-equipment-maker-waters-buys-becton-dickinson-unit-in-a-usd17-5b-deal-11771466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F4168"/>
          </a:solidFill>
          <a:ln w="12700">
            <a:solidFill>
              <a:srgbClr val="0F4168"/>
            </a:solidFill>
            <a:prstDash val="solid"/>
          </a:ln>
        </p:spPr>
      </p:sp>
      <p:sp>
        <p:nvSpPr>
          <p:cNvPr id="3" name="Shape 1"/>
          <p:cNvSpPr/>
          <p:nvPr/>
        </p:nvSpPr>
        <p:spPr>
          <a:xfrm>
            <a:off x="347472" y="6291072"/>
            <a:ext cx="11475720" cy="0"/>
          </a:xfrm>
          <a:prstGeom prst="line">
            <a:avLst/>
          </a:prstGeom>
          <a:noFill/>
          <a:ln w="8890">
            <a:solidFill>
              <a:srgbClr val="D6DDE4"/>
            </a:solidFill>
            <a:prstDash val="solid"/>
          </a:ln>
        </p:spPr>
      </p:sp>
      <p:sp>
        <p:nvSpPr>
          <p:cNvPr id="4" name="Text 2"/>
          <p:cNvSpPr/>
          <p:nvPr/>
        </p:nvSpPr>
        <p:spPr>
          <a:xfrm>
            <a:off x="347472" y="6355080"/>
            <a:ext cx="868680" cy="146304"/>
          </a:xfrm>
          <a:prstGeom prst="rect">
            <a:avLst/>
          </a:prstGeom>
          <a:noFill/>
          <a:ln/>
        </p:spPr>
        <p:txBody>
          <a:bodyPr wrap="square" lIns="0" tIns="0" rIns="0" bIns="0" rtlCol="0" anchor="ctr"/>
          <a:lstStyle/>
          <a:p>
            <a:pPr indent="0" marL="0">
              <a:buNone/>
            </a:pPr>
            <a:r>
              <a:rPr lang="en-US" sz="850" b="1" dirty="0">
                <a:solidFill>
                  <a:srgbClr val="0B0B0B"/>
                </a:solidFill>
                <a:latin typeface="Arial" pitchFamily="34" charset="0"/>
                <a:ea typeface="Arial" pitchFamily="34" charset="-122"/>
                <a:cs typeface="Arial" pitchFamily="34" charset="-120"/>
              </a:rPr>
              <a:t>BERNSTEIN</a:t>
            </a:r>
            <a:endParaRPr lang="en-US" sz="850" dirty="0"/>
          </a:p>
        </p:txBody>
      </p:sp>
      <p:sp>
        <p:nvSpPr>
          <p:cNvPr id="5" name="Text 3"/>
          <p:cNvSpPr/>
          <p:nvPr/>
        </p:nvSpPr>
        <p:spPr>
          <a:xfrm>
            <a:off x="1225296" y="6364224"/>
            <a:ext cx="1463040" cy="146304"/>
          </a:xfrm>
          <a:prstGeom prst="rect">
            <a:avLst/>
          </a:prstGeom>
          <a:noFill/>
          <a:ln/>
        </p:spPr>
        <p:txBody>
          <a:bodyPr wrap="square" lIns="0" tIns="0" rIns="0" bIns="0" rtlCol="0" anchor="ctr"/>
          <a:lstStyle/>
          <a:p>
            <a:pPr indent="0" marL="0">
              <a:buNone/>
            </a:pPr>
            <a:r>
              <a:rPr lang="en-US" sz="560" dirty="0">
                <a:solidFill>
                  <a:srgbClr val="0B0B0B"/>
                </a:solidFill>
                <a:latin typeface="Arial" pitchFamily="34" charset="0"/>
                <a:ea typeface="Arial" pitchFamily="34" charset="-122"/>
                <a:cs typeface="Arial" pitchFamily="34" charset="-120"/>
              </a:rPr>
              <a:t>SOCIETE GENERALE GROUP</a:t>
            </a:r>
            <a:endParaRPr lang="en-US" sz="56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Agilent profile points to workflow relevance, but less broad-based outperformance</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Relative heatmap shows strong early/methods signals and awards, offset by less consistent PubMed/IP strength.</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Analytical instruments, chromatography/mass spec, diagnostics, genomics and CrossLab services. Bread-and-butter is end-to-end lab workflows rather than a single technology platform.</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bioRxiv, PMC Methods and awards signal research-workflow relevance. Overall is only middle-tier, suggesting the innovation profile is more targeted than broad across every observable channel.</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Agilent reorganized into Life Sciences &amp; Diagnostics, CrossLab and Applied Markets, and acquired BIOVECTRA in 2024 to expand CDMO exposure. Management has emphasized customer intimacy, market focus and operating-system execution.</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the new organization and BIOVECTRA expand higher-growth life science exposure, or mainly add services/manufacturing mix. Watch for product-specific literature and adoption signals, not only corporate innovation language.</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A8C7B2"/>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A8C7B2"/>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A8C7B2"/>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A8C7B2"/>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2F6B4F"/>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A8C7B2"/>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Agilent looks like a workflow-relevance story: strong evidence in early and methods literature, but less evidence of broad innovation leadership across all channels.</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Bio-Rad shows one of the broadest relative innovation profiles</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Strong investment intensity and multiple scientific signals align with life science research plus diagnostics exposure.</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Life science research and clinical diagnostics company selling instruments, reagents, systems and consumables. Core franchises include ddPCR, chromatography, electrophoresis, immunoassays and clinical diagnostics controls/tests.</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investment intensity, bioRxiv, USPTO, PMC Methods and awards create broad relative strength. Lower PubMed/NIH positioning suggests the profile is stronger in tools/reagent innovation than broad institutional S10 adoption.</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Bio-Rad acquired Stilla Technologies in 2025, reinforcing its digital PCR position, and continued diagnostics product registration and oncology partnership activity. Growth has been modest, so the question is conversion from innovation signal to revenue acceleration.</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ddPCR and oncology diagnostics investments translate into visible share gains, margin improvement and sustained consumables pull-through. Watch for management commentary on life science funding and ddPCR adoption.</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2F6B4F"/>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2F6B4F"/>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A8C7B2"/>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E7EBE8"/>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2F6B4F"/>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2F6B4F"/>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Bio-Rad screens as a relative innovation leader, but the investment question is whether a strong tools profile can overcome slower near-term growth and execution constraints.</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Bruker’s heatmap reinforces an advanced-science portfolio transformation</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Strong PubMed, NIH and awards signals align with post-genomic tools, spatial biology and proteomics positioning.</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High-performance scientific instruments across mass spectrometry, NMR, preclinical imaging, microscopy, spatial biology and diagnostics. Bread-and-butter is advanced research instrumentation with increasing workflow/recurring exposure.</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PubMed, NIH S10, innovation awards and overall score suggest strong scientific visibility and institutional adoption. Weaker bioRxiv implies less early-preprint concentration versus established/publication and adoption channels.</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Recent acquisitions of NanoString, ELITechGroup and Chemspeed expanded Bruker into spatial biology, molecular diagnostics and lab automation. Management has framed this as a move toward post-genomic disease research and more workflow-oriented solutions.</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Integration of 2024 acquisitions, recurring revenue pull-through and whether spatial/proteomics leadership converts into durable growth. Watch margin progression as portfolio breadth increases.</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A8C7B2"/>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A8C7B2"/>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2F6B4F"/>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2F6B4F"/>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2F6B4F"/>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2F6B4F"/>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Bruker appears to be a differentiated innovation-and-adoption leader, with the key debate shifting from scientific relevance to execution and integration.</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Illumina remains a platform innovator, but adoption signals are more uneven</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High R&amp;D intensity and strong IP/PubMed fit a sequencing leader; mixed methods/adoption signals frame the key debate.</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Sequencing platform company built around instruments, consumables, informatics and genomics workflows. Bread-and-butter is the installed base and consumables ecosystem around Illumina sequencing platforms.</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investment intensity, USPTO and PubMed support strong platform innovation and scientific visibility. Weaker PMC/awards and only middling NIH suggest the signal is concentrated in core sequencing/IP rather than every adoption channel.</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The NovaSeq X transition progressed materially in 2025, while Illumina also pursued multiomics expansion through SomaLogic. Instruments remained pressured by capital spending, making consumables utilization and platform transition the core read-through.</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NovaSeq X drives sustained consumables growth, cost-per-genome expansion and multiomics adoption. Watch for China/academic funding pressure and competitive sequencing alternatives.</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2F6B4F"/>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A8C7B2"/>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A8C7B2"/>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A8C7B2"/>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E7EBE8"/>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2F6B4F"/>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Illumina screens as high-innovation intensity with strong platform visibility, but the key question is whether new sequencing and multiomics products reaccelerate growth.</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Mettler-Toledo’s weaker heatmap likely reflects market mix more than lack of relevance</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Applied/industrial weighing and measurement exposure is less likely to appear in biomedical publication datasets.</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Precision instruments for laboratory, industrial, process analytics, food retail and weighing applications. Bread-and-butter is high-quality measurement, weighing, service and replacement-cycle-driven installed base economics.</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Mostly bottom-tier scientific/publication boxes with only moderate USPTO signal. That likely reflects lower overlap with biomedical literature and NIH instrumentation rather than a direct conclusion that the company lacks innovation.</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MTD emphasizes product innovation, automation, digitalization and a large installed base supporting service revenue. Its R&amp;D spend is structurally lower as a percentage of sales than more biology-heavy peers.</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Replacement cycles, automation/digitalization, China recovery and service attachment. For MTD, product innovation may be better assessed through pricing, service, industrial productivity and customer retention than PubMed-style signals.</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E7EBE8"/>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E7EBE8"/>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E7EBE8"/>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E7EBE8"/>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E7EBE8"/>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E7EBE8"/>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MTD is the clearest example of why the framework measures observable life-science innovation signals—not universal product quality across all tools categories.</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QIAGEN screens as a focused molecular-workflow innovator</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Strong scientific footprint relative to R&amp;D fits Sample-to-Insight automation and molecular diagnostics exposure.</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Sample-to-Insight molecular solutions spanning sample preparation, assays, automation and bioinformatics. Bread-and-butter is extracting, processing and interpreting DNA/RNA/protein information for life sciences and molecular diagnostics.</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R&amp;D per employee, bioRxiv, PMC, PubMed and overall positioning indicate strong scientific footprint relative to scale. Weak USPTO/NIH/awards suggests the signal is more workflow literature embeddedness than external award/adoption breadth.</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QIAGEN highlighted broad Sample-to-Insight workflow automation, QIAcube installed base, and QIAstat-Dx Rise clearance in 2025. This matches a profile where workflow utility matters as much as headline platform launches.</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automation and syndromic testing systems drive sustainable growth and consumables pull-through. Watch installed-base expansion, clinical menu development and life-science funding sensitivity.</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A8C7B2"/>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A8C7B2"/>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2F6B4F"/>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E7EBE8"/>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E7EBE8"/>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2F6B4F"/>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QIAGEN’s profile suggests focused molecular workflow strength: strong research visibility despite smaller absolute R&amp;D scale.</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Revvity shows research-workflow strength, but the profile is still being reset post-spin</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Strong bioRxiv and PMC signals fit a life-science/diagnostics portfolio, while overall strength is more mixed.</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Life sciences and diagnostics company created from the post-divestiture PerkinElmer portfolio. Bread-and-butter is reagents, assays, software, diagnostics, BioLegend, reproductive health and research workflows.</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bioRxiv and PMC Methods suggest strong research-workflow visibility. Mixed investment, PubMed, NIH and awards imply that the portfolio may have pockets of strength rather than broad peer leadership.</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Since the PerkinElmer split/rebrand, Revvity has emphasized focus, R&amp;D, software, operations and acquisition integration. 2025 commentary pointed to Diagnostics and Signals Software as growth contributors.</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portfolio focus and BioLegend/Signals assets translate into consistent organic growth and broader scientific footprint. Watch management progress on post-spin operating model and margin execution.</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A8C7B2"/>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A8C7B2"/>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A8C7B2"/>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A8C7B2"/>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A8C7B2"/>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A8C7B2"/>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Revvity’s innovation signal is credible but concentrated: it looks like a focused post-spin platform still proving broad-based growth durability.</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Bio-Techne has broad scientific footprint and clear strategic value</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Strong literature signals align with proteins, reagents, spatial biology and cell therapy workflow exposure.</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Life science reagents, proteins, antibodies, immunoassays, proteomic instruments, diagnostics and spatial biology. Bread-and-butter is high-quality biological reagents and workflow tools used across research, bioprocessing and diagnostics.</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bioRxiv, PMC Methods, PubMed and overall positioning support a broad scientific-footprint story. Mid-tier investment and patents suggest the signal is less about raw spending and more about embedded research use.</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FY25 launches included Leo, ProPak GMP cytokines and AI-enabled designer proteins, with strong cell therapy workflow demand. The announced Merck KGaA acquisition of Bio-Techne also reinforces strategic value in reagents, multiomics and diagnostics.</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GMP reagents, spatial biology and protein-analysis workflows continue taking share. Watch how ownership/portfolio changes affect innovation cadence and investment prioritization.</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A8C7B2"/>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2F6B4F"/>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2F6B4F"/>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E7EBE8"/>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E7EBE8"/>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2F6B4F"/>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TECH screens as one of the cleanest relative innovation profiles: smaller scale, but strong scientific embeddedness across multiple literature channels.</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Thermo Fisher is a scale-led innovation and adoption platform</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Strong scientific/adoption boxes coexist with weaker intensity metrics because the denominator is enormous.</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Largest diversified life-science tools platform across Life Sciences Solutions, Analytical Instruments, Specialty Diagnostics and Laboratory Products/Biopharma Services. Bread-and-butter is breadth, installed base, distribution, services and bioproduction exposure.</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bioRxiv, PMC, PubMed, NIH and awards show substantial scientific and institutional footprint. Weak R&amp;D intensity boxes reflect massive revenue/workforce scale, not low absolute R&amp;D investment.</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Thermo reported over $44B of 2025 revenue with growth across major segments, including bioproduction strength and Olink contribution. Portfolio pruning and acquisitions remain part of the model.</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innovation is coming from organic product cadence, M&amp;A, or portfolio breadth. Track product-level adoption and growth within Life Sciences Solutions and Analytical Instruments rather than relying on parent-level intensity ratios.</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E7EBE8"/>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A8C7B2"/>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2F6B4F"/>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2F6B4F"/>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2F6B4F"/>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A8C7B2"/>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TMO is not an intensity-led innovator in this framework; it is a scale-led platform with broad scientific and adoption presence.</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84048" y="347472"/>
            <a:ext cx="3200400" cy="201168"/>
          </a:xfrm>
          <a:prstGeom prst="rect">
            <a:avLst/>
          </a:prstGeom>
          <a:noFill/>
          <a:ln/>
        </p:spPr>
        <p:txBody>
          <a:bodyPr wrap="square" lIns="0" tIns="0" rIns="0" bIns="0" rtlCol="0" anchor="ctr"/>
          <a:lstStyle/>
          <a:p>
            <a:pPr indent="0" marL="0">
              <a:buNone/>
            </a:pPr>
            <a:r>
              <a:rPr lang="en-US" sz="820" b="1" dirty="0">
                <a:solidFill>
                  <a:srgbClr val="0F4168"/>
                </a:solidFill>
              </a:rPr>
              <a:t>COMPANY READ-THROUGH</a:t>
            </a:r>
            <a:endParaRPr lang="en-US" sz="820" dirty="0"/>
          </a:p>
        </p:txBody>
      </p:sp>
      <p:sp>
        <p:nvSpPr>
          <p:cNvPr id="3" name="Text 1"/>
          <p:cNvSpPr/>
          <p:nvPr/>
        </p:nvSpPr>
        <p:spPr>
          <a:xfrm>
            <a:off x="384048" y="621792"/>
            <a:ext cx="7863840" cy="402336"/>
          </a:xfrm>
          <a:prstGeom prst="rect">
            <a:avLst/>
          </a:prstGeom>
          <a:noFill/>
          <a:ln/>
        </p:spPr>
        <p:txBody>
          <a:bodyPr wrap="square" lIns="0" tIns="0" rIns="0" bIns="0" rtlCol="0" anchor="ctr">
            <a:normAutofit/>
          </a:bodyPr>
          <a:lstStyle/>
          <a:p>
            <a:pPr indent="0" marL="0">
              <a:buNone/>
            </a:pPr>
            <a:r>
              <a:rPr lang="en-US" sz="2150" b="1" dirty="0">
                <a:solidFill>
                  <a:srgbClr val="111111"/>
                </a:solidFill>
              </a:rPr>
              <a:t>Waters shows IP and recognition strength, with a potential step-change pending</a:t>
            </a:r>
            <a:endParaRPr lang="en-US" sz="2150" dirty="0"/>
          </a:p>
        </p:txBody>
      </p:sp>
      <p:sp>
        <p:nvSpPr>
          <p:cNvPr id="4" name="Text 2"/>
          <p:cNvSpPr/>
          <p:nvPr/>
        </p:nvSpPr>
        <p:spPr>
          <a:xfrm>
            <a:off x="384048" y="1143000"/>
            <a:ext cx="9326880" cy="256032"/>
          </a:xfrm>
          <a:prstGeom prst="rect">
            <a:avLst/>
          </a:prstGeom>
          <a:noFill/>
          <a:ln/>
        </p:spPr>
        <p:txBody>
          <a:bodyPr wrap="square" lIns="0" tIns="0" rIns="0" bIns="0" rtlCol="0" anchor="ctr">
            <a:normAutofit/>
          </a:bodyPr>
          <a:lstStyle/>
          <a:p>
            <a:pPr indent="0" marL="0">
              <a:buNone/>
            </a:pPr>
            <a:r>
              <a:rPr lang="en-US" sz="1100" dirty="0">
                <a:solidFill>
                  <a:srgbClr val="0F4168"/>
                </a:solidFill>
              </a:rPr>
              <a:t>Core LC/MS franchise appears more in patent/award signals than broad biomedical literature intensity.</a:t>
            </a:r>
            <a:endParaRPr lang="en-US" sz="1100" dirty="0"/>
          </a:p>
        </p:txBody>
      </p:sp>
      <p:sp>
        <p:nvSpPr>
          <p:cNvPr id="5" name="Shape 3"/>
          <p:cNvSpPr/>
          <p:nvPr/>
        </p:nvSpPr>
        <p:spPr>
          <a:xfrm>
            <a:off x="384048" y="1499616"/>
            <a:ext cx="11064240" cy="0"/>
          </a:xfrm>
          <a:prstGeom prst="line">
            <a:avLst/>
          </a:prstGeom>
          <a:noFill/>
          <a:ln w="12700">
            <a:solidFill>
              <a:srgbClr val="0F4168"/>
            </a:solidFill>
            <a:prstDash val="solid"/>
          </a:ln>
        </p:spPr>
      </p:sp>
      <p:sp>
        <p:nvSpPr>
          <p:cNvPr id="6" name="Text 4"/>
          <p:cNvSpPr/>
          <p:nvPr/>
        </p:nvSpPr>
        <p:spPr>
          <a:xfrm>
            <a:off x="502920" y="1700784"/>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BREAD-AND-BUTTER BUSINESS</a:t>
            </a:r>
            <a:endParaRPr lang="en-US" sz="720" dirty="0"/>
          </a:p>
        </p:txBody>
      </p:sp>
      <p:sp>
        <p:nvSpPr>
          <p:cNvPr id="7" name="Text 5"/>
          <p:cNvSpPr/>
          <p:nvPr/>
        </p:nvSpPr>
        <p:spPr>
          <a:xfrm>
            <a:off x="502920" y="1929384"/>
            <a:ext cx="3474720" cy="841248"/>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Liquid chromatography, mass spectrometry, thermal analysis, rheometry, calorimetry, chemistry consumables and service. Bread-and-butter is analytical chemistry workflows in pharma, industrial, academic and applied markets.</a:t>
            </a:r>
            <a:endParaRPr lang="en-US" sz="1030" dirty="0"/>
          </a:p>
        </p:txBody>
      </p:sp>
      <p:sp>
        <p:nvSpPr>
          <p:cNvPr id="8" name="Text 6"/>
          <p:cNvSpPr/>
          <p:nvPr/>
        </p:nvSpPr>
        <p:spPr>
          <a:xfrm>
            <a:off x="502920" y="2862072"/>
            <a:ext cx="3474720" cy="182880"/>
          </a:xfrm>
          <a:prstGeom prst="rect">
            <a:avLst/>
          </a:prstGeom>
          <a:noFill/>
          <a:ln/>
        </p:spPr>
        <p:txBody>
          <a:bodyPr wrap="square" lIns="0" tIns="0" rIns="0" bIns="0" rtlCol="0" anchor="ctr"/>
          <a:lstStyle/>
          <a:p>
            <a:pPr indent="0" marL="0">
              <a:buNone/>
            </a:pPr>
            <a:r>
              <a:rPr lang="en-US" sz="720" b="1" dirty="0">
                <a:solidFill>
                  <a:srgbClr val="0F4168"/>
                </a:solidFill>
              </a:rPr>
              <a:t>HEATMAP READ-THROUGH</a:t>
            </a:r>
            <a:endParaRPr lang="en-US" sz="720" dirty="0"/>
          </a:p>
        </p:txBody>
      </p:sp>
      <p:sp>
        <p:nvSpPr>
          <p:cNvPr id="9" name="Text 7"/>
          <p:cNvSpPr/>
          <p:nvPr/>
        </p:nvSpPr>
        <p:spPr>
          <a:xfrm>
            <a:off x="502920" y="3090672"/>
            <a:ext cx="3474720" cy="85039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Top-tier USPTO and innovation awards point to technology development and external recognition. Lower investment intensity and mixed literature/NIH signals suggest less broad biomedical footprint versus biology-focused peers.</a:t>
            </a:r>
            <a:endParaRPr lang="en-US" sz="1030" dirty="0"/>
          </a:p>
        </p:txBody>
      </p:sp>
      <p:sp>
        <p:nvSpPr>
          <p:cNvPr id="10" name="Text 8"/>
          <p:cNvSpPr/>
          <p:nvPr/>
        </p:nvSpPr>
        <p:spPr>
          <a:xfrm>
            <a:off x="4160520" y="1700784"/>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COMPANY CONTEXT</a:t>
            </a:r>
            <a:endParaRPr lang="en-US" sz="720" dirty="0"/>
          </a:p>
        </p:txBody>
      </p:sp>
      <p:sp>
        <p:nvSpPr>
          <p:cNvPr id="11" name="Text 9"/>
          <p:cNvSpPr/>
          <p:nvPr/>
        </p:nvSpPr>
        <p:spPr>
          <a:xfrm>
            <a:off x="4160520" y="1929384"/>
            <a:ext cx="3749040" cy="121615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Waters has expanded biopharma analysis capabilities through Wyatt integration and Halo Labs, and announced a large BD Biosciences &amp; Diagnostic Solutions combination to broaden TAM and recurring revenue.</a:t>
            </a:r>
            <a:endParaRPr lang="en-US" sz="1030" dirty="0"/>
          </a:p>
        </p:txBody>
      </p:sp>
      <p:sp>
        <p:nvSpPr>
          <p:cNvPr id="12" name="Text 10"/>
          <p:cNvSpPr/>
          <p:nvPr/>
        </p:nvSpPr>
        <p:spPr>
          <a:xfrm>
            <a:off x="4160520" y="3273552"/>
            <a:ext cx="3749040" cy="182880"/>
          </a:xfrm>
          <a:prstGeom prst="rect">
            <a:avLst/>
          </a:prstGeom>
          <a:noFill/>
          <a:ln/>
        </p:spPr>
        <p:txBody>
          <a:bodyPr wrap="square" lIns="0" tIns="0" rIns="0" bIns="0" rtlCol="0" anchor="ctr"/>
          <a:lstStyle/>
          <a:p>
            <a:pPr indent="0" marL="0">
              <a:buNone/>
            </a:pPr>
            <a:r>
              <a:rPr lang="en-US" sz="720" b="1" dirty="0">
                <a:solidFill>
                  <a:srgbClr val="0F4168"/>
                </a:solidFill>
              </a:rPr>
              <a:t>WHAT TO MONITOR</a:t>
            </a:r>
            <a:endParaRPr lang="en-US" sz="720" dirty="0"/>
          </a:p>
        </p:txBody>
      </p:sp>
      <p:sp>
        <p:nvSpPr>
          <p:cNvPr id="13" name="Text 11"/>
          <p:cNvSpPr/>
          <p:nvPr/>
        </p:nvSpPr>
        <p:spPr>
          <a:xfrm>
            <a:off x="4160520" y="3502152"/>
            <a:ext cx="3749040" cy="941832"/>
          </a:xfrm>
          <a:prstGeom prst="rect">
            <a:avLst/>
          </a:prstGeom>
          <a:noFill/>
          <a:ln/>
        </p:spPr>
        <p:txBody>
          <a:bodyPr wrap="square" lIns="254" tIns="254" rIns="254" bIns="254" rtlCol="0" anchor="t">
            <a:normAutofit/>
          </a:bodyPr>
          <a:lstStyle/>
          <a:p>
            <a:pPr indent="0" marL="0">
              <a:buNone/>
            </a:pPr>
            <a:r>
              <a:rPr lang="en-US" sz="1030" dirty="0">
                <a:solidFill>
                  <a:srgbClr val="111111"/>
                </a:solidFill>
              </a:rPr>
              <a:t>Whether BD Biosciences changes Waters from an analytical-instruments profile into a broader life-science workflow platform. Watch integration, cross-selling and whether scientific-footprint metrics improve after the portfolio shift.</a:t>
            </a:r>
            <a:endParaRPr lang="en-US" sz="1030" dirty="0"/>
          </a:p>
        </p:txBody>
      </p:sp>
      <p:sp>
        <p:nvSpPr>
          <p:cNvPr id="14" name="Shape 12"/>
          <p:cNvSpPr/>
          <p:nvPr/>
        </p:nvSpPr>
        <p:spPr>
          <a:xfrm>
            <a:off x="8229600" y="1417320"/>
            <a:ext cx="3383280" cy="4041648"/>
          </a:xfrm>
          <a:prstGeom prst="rect">
            <a:avLst/>
          </a:prstGeom>
          <a:solidFill>
            <a:srgbClr val="F7F9FA"/>
          </a:solidFill>
          <a:ln w="10160">
            <a:solidFill>
              <a:srgbClr val="E3E8ED"/>
            </a:solidFill>
            <a:prstDash val="solid"/>
          </a:ln>
        </p:spPr>
      </p:sp>
      <p:sp>
        <p:nvSpPr>
          <p:cNvPr id="15" name="Text 13"/>
          <p:cNvSpPr/>
          <p:nvPr/>
        </p:nvSpPr>
        <p:spPr>
          <a:xfrm>
            <a:off x="8394192" y="1627632"/>
            <a:ext cx="3017520" cy="201168"/>
          </a:xfrm>
          <a:prstGeom prst="rect">
            <a:avLst/>
          </a:prstGeom>
          <a:noFill/>
          <a:ln/>
        </p:spPr>
        <p:txBody>
          <a:bodyPr wrap="square" lIns="0" tIns="0" rIns="0" bIns="0" rtlCol="0" anchor="ctr"/>
          <a:lstStyle/>
          <a:p>
            <a:pPr indent="0" marL="0">
              <a:buNone/>
            </a:pPr>
            <a:r>
              <a:rPr lang="en-US" sz="800" b="1" dirty="0">
                <a:solidFill>
                  <a:srgbClr val="0F4168"/>
                </a:solidFill>
              </a:rPr>
              <a:t>HEATMAP READ-THROUGH</a:t>
            </a:r>
            <a:endParaRPr lang="en-US" sz="800" dirty="0"/>
          </a:p>
        </p:txBody>
      </p:sp>
      <p:sp>
        <p:nvSpPr>
          <p:cNvPr id="16" name="Text 14"/>
          <p:cNvSpPr/>
          <p:nvPr/>
        </p:nvSpPr>
        <p:spPr>
          <a:xfrm>
            <a:off x="8430768" y="2011680"/>
            <a:ext cx="1298448" cy="182880"/>
          </a:xfrm>
          <a:prstGeom prst="rect">
            <a:avLst/>
          </a:prstGeom>
          <a:noFill/>
          <a:ln/>
        </p:spPr>
        <p:txBody>
          <a:bodyPr wrap="square" lIns="0" tIns="0" rIns="0" bIns="0" rtlCol="0" anchor="ctr"/>
          <a:lstStyle/>
          <a:p>
            <a:pPr indent="0" marL="0">
              <a:buNone/>
            </a:pPr>
            <a:r>
              <a:rPr lang="en-US" sz="920" dirty="0">
                <a:solidFill>
                  <a:srgbClr val="111111"/>
                </a:solidFill>
              </a:rPr>
              <a:t>Investment</a:t>
            </a:r>
            <a:endParaRPr lang="en-US" sz="920" dirty="0"/>
          </a:p>
        </p:txBody>
      </p:sp>
      <p:sp>
        <p:nvSpPr>
          <p:cNvPr id="17" name="Shape 15"/>
          <p:cNvSpPr/>
          <p:nvPr/>
        </p:nvSpPr>
        <p:spPr>
          <a:xfrm>
            <a:off x="9738360" y="1965960"/>
            <a:ext cx="786384" cy="274320"/>
          </a:xfrm>
          <a:prstGeom prst="rect">
            <a:avLst/>
          </a:prstGeom>
          <a:solidFill>
            <a:srgbClr val="E7EBE8"/>
          </a:solidFill>
          <a:ln w="15240">
            <a:solidFill>
              <a:srgbClr val="FFFFFF"/>
            </a:solidFill>
            <a:prstDash val="solid"/>
          </a:ln>
        </p:spPr>
      </p:sp>
      <p:sp>
        <p:nvSpPr>
          <p:cNvPr id="18" name="Text 16"/>
          <p:cNvSpPr/>
          <p:nvPr/>
        </p:nvSpPr>
        <p:spPr>
          <a:xfrm>
            <a:off x="9738360" y="201168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19" name="Text 17"/>
          <p:cNvSpPr/>
          <p:nvPr/>
        </p:nvSpPr>
        <p:spPr>
          <a:xfrm>
            <a:off x="8430768" y="2505456"/>
            <a:ext cx="1298448" cy="182880"/>
          </a:xfrm>
          <a:prstGeom prst="rect">
            <a:avLst/>
          </a:prstGeom>
          <a:noFill/>
          <a:ln/>
        </p:spPr>
        <p:txBody>
          <a:bodyPr wrap="square" lIns="0" tIns="0" rIns="0" bIns="0" rtlCol="0" anchor="ctr"/>
          <a:lstStyle/>
          <a:p>
            <a:pPr indent="0" marL="0">
              <a:buNone/>
            </a:pPr>
            <a:r>
              <a:rPr lang="en-US" sz="920" dirty="0">
                <a:solidFill>
                  <a:srgbClr val="111111"/>
                </a:solidFill>
              </a:rPr>
              <a:t>Emerging</a:t>
            </a:r>
            <a:endParaRPr lang="en-US" sz="920" dirty="0"/>
          </a:p>
        </p:txBody>
      </p:sp>
      <p:sp>
        <p:nvSpPr>
          <p:cNvPr id="20" name="Shape 18"/>
          <p:cNvSpPr/>
          <p:nvPr/>
        </p:nvSpPr>
        <p:spPr>
          <a:xfrm>
            <a:off x="9738360" y="2459736"/>
            <a:ext cx="786384" cy="274320"/>
          </a:xfrm>
          <a:prstGeom prst="rect">
            <a:avLst/>
          </a:prstGeom>
          <a:solidFill>
            <a:srgbClr val="A8C7B2"/>
          </a:solidFill>
          <a:ln w="15240">
            <a:solidFill>
              <a:srgbClr val="FFFFFF"/>
            </a:solidFill>
            <a:prstDash val="solid"/>
          </a:ln>
        </p:spPr>
      </p:sp>
      <p:sp>
        <p:nvSpPr>
          <p:cNvPr id="21" name="Text 19"/>
          <p:cNvSpPr/>
          <p:nvPr/>
        </p:nvSpPr>
        <p:spPr>
          <a:xfrm>
            <a:off x="9738360" y="2505456"/>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2" name="Text 20"/>
          <p:cNvSpPr/>
          <p:nvPr/>
        </p:nvSpPr>
        <p:spPr>
          <a:xfrm>
            <a:off x="8430768" y="2999232"/>
            <a:ext cx="1298448" cy="182880"/>
          </a:xfrm>
          <a:prstGeom prst="rect">
            <a:avLst/>
          </a:prstGeom>
          <a:noFill/>
          <a:ln/>
        </p:spPr>
        <p:txBody>
          <a:bodyPr wrap="square" lIns="0" tIns="0" rIns="0" bIns="0" rtlCol="0" anchor="ctr"/>
          <a:lstStyle/>
          <a:p>
            <a:pPr indent="0" marL="0">
              <a:buNone/>
            </a:pPr>
            <a:r>
              <a:rPr lang="en-US" sz="920" dirty="0">
                <a:solidFill>
                  <a:srgbClr val="111111"/>
                </a:solidFill>
              </a:rPr>
              <a:t>Scientific</a:t>
            </a:r>
            <a:endParaRPr lang="en-US" sz="920" dirty="0"/>
          </a:p>
        </p:txBody>
      </p:sp>
      <p:sp>
        <p:nvSpPr>
          <p:cNvPr id="23" name="Shape 21"/>
          <p:cNvSpPr/>
          <p:nvPr/>
        </p:nvSpPr>
        <p:spPr>
          <a:xfrm>
            <a:off x="9738360" y="2953512"/>
            <a:ext cx="786384" cy="274320"/>
          </a:xfrm>
          <a:prstGeom prst="rect">
            <a:avLst/>
          </a:prstGeom>
          <a:solidFill>
            <a:srgbClr val="A8C7B2"/>
          </a:solidFill>
          <a:ln w="15240">
            <a:solidFill>
              <a:srgbClr val="FFFFFF"/>
            </a:solidFill>
            <a:prstDash val="solid"/>
          </a:ln>
        </p:spPr>
      </p:sp>
      <p:sp>
        <p:nvSpPr>
          <p:cNvPr id="24" name="Text 22"/>
          <p:cNvSpPr/>
          <p:nvPr/>
        </p:nvSpPr>
        <p:spPr>
          <a:xfrm>
            <a:off x="9738360" y="2999232"/>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5" name="Text 23"/>
          <p:cNvSpPr/>
          <p:nvPr/>
        </p:nvSpPr>
        <p:spPr>
          <a:xfrm>
            <a:off x="8430768" y="3493008"/>
            <a:ext cx="1298448" cy="182880"/>
          </a:xfrm>
          <a:prstGeom prst="rect">
            <a:avLst/>
          </a:prstGeom>
          <a:noFill/>
          <a:ln/>
        </p:spPr>
        <p:txBody>
          <a:bodyPr wrap="square" lIns="0" tIns="0" rIns="0" bIns="0" rtlCol="0" anchor="ctr"/>
          <a:lstStyle/>
          <a:p>
            <a:pPr indent="0" marL="0">
              <a:buNone/>
            </a:pPr>
            <a:r>
              <a:rPr lang="en-US" sz="920" dirty="0">
                <a:solidFill>
                  <a:srgbClr val="111111"/>
                </a:solidFill>
              </a:rPr>
              <a:t>Adoption</a:t>
            </a:r>
            <a:endParaRPr lang="en-US" sz="920" dirty="0"/>
          </a:p>
        </p:txBody>
      </p:sp>
      <p:sp>
        <p:nvSpPr>
          <p:cNvPr id="26" name="Shape 24"/>
          <p:cNvSpPr/>
          <p:nvPr/>
        </p:nvSpPr>
        <p:spPr>
          <a:xfrm>
            <a:off x="9738360" y="3447288"/>
            <a:ext cx="786384" cy="274320"/>
          </a:xfrm>
          <a:prstGeom prst="rect">
            <a:avLst/>
          </a:prstGeom>
          <a:solidFill>
            <a:srgbClr val="A8C7B2"/>
          </a:solidFill>
          <a:ln w="15240">
            <a:solidFill>
              <a:srgbClr val="FFFFFF"/>
            </a:solidFill>
            <a:prstDash val="solid"/>
          </a:ln>
        </p:spPr>
      </p:sp>
      <p:sp>
        <p:nvSpPr>
          <p:cNvPr id="27" name="Text 25"/>
          <p:cNvSpPr/>
          <p:nvPr/>
        </p:nvSpPr>
        <p:spPr>
          <a:xfrm>
            <a:off x="9738360" y="3493008"/>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Mid</a:t>
            </a:r>
            <a:endParaRPr lang="en-US" sz="750" dirty="0"/>
          </a:p>
        </p:txBody>
      </p:sp>
      <p:sp>
        <p:nvSpPr>
          <p:cNvPr id="28" name="Text 26"/>
          <p:cNvSpPr/>
          <p:nvPr/>
        </p:nvSpPr>
        <p:spPr>
          <a:xfrm>
            <a:off x="8430768" y="3986784"/>
            <a:ext cx="1298448" cy="182880"/>
          </a:xfrm>
          <a:prstGeom prst="rect">
            <a:avLst/>
          </a:prstGeom>
          <a:noFill/>
          <a:ln/>
        </p:spPr>
        <p:txBody>
          <a:bodyPr wrap="square" lIns="0" tIns="0" rIns="0" bIns="0" rtlCol="0" anchor="ctr"/>
          <a:lstStyle/>
          <a:p>
            <a:pPr indent="0" marL="0">
              <a:buNone/>
            </a:pPr>
            <a:r>
              <a:rPr lang="en-US" sz="920" dirty="0">
                <a:solidFill>
                  <a:srgbClr val="111111"/>
                </a:solidFill>
              </a:rPr>
              <a:t>Recognition</a:t>
            </a:r>
            <a:endParaRPr lang="en-US" sz="920" dirty="0"/>
          </a:p>
        </p:txBody>
      </p:sp>
      <p:sp>
        <p:nvSpPr>
          <p:cNvPr id="29" name="Shape 27"/>
          <p:cNvSpPr/>
          <p:nvPr/>
        </p:nvSpPr>
        <p:spPr>
          <a:xfrm>
            <a:off x="9738360" y="3941064"/>
            <a:ext cx="786384" cy="274320"/>
          </a:xfrm>
          <a:prstGeom prst="rect">
            <a:avLst/>
          </a:prstGeom>
          <a:solidFill>
            <a:srgbClr val="2F6B4F"/>
          </a:solidFill>
          <a:ln w="15240">
            <a:solidFill>
              <a:srgbClr val="FFFFFF"/>
            </a:solidFill>
            <a:prstDash val="solid"/>
          </a:ln>
        </p:spPr>
      </p:sp>
      <p:sp>
        <p:nvSpPr>
          <p:cNvPr id="30" name="Text 28"/>
          <p:cNvSpPr/>
          <p:nvPr/>
        </p:nvSpPr>
        <p:spPr>
          <a:xfrm>
            <a:off x="9738360" y="3986784"/>
            <a:ext cx="786384" cy="146304"/>
          </a:xfrm>
          <a:prstGeom prst="rect">
            <a:avLst/>
          </a:prstGeom>
          <a:noFill/>
          <a:ln/>
        </p:spPr>
        <p:txBody>
          <a:bodyPr wrap="square" lIns="0" tIns="0" rIns="0" bIns="0" rtlCol="0" anchor="ctr"/>
          <a:lstStyle/>
          <a:p>
            <a:pPr algn="ctr" indent="0" marL="0">
              <a:buNone/>
            </a:pPr>
            <a:r>
              <a:rPr lang="en-US" sz="750" b="1" dirty="0">
                <a:solidFill>
                  <a:srgbClr val="FFFFFF"/>
                </a:solidFill>
              </a:rPr>
              <a:t>Top</a:t>
            </a:r>
            <a:endParaRPr lang="en-US" sz="750" dirty="0"/>
          </a:p>
        </p:txBody>
      </p:sp>
      <p:sp>
        <p:nvSpPr>
          <p:cNvPr id="31" name="Text 29"/>
          <p:cNvSpPr/>
          <p:nvPr/>
        </p:nvSpPr>
        <p:spPr>
          <a:xfrm>
            <a:off x="8430768" y="4480560"/>
            <a:ext cx="1298448" cy="182880"/>
          </a:xfrm>
          <a:prstGeom prst="rect">
            <a:avLst/>
          </a:prstGeom>
          <a:noFill/>
          <a:ln/>
        </p:spPr>
        <p:txBody>
          <a:bodyPr wrap="square" lIns="0" tIns="0" rIns="0" bIns="0" rtlCol="0" anchor="ctr"/>
          <a:lstStyle/>
          <a:p>
            <a:pPr indent="0" marL="0">
              <a:buNone/>
            </a:pPr>
            <a:r>
              <a:rPr lang="en-US" sz="920" dirty="0">
                <a:solidFill>
                  <a:srgbClr val="111111"/>
                </a:solidFill>
              </a:rPr>
              <a:t>Overall</a:t>
            </a:r>
            <a:endParaRPr lang="en-US" sz="920" dirty="0"/>
          </a:p>
        </p:txBody>
      </p:sp>
      <p:sp>
        <p:nvSpPr>
          <p:cNvPr id="32" name="Shape 30"/>
          <p:cNvSpPr/>
          <p:nvPr/>
        </p:nvSpPr>
        <p:spPr>
          <a:xfrm>
            <a:off x="9738360" y="4434840"/>
            <a:ext cx="786384" cy="274320"/>
          </a:xfrm>
          <a:prstGeom prst="rect">
            <a:avLst/>
          </a:prstGeom>
          <a:solidFill>
            <a:srgbClr val="E7EBE8"/>
          </a:solidFill>
          <a:ln w="15240">
            <a:solidFill>
              <a:srgbClr val="FFFFFF"/>
            </a:solidFill>
            <a:prstDash val="solid"/>
          </a:ln>
        </p:spPr>
      </p:sp>
      <p:sp>
        <p:nvSpPr>
          <p:cNvPr id="33" name="Text 31"/>
          <p:cNvSpPr/>
          <p:nvPr/>
        </p:nvSpPr>
        <p:spPr>
          <a:xfrm>
            <a:off x="9738360" y="4480560"/>
            <a:ext cx="786384" cy="146304"/>
          </a:xfrm>
          <a:prstGeom prst="rect">
            <a:avLst/>
          </a:prstGeom>
          <a:noFill/>
          <a:ln/>
        </p:spPr>
        <p:txBody>
          <a:bodyPr wrap="square" lIns="0" tIns="0" rIns="0" bIns="0" rtlCol="0" anchor="ctr"/>
          <a:lstStyle/>
          <a:p>
            <a:pPr algn="ctr" indent="0" marL="0">
              <a:buNone/>
            </a:pPr>
            <a:r>
              <a:rPr lang="en-US" sz="750" b="1" dirty="0">
                <a:solidFill>
                  <a:srgbClr val="111111"/>
                </a:solidFill>
              </a:rPr>
              <a:t>Low</a:t>
            </a:r>
            <a:endParaRPr lang="en-US" sz="750" dirty="0"/>
          </a:p>
        </p:txBody>
      </p:sp>
      <p:sp>
        <p:nvSpPr>
          <p:cNvPr id="34" name="Shape 32"/>
          <p:cNvSpPr/>
          <p:nvPr/>
        </p:nvSpPr>
        <p:spPr>
          <a:xfrm>
            <a:off x="8430768" y="5102352"/>
            <a:ext cx="2971800" cy="0"/>
          </a:xfrm>
          <a:prstGeom prst="line">
            <a:avLst/>
          </a:prstGeom>
          <a:noFill/>
          <a:ln w="8890">
            <a:solidFill>
              <a:srgbClr val="CCD4DA"/>
            </a:solidFill>
            <a:prstDash val="solid"/>
          </a:ln>
        </p:spPr>
      </p:sp>
      <p:sp>
        <p:nvSpPr>
          <p:cNvPr id="35" name="Text 33"/>
          <p:cNvSpPr/>
          <p:nvPr/>
        </p:nvSpPr>
        <p:spPr>
          <a:xfrm>
            <a:off x="8430768" y="5193792"/>
            <a:ext cx="2971800" cy="201168"/>
          </a:xfrm>
          <a:prstGeom prst="rect">
            <a:avLst/>
          </a:prstGeom>
          <a:noFill/>
          <a:ln/>
        </p:spPr>
        <p:txBody>
          <a:bodyPr wrap="square" lIns="0" tIns="0" rIns="0" bIns="0" rtlCol="0" anchor="ctr">
            <a:normAutofit/>
          </a:bodyPr>
          <a:lstStyle/>
          <a:p>
            <a:pPr indent="0" marL="0">
              <a:buNone/>
            </a:pPr>
            <a:r>
              <a:rPr lang="en-US" sz="740" i="1" dirty="0">
                <a:solidFill>
                  <a:srgbClr val="56616B"/>
                </a:solidFill>
              </a:rPr>
              <a:t>Color indicates relative peer position; not an absolute innovation score.</a:t>
            </a:r>
            <a:endParaRPr lang="en-US" sz="740" dirty="0"/>
          </a:p>
        </p:txBody>
      </p:sp>
      <p:sp>
        <p:nvSpPr>
          <p:cNvPr id="36" name="Shape 34"/>
          <p:cNvSpPr/>
          <p:nvPr/>
        </p:nvSpPr>
        <p:spPr>
          <a:xfrm>
            <a:off x="384048" y="5715000"/>
            <a:ext cx="11064240" cy="457200"/>
          </a:xfrm>
          <a:prstGeom prst="rect">
            <a:avLst/>
          </a:prstGeom>
          <a:solidFill>
            <a:srgbClr val="050505"/>
          </a:solidFill>
          <a:ln w="12700">
            <a:solidFill>
              <a:srgbClr val="050505"/>
            </a:solidFill>
            <a:prstDash val="solid"/>
          </a:ln>
        </p:spPr>
      </p:sp>
      <p:sp>
        <p:nvSpPr>
          <p:cNvPr id="37" name="Text 35"/>
          <p:cNvSpPr/>
          <p:nvPr/>
        </p:nvSpPr>
        <p:spPr>
          <a:xfrm>
            <a:off x="548640" y="5815584"/>
            <a:ext cx="10744200" cy="201168"/>
          </a:xfrm>
          <a:prstGeom prst="rect">
            <a:avLst/>
          </a:prstGeom>
          <a:noFill/>
          <a:ln/>
        </p:spPr>
        <p:txBody>
          <a:bodyPr wrap="square" lIns="0" tIns="0" rIns="0" bIns="0" rtlCol="0" anchor="ctr">
            <a:normAutofit/>
          </a:bodyPr>
          <a:lstStyle/>
          <a:p>
            <a:pPr indent="0" marL="0">
              <a:buNone/>
            </a:pPr>
            <a:r>
              <a:rPr lang="en-US" sz="1040" b="1" dirty="0">
                <a:solidFill>
                  <a:srgbClr val="FFFFFF"/>
                </a:solidFill>
              </a:rPr>
              <a:t>Bottom takeaway | Waters looks like an IP/recognition-led innovator today, with BD Biosciences offering a possible future expansion of its life-science adoption profile.</a:t>
            </a:r>
            <a:endParaRPr lang="en-US" sz="1040" dirty="0"/>
          </a:p>
        </p:txBody>
      </p:sp>
      <p:sp>
        <p:nvSpPr>
          <p:cNvPr id="25" name="Slide Number Placeholder 0"/>
          <p:cNvSpPr>
            <a:spLocks noGrp="1"/>
          </p:cNvSpPr>
          <p:nvPr>
            <p:ph type="sldNum" sz="quarter" idx="4294967295"/>
          </p:nvPr>
        </p:nvSpPr>
        <p:spPr>
          <a:xfrm>
            <a:off x="11548872" y="635508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B828A"/>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Bernstein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Profile Company Deep Dives</dc:title>
  <dc:subject>Company innovation profile deep-dive slides</dc:subject>
  <dc:creator>OpenAI</dc:creator>
  <cp:lastModifiedBy>OpenAI</cp:lastModifiedBy>
  <cp:revision>1</cp:revision>
  <dcterms:created xsi:type="dcterms:W3CDTF">2026-08-10T12:23:23Z</dcterms:created>
  <dcterms:modified xsi:type="dcterms:W3CDTF">2026-08-10T12:23:23Z</dcterms:modified>
</cp:coreProperties>
</file>