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~20 seconds. Open with the common thread: the summer was not only about completing research tasks; it was about building repeatable infrastructure that turns messy sector information into differentiated, investable 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seconds. This is the thesis slide. Emphasize that the same skill set connected every project: structuring ambiguous information, validating it, and making the output useful to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seconds. Keep this high-level for the Director of Research and HR. The point is that the proprietary projects were not isolated side projects; they were developed inside the live cadence of coverage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seconds. Tie each value to a concrete action. Avoid making this feel like a values recitation; use it to frame how you approached research.
[Sources]
- https://www.bernsteinresearch.com/About/ — Bernstein Research values: Intellectual Curiosity, Collaboration, Integrity and Entrepreneurial culture.
- https://www.bernstein.com/what-we-do/investment-research.html — Bernstein’s emphasis on the “so what” and the implications for investment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seconds. Transition: the first major project started from a sector-specific problem—there was limited clean quantitative evidence on the timing and shape of recovery.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~55 seconds. Explain the sector in plain language for a mixed audience. Emphasize that the value comes from consistent coding across companies—not from any one quote.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 once the final exhibit is inserted. Use the slide to tell one longitudinal story—not to narrate every cell. A strong story could be: consumables destocking fades, while China or policy concerns remain mixed.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seconds. Choose only three or four themes for the live presentation. Insert one representative management quote or a small count by theme if it improves credibility.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seconds. This is the “why it matters” slide. Pick one concrete example from the final tracker and explain how it changed or sharpened the team’s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seconds. Transition: the second major project addressed a different research problem—how to compare innovation consistently across tools companies when product launch disclosure is incomplete.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 seconds. This slide should make the project feel commercially motivated, not technical for its own sake. The key improvement is broader, more comparable evidence—not merely more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~55 seconds. Keep this conceptual. Explain why each category adds a different piece of evidence. Avoid explaining every scraper here—the next slide covers the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~55 seconds. Explain only the architecture at a high level. The audience does not need code details; the message is that the process is robust enough to refresh and extend.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~35 seconds. This is a framing slide, not a data slide. Replace one or more panels with the final strongest exhibits, or move the selected exhibits to standalone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 after the final heatmap is inserted. Lead with two or three company archetypes rather than reading the ranking from top to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~35 seconds. This slide is optional in the final live deck. Once the analysis is complete, replace the hypotheses with validated conclusions or remove it if the heatmap slide carries the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~55 seconds. Briefly show breadth, but do not let this become a task list. The message is that you contributed to live publishing and learned the cadence of the research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~55 seconds. This is the personal reflection slide. Make it specific: mention one moment when you had to choose a defensible method rather than wait for perfect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~25 seconds. Close on the research mindset you want the audience to remember: curiosity, creativity, rigor and commercial usefulness.
[Sources]
- https://www.bernsteinresearch.com/About/ — Bernstein founder quote and research-culture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guidance: keep row order purposeful; use the same scoring scale across columns; show raw values in backup; write one takeaway sentence rather than narrating the full 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guidance: the headline should state the conclusion, the chart should prove it, and the right-hand box should explain why it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guidance: keep identical scales if possible; use the same company order when the purpose is direct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guidance: reserve KPIs for denominators, total market size or sample quality—not for repeating the main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guidance: with a small peer set, emphasize direction and residuals rather than p-values or complex modeling.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guidance: avoid overloading the slide with quotes. Use one quote or paraphrase per theme and explain the longitudinal implication.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guidance: use this slide to establish trust, not to explain code. Limit the main text to the few controls that materially affect interpretation.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guidance: use for raw values and definitions. Do not put the full source table in the main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BERNSTEIN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29768" y="38404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spc="1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SOCIETE GENERALE GROUP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411480" y="6565392"/>
            <a:ext cx="11338560" cy="0"/>
          </a:xfrm>
          <a:prstGeom prst="line">
            <a:avLst/>
          </a:prstGeom>
          <a:noFill/>
          <a:ln w="8890">
            <a:solidFill>
              <a:srgbClr val="D7D9D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07792"/>
            <a:ext cx="11292840" cy="3401568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7728" y="749808"/>
            <a:ext cx="4517136" cy="43159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27940" dist="15240" dir="2700000">
              <a:srgbClr val="00000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119104" y="384048"/>
            <a:ext cx="548640" cy="4069080"/>
          </a:xfrm>
          <a:prstGeom prst="rect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BERNSTEIN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93776" y="877824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SOCIETE GENERALE GROUP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205472" y="1225296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US Life Science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Tools &amp; Diagnostics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7214616" y="2679192"/>
            <a:ext cx="3246120" cy="0"/>
          </a:xfrm>
          <a:prstGeom prst="line">
            <a:avLst/>
          </a:prstGeom>
          <a:noFill/>
          <a:ln w="2032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05472" y="2944368"/>
            <a:ext cx="3685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Building Differentiated Research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Through Proprietary Data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205472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Bernstein Summer Internship 2026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51560" y="4800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August 2026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1560" y="55321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Justin Curcio  |  Equity Research Intern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58795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Sector commentary • Innovation analytics • Coverage execution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focused on building research edge while contributing to live coverage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connected outcomes defined the summer.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21792" y="1901952"/>
            <a:ext cx="3429000" cy="3429000"/>
          </a:xfrm>
          <a:prstGeom prst="roundRect">
            <a:avLst>
              <a:gd name="adj" fmla="val 1600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901952"/>
            <a:ext cx="73152" cy="3429000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6654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1  Built proprietary research infrastructure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404872"/>
            <a:ext cx="3044952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5282B"/>
                </a:solidFill>
              </a:rPr>
              <a:t>• Restored and expanded a longitudinal sector commentary tracker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5282B"/>
                </a:solidFill>
              </a:rPr>
              <a:t>• Created a multi-source innovation dataset across publications, patents, NIH awards, talent and R&amp;D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5282B"/>
                </a:solidFill>
              </a:rPr>
              <a:t>• Designed outputs to be auditable, repeatable and reusable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361688" y="1901952"/>
            <a:ext cx="3429000" cy="3429000"/>
          </a:xfrm>
          <a:prstGeom prst="roundRect">
            <a:avLst>
              <a:gd name="adj" fmla="val 1600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61688" y="1901952"/>
            <a:ext cx="73152" cy="3429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2856" y="206654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2  Supported live equity research execution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62856" y="2404872"/>
            <a:ext cx="3044952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5282B"/>
                </a:solidFill>
              </a:rPr>
              <a:t>• Helped resume coverage across eight companies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5282B"/>
                </a:solidFill>
              </a:rPr>
              <a:t>• Contributed to seven earnings notes and call-readout sections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5282B"/>
                </a:solidFill>
              </a:rPr>
              <a:t>• Built and refreshed exhibits, tracked guidance and supported call preparation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092440" y="1901952"/>
            <a:ext cx="3429000" cy="3429000"/>
          </a:xfrm>
          <a:prstGeom prst="roundRect">
            <a:avLst>
              <a:gd name="adj" fmla="val 1600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901952"/>
            <a:ext cx="73152" cy="3429000"/>
          </a:xfrm>
          <a:prstGeom prst="rect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206654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3  Developed a differentiated research mindset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3608" y="2404872"/>
            <a:ext cx="3044952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5282B"/>
                </a:solidFill>
              </a:rPr>
              <a:t>• Learned to interpret noisy, incomplete evidence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5282B"/>
                </a:solidFill>
              </a:rPr>
              <a:t>• Balanced scientific rigor with commercial relevance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5282B"/>
                </a:solidFill>
              </a:rPr>
              <a:t>• Improved speed, writing clarity and judgment under deadline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502920" y="6007608"/>
            <a:ext cx="11183112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6099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strongest contribution was converting fragmented information into structured evidence the team can revisit quarter after quarter.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 SCOPE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work spanned the full research workflow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proprietary projects were built alongside initiation, earnings and recurring team support.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9264" y="2441448"/>
            <a:ext cx="10241280" cy="0"/>
          </a:xfrm>
          <a:prstGeom prst="line">
            <a:avLst/>
          </a:prstGeom>
          <a:noFill/>
          <a:ln w="25400">
            <a:solidFill>
              <a:srgbClr val="C8C9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2276856"/>
            <a:ext cx="347472" cy="347472"/>
          </a:xfrm>
          <a:prstGeom prst="ellipse">
            <a:avLst/>
          </a:prstGeom>
          <a:solidFill>
            <a:srgbClr val="000000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9202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00" kern="0" dirty="0">
                <a:solidFill>
                  <a:srgbClr val="0B5486"/>
                </a:solidFill>
              </a:rPr>
              <a:t>EARLY SUMMER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40080" y="280720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</a:rPr>
              <a:t>Coverage resumption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640080" y="3355848"/>
            <a:ext cx="19019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Tracker reconstruction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NIH funding work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Thesis &amp; valuation slides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90088" y="2276856"/>
            <a:ext cx="347472" cy="347472"/>
          </a:xfrm>
          <a:prstGeom prst="ellipse">
            <a:avLst/>
          </a:prstGeom>
          <a:solidFill>
            <a:srgbClr val="1E9DD2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52928" y="19202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00" kern="0" dirty="0">
                <a:solidFill>
                  <a:srgbClr val="0B5486"/>
                </a:solidFill>
              </a:rPr>
              <a:t>THROUGHOUT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2779776" y="280720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</a:rPr>
              <a:t>Sector commentary tracker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2779776" y="3355848"/>
            <a:ext cx="19019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Transcript coding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Boogeyman expansion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Longitudinal exhibits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29784" y="2276856"/>
            <a:ext cx="347472" cy="347472"/>
          </a:xfrm>
          <a:prstGeom prst="ellipse">
            <a:avLst/>
          </a:prstGeom>
          <a:solidFill>
            <a:srgbClr val="000000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92624" y="19202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00" kern="0" dirty="0">
                <a:solidFill>
                  <a:srgbClr val="0B5486"/>
                </a:solidFill>
              </a:rPr>
              <a:t>EARNINGS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4919472" y="280720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</a:rPr>
              <a:t>Q2 execution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4919472" y="3355848"/>
            <a:ext cx="19019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Seven notes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Call takeaways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Guidance &amp; exhibit updates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69480" y="2276856"/>
            <a:ext cx="347472" cy="347472"/>
          </a:xfrm>
          <a:prstGeom prst="ellipse">
            <a:avLst/>
          </a:prstGeom>
          <a:solidFill>
            <a:srgbClr val="1E9DD2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19202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00" kern="0" dirty="0">
                <a:solidFill>
                  <a:srgbClr val="0B5486"/>
                </a:solidFill>
              </a:rPr>
              <a:t>LATER SUMMER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7059168" y="280720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</a:rPr>
              <a:t>Innovation analysis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7059168" y="3355848"/>
            <a:ext cx="19019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Scrapers &amp; data cleaning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Metric design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Scoring framework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409176" y="2276856"/>
            <a:ext cx="347472" cy="347472"/>
          </a:xfrm>
          <a:prstGeom prst="ellipse">
            <a:avLst/>
          </a:prstGeom>
          <a:solidFill>
            <a:srgbClr val="000000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72016" y="19202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00" kern="0" dirty="0">
                <a:solidFill>
                  <a:srgbClr val="0B5486"/>
                </a:solidFill>
              </a:rPr>
              <a:t>ONGOING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9198864" y="280720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</a:rPr>
              <a:t>Research support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9198864" y="3355848"/>
            <a:ext cx="19019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Call prep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Webinars &amp; symposiums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Policy / market work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51560" y="4892040"/>
            <a:ext cx="10104120" cy="804672"/>
          </a:xfrm>
          <a:prstGeom prst="roundRect">
            <a:avLst>
              <a:gd name="adj" fmla="val 6818"/>
            </a:avLst>
          </a:prstGeom>
          <a:solidFill>
            <a:srgbClr val="DFF2FA"/>
          </a:solidFill>
          <a:ln w="12700">
            <a:solidFill>
              <a:srgbClr val="A9DD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1560" y="4892040"/>
            <a:ext cx="73152" cy="80467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52728" y="5056632"/>
            <a:ext cx="9738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The common thread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52728" y="5394960"/>
            <a:ext cx="9720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5282B"/>
                </a:solidFill>
              </a:rPr>
              <a:t>Every project required turning incomplete, qualitative or inconsistently disclosed information into a structured view of the investment debate.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BERNSTEIN VALUES IN PRACTICE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projects reflected how Bernstein defines differentiated research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tried to translate the firm’s research culture into specific working habits.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084832" cy="3218688"/>
          </a:xfrm>
          <a:prstGeom prst="roundRect">
            <a:avLst>
              <a:gd name="adj" fmla="val 2632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74520"/>
            <a:ext cx="2084832" cy="91440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7627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00000"/>
                </a:solidFill>
              </a:rPr>
              <a:t>INTELLECTUAL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000000"/>
                </a:solidFill>
              </a:rPr>
              <a:t>CURIOSITY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667512" y="2926080"/>
            <a:ext cx="17556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Asked bigger questions when conventional sector data was insufficient.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2807208" y="1874520"/>
            <a:ext cx="2084832" cy="3218688"/>
          </a:xfrm>
          <a:prstGeom prst="roundRect">
            <a:avLst>
              <a:gd name="adj" fmla="val 2632"/>
            </a:avLst>
          </a:prstGeom>
          <a:solidFill>
            <a:srgbClr val="F7F7F7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07208" y="1874520"/>
            <a:ext cx="2084832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44368" y="217627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00000"/>
                </a:solidFill>
              </a:rPr>
              <a:t>ENTREPRENEURIAL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2971800" y="2926080"/>
            <a:ext cx="17556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Built new trackers, scrapers and analytical frameworks rather than accepting process gaps.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5111496" y="1874520"/>
            <a:ext cx="2084832" cy="3218688"/>
          </a:xfrm>
          <a:prstGeom prst="roundRect">
            <a:avLst>
              <a:gd name="adj" fmla="val 2632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11496" y="1874520"/>
            <a:ext cx="2084832" cy="91440"/>
          </a:xfrm>
          <a:prstGeom prst="rect">
            <a:avLst/>
          </a:prstGeom>
          <a:solidFill>
            <a:srgbClr val="0B5486"/>
          </a:solidFill>
          <a:ln w="12700">
            <a:solidFill>
              <a:srgbClr val="0B54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48656" y="217627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00000"/>
                </a:solidFill>
              </a:rPr>
              <a:t>INTEGRITY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5276088" y="2926080"/>
            <a:ext cx="17556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Used conservative attribution, audit trails and transparent assumptions to “get it right.”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7415784" y="1874520"/>
            <a:ext cx="2084832" cy="3218688"/>
          </a:xfrm>
          <a:prstGeom prst="roundRect">
            <a:avLst>
              <a:gd name="adj" fmla="val 2632"/>
            </a:avLst>
          </a:prstGeom>
          <a:solidFill>
            <a:srgbClr val="F7F7F7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15784" y="1874520"/>
            <a:ext cx="2084832" cy="91440"/>
          </a:xfrm>
          <a:prstGeom prst="rect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52944" y="217627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00000"/>
                </a:solidFill>
              </a:rPr>
              <a:t>COLLABORATION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7580376" y="2926080"/>
            <a:ext cx="17556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Designed outputs around the analyst and associate workflow—not as standalone academic exercises.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9720072" y="1874520"/>
            <a:ext cx="2084832" cy="3218688"/>
          </a:xfrm>
          <a:prstGeom prst="roundRect">
            <a:avLst>
              <a:gd name="adj" fmla="val 2632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20072" y="1874520"/>
            <a:ext cx="2084832" cy="91440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57232" y="217627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00000"/>
                </a:solidFill>
              </a:rPr>
              <a:t>CLIENT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000000"/>
                </a:solidFill>
              </a:rPr>
              <a:t>RELEVANCE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9884664" y="2926080"/>
            <a:ext cx="17556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Focused on the “so what”: what changes the debate, expectations or confidence in recovery.</a:t>
            </a:r>
            <a:endParaRPr lang="en-US" sz="1060" dirty="0"/>
          </a:p>
        </p:txBody>
      </p:sp>
      <p:sp>
        <p:nvSpPr>
          <p:cNvPr id="25" name="Text 23"/>
          <p:cNvSpPr/>
          <p:nvPr/>
        </p:nvSpPr>
        <p:spPr>
          <a:xfrm>
            <a:off x="301752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B5486"/>
                </a:solidFill>
              </a:rPr>
              <a:t>“We ask more (and bigger) questions.”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2920" y="6007608"/>
            <a:ext cx="11183112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6099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differentiator was not simply collecting more data—it was creating a defensible process for asking better questions.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50208"/>
            <a:ext cx="6812280" cy="290779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03720" y="676656"/>
            <a:ext cx="4507992" cy="5257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73384" y="274320"/>
            <a:ext cx="475488" cy="5074920"/>
          </a:xfrm>
          <a:prstGeom prst="rect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5720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BERNSTEIN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30352" y="8961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SOCIETE GENERALE GROUP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50608" y="960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E9DD2"/>
                </a:solidFill>
              </a:rPr>
              <a:t>PROPRIETARY PROJECT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50608" y="1399032"/>
            <a:ext cx="3611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Sector Commentary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Tracker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150608" y="3246120"/>
            <a:ext cx="32461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50608" y="3493008"/>
            <a:ext cx="34930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Turning management language into longitudinal sector evidence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COMMENTARY TRACKER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quantitative data is sparse, management language becomes data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tracker makes qualitative commentary comparable across companies and over time.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47088"/>
            <a:ext cx="2971800" cy="3493008"/>
          </a:xfrm>
          <a:prstGeom prst="roundRect">
            <a:avLst>
              <a:gd name="adj" fmla="val 1846"/>
            </a:avLst>
          </a:prstGeom>
          <a:solidFill>
            <a:srgbClr val="FFF9F8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847088"/>
            <a:ext cx="73152" cy="3493008"/>
          </a:xfrm>
          <a:prstGeom prst="rect">
            <a:avLst/>
          </a:prstGeom>
          <a:solidFill>
            <a:srgbClr val="D95A4E"/>
          </a:solidFill>
          <a:ln w="12700">
            <a:solidFill>
              <a:srgbClr val="D95A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0116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The problem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" y="2350008"/>
            <a:ext cx="258775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5282B"/>
                </a:solidFill>
              </a:rPr>
              <a:t>• The sector has faced an uneven, multi-quarter recovery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5282B"/>
                </a:solidFill>
              </a:rPr>
              <a:t>• Reported numbers alone do not explain confidence, timing or breadth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5282B"/>
                </a:solidFill>
              </a:rPr>
              <a:t>• Each company frames the same market differently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5282B"/>
                </a:solidFill>
              </a:rPr>
              <a:t>• Valuable signals are buried across calls, transcripts and events</a:t>
            </a:r>
            <a:endParaRPr lang="en-US" sz="1110" dirty="0"/>
          </a:p>
        </p:txBody>
      </p:sp>
      <p:sp>
        <p:nvSpPr>
          <p:cNvPr id="9" name="Shape 7"/>
          <p:cNvSpPr/>
          <p:nvPr/>
        </p:nvSpPr>
        <p:spPr>
          <a:xfrm>
            <a:off x="3886200" y="1892808"/>
            <a:ext cx="384048" cy="384048"/>
          </a:xfrm>
          <a:prstGeom prst="ellipse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9659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98264" y="18470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</a:rPr>
              <a:t>Collect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58968" y="1847088"/>
            <a:ext cx="271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5282B"/>
                </a:solidFill>
              </a:rPr>
              <a:t>Earnings calls, conferences, webinars and sector events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3886200" y="2734056"/>
            <a:ext cx="384048" cy="384048"/>
          </a:xfrm>
          <a:prstGeom prst="ellipse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280720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98264" y="26883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</a:rPr>
              <a:t>Code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58968" y="2688336"/>
            <a:ext cx="271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5282B"/>
                </a:solidFill>
              </a:rPr>
              <a:t>Positive / negative / mixed by company and concern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3886200" y="3575304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364845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98264" y="35295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</a:rPr>
              <a:t>Compare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58968" y="3529584"/>
            <a:ext cx="271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5282B"/>
                </a:solidFill>
              </a:rPr>
              <a:t>Quarterly snapshot plus longitudinal change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3886200" y="4416552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448970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98264" y="43708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</a:rPr>
              <a:t>Interpret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58968" y="4370832"/>
            <a:ext cx="271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5282B"/>
                </a:solidFill>
              </a:rPr>
              <a:t>Sector health, turning points and emerging risks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8549640" y="1847088"/>
            <a:ext cx="2971800" cy="3493008"/>
          </a:xfrm>
          <a:prstGeom prst="roundRect">
            <a:avLst>
              <a:gd name="adj" fmla="val 1846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549640" y="1847088"/>
            <a:ext cx="73152" cy="3493008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50808" y="20116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What the tracker covers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750808" y="2350008"/>
            <a:ext cx="258775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5282B"/>
                </a:solidFill>
              </a:rPr>
              <a:t>Inherited categories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82B"/>
                </a:solidFill>
              </a:rPr>
              <a:t>Pharma cautiousness • Biotech spend • Consumables destocking • Instrument weakness • Market recovery • China weakness • NIH / A&amp;G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82B"/>
                </a:solidFill>
              </a:rPr>
              <a:t>My additions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82B"/>
                </a:solidFill>
              </a:rPr>
              <a:t>Tariffs • MFN / reshoring • Middle East • AI—internal • AI—external market view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502920" y="6007608"/>
            <a:ext cx="11183112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6099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tracker converts isolated quotes into a repeatable view of whether the sector debate is improving, deteriorating or simply changing shape.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COMMENTARY TRACKER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Longitudinal heatmap: separating persistent headwinds from fading concerns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layout—replace the placeholder grid with the final tracker exhibit.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788920" y="191109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3Q23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392424" y="191109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4Q23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995928" y="191109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1Q24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99432" y="191109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2Q24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202936" y="191109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3Q24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806440" y="191109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4Q24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409944" y="191109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1Q25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013448" y="191109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2Q25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616952" y="191109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3Q25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220456" y="191109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4Q25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823960" y="191109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1Q26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427464" y="191109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2Q26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31520" y="23042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82B"/>
                </a:solidFill>
              </a:rPr>
              <a:t>Pharma cautiousness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88920" y="2212848"/>
            <a:ext cx="566928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92424" y="2212848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95928" y="2212848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99432" y="2212848"/>
            <a:ext cx="566928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02936" y="2212848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06440" y="2212848"/>
            <a:ext cx="566928" cy="402336"/>
          </a:xfrm>
          <a:prstGeom prst="rect">
            <a:avLst/>
          </a:prstGeom>
          <a:solidFill>
            <a:srgbClr val="D95A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9944" y="2212848"/>
            <a:ext cx="566928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13448" y="2212848"/>
            <a:ext cx="566928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16952" y="2212848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0456" y="2212848"/>
            <a:ext cx="566928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23960" y="2212848"/>
            <a:ext cx="566928" cy="402336"/>
          </a:xfrm>
          <a:prstGeom prst="rect">
            <a:avLst/>
          </a:prstGeom>
          <a:solidFill>
            <a:srgbClr val="D95A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27464" y="2212848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27432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82B"/>
                </a:solidFill>
              </a:rPr>
              <a:t>Biotech spend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88920" y="2651760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92424" y="2651760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95928" y="2651760"/>
            <a:ext cx="566928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99432" y="2651760"/>
            <a:ext cx="566928" cy="402336"/>
          </a:xfrm>
          <a:prstGeom prst="rect">
            <a:avLst/>
          </a:prstGeom>
          <a:solidFill>
            <a:srgbClr val="D95A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02936" y="2651760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06440" y="2651760"/>
            <a:ext cx="566928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9944" y="2651760"/>
            <a:ext cx="566928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13448" y="2651760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16952" y="2651760"/>
            <a:ext cx="566928" cy="402336"/>
          </a:xfrm>
          <a:prstGeom prst="rect">
            <a:avLst/>
          </a:prstGeom>
          <a:solidFill>
            <a:srgbClr val="D95A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0456" y="2651760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23960" y="2651760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427464" y="2651760"/>
            <a:ext cx="566928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318211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82B"/>
                </a:solidFill>
              </a:rPr>
              <a:t>Consumables destocking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88920" y="3090672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92424" y="3090672"/>
            <a:ext cx="566928" cy="402336"/>
          </a:xfrm>
          <a:prstGeom prst="rect">
            <a:avLst/>
          </a:prstGeom>
          <a:solidFill>
            <a:srgbClr val="D95A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995928" y="3090672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99432" y="3090672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02936" y="3090672"/>
            <a:ext cx="566928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06440" y="3090672"/>
            <a:ext cx="566928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09944" y="3090672"/>
            <a:ext cx="566928" cy="402336"/>
          </a:xfrm>
          <a:prstGeom prst="rect">
            <a:avLst/>
          </a:prstGeom>
          <a:solidFill>
            <a:srgbClr val="D95A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13448" y="3090672"/>
            <a:ext cx="566928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16952" y="3090672"/>
            <a:ext cx="566928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20456" y="3090672"/>
            <a:ext cx="566928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23960" y="3090672"/>
            <a:ext cx="566928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427464" y="3090672"/>
            <a:ext cx="566928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1520" y="362102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82B"/>
                </a:solidFill>
              </a:rPr>
              <a:t>Instrument weakness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788920" y="3529584"/>
            <a:ext cx="566928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92424" y="3529584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95928" y="3529584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99432" y="3529584"/>
            <a:ext cx="566928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202936" y="3529584"/>
            <a:ext cx="566928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06440" y="3529584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09944" y="3529584"/>
            <a:ext cx="566928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013448" y="3529584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616952" y="3529584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220456" y="3529584"/>
            <a:ext cx="566928" cy="402336"/>
          </a:xfrm>
          <a:prstGeom prst="rect">
            <a:avLst/>
          </a:prstGeom>
          <a:solidFill>
            <a:srgbClr val="D95A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23960" y="3529584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27464" y="3529584"/>
            <a:ext cx="566928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1520" y="405993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82B"/>
                </a:solidFill>
              </a:rPr>
              <a:t>China weakness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788920" y="3968496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392424" y="3968496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995928" y="3968496"/>
            <a:ext cx="566928" cy="402336"/>
          </a:xfrm>
          <a:prstGeom prst="rect">
            <a:avLst/>
          </a:prstGeom>
          <a:solidFill>
            <a:srgbClr val="D95A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599432" y="3968496"/>
            <a:ext cx="566928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202936" y="3968496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806440" y="3968496"/>
            <a:ext cx="566928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09944" y="3968496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013448" y="3968496"/>
            <a:ext cx="566928" cy="402336"/>
          </a:xfrm>
          <a:prstGeom prst="rect">
            <a:avLst/>
          </a:prstGeom>
          <a:solidFill>
            <a:srgbClr val="D95A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616952" y="3968496"/>
            <a:ext cx="566928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220456" y="3968496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823960" y="3968496"/>
            <a:ext cx="566928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427464" y="3968496"/>
            <a:ext cx="566928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31520" y="44988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82B"/>
                </a:solidFill>
              </a:rPr>
              <a:t>NIH / A&amp;G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2788920" y="4407408"/>
            <a:ext cx="566928" cy="402336"/>
          </a:xfrm>
          <a:prstGeom prst="rect">
            <a:avLst/>
          </a:prstGeom>
          <a:solidFill>
            <a:srgbClr val="D95A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392424" y="4407408"/>
            <a:ext cx="566928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995928" y="4407408"/>
            <a:ext cx="566928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599432" y="4407408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202936" y="4407408"/>
            <a:ext cx="566928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806440" y="4407408"/>
            <a:ext cx="566928" cy="402336"/>
          </a:xfrm>
          <a:prstGeom prst="rect">
            <a:avLst/>
          </a:prstGeom>
          <a:solidFill>
            <a:srgbClr val="D95A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409944" y="4407408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013448" y="4407408"/>
            <a:ext cx="566928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616952" y="4407408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220456" y="4407408"/>
            <a:ext cx="566928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823960" y="4407408"/>
            <a:ext cx="566928" cy="402336"/>
          </a:xfrm>
          <a:prstGeom prst="rect">
            <a:avLst/>
          </a:prstGeom>
          <a:solidFill>
            <a:srgbClr val="D95A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427464" y="4407408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31520" y="49377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82B"/>
                </a:solidFill>
              </a:rPr>
              <a:t>Tariffs / policy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2788920" y="4846320"/>
            <a:ext cx="566928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92424" y="4846320"/>
            <a:ext cx="566928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995928" y="4846320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599432" y="4846320"/>
            <a:ext cx="566928" cy="402336"/>
          </a:xfrm>
          <a:prstGeom prst="rect">
            <a:avLst/>
          </a:prstGeom>
          <a:solidFill>
            <a:srgbClr val="D95A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202936" y="4846320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806440" y="4846320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409944" y="4846320"/>
            <a:ext cx="566928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013448" y="4846320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616952" y="4846320"/>
            <a:ext cx="566928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220456" y="4846320"/>
            <a:ext cx="566928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823960" y="4846320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427464" y="4846320"/>
            <a:ext cx="566928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994392" y="2212848"/>
            <a:ext cx="1627632" cy="3246120"/>
          </a:xfrm>
          <a:prstGeom prst="roundRect">
            <a:avLst>
              <a:gd name="adj" fmla="val 3371"/>
            </a:avLst>
          </a:prstGeom>
          <a:solidFill>
            <a:srgbClr val="F7F7F7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0195560" y="23774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00000"/>
                </a:solidFill>
              </a:rPr>
              <a:t>What this answers</a:t>
            </a:r>
            <a:endParaRPr lang="en-US" sz="1220" dirty="0"/>
          </a:p>
        </p:txBody>
      </p:sp>
      <p:sp>
        <p:nvSpPr>
          <p:cNvPr id="110" name="Text 108"/>
          <p:cNvSpPr/>
          <p:nvPr/>
        </p:nvSpPr>
        <p:spPr>
          <a:xfrm>
            <a:off x="10195560" y="2715768"/>
            <a:ext cx="1243584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</a:rPr>
              <a:t>• Which concerns are fading?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</a:rPr>
              <a:t>• Is recovery broadening?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</a:rPr>
              <a:t>• What remains structural?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</a:rPr>
              <a:t>• Which risks are new?</a:t>
            </a:r>
            <a:endParaRPr lang="en-US" sz="980" dirty="0"/>
          </a:p>
        </p:txBody>
      </p:sp>
      <p:sp>
        <p:nvSpPr>
          <p:cNvPr id="111" name="Shape 109"/>
          <p:cNvSpPr/>
          <p:nvPr/>
        </p:nvSpPr>
        <p:spPr>
          <a:xfrm>
            <a:off x="786384" y="5513832"/>
            <a:ext cx="210312" cy="164592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060704" y="553212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76C72"/>
                </a:solidFill>
              </a:rPr>
              <a:t>Positive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1874520" y="5513832"/>
            <a:ext cx="210312" cy="164592"/>
          </a:xfrm>
          <a:prstGeom prst="rect">
            <a:avLst/>
          </a:prstGeom>
          <a:solidFill>
            <a:srgbClr val="E5B944"/>
          </a:solidFill>
          <a:ln w="12700">
            <a:solidFill>
              <a:srgbClr val="E5B944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148840" y="553212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76C72"/>
                </a:solidFill>
              </a:rPr>
              <a:t>Mixed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2788920" y="5513832"/>
            <a:ext cx="210312" cy="164592"/>
          </a:xfrm>
          <a:prstGeom prst="rect">
            <a:avLst/>
          </a:prstGeom>
          <a:solidFill>
            <a:srgbClr val="D95A4E"/>
          </a:solidFill>
          <a:ln w="12700">
            <a:solidFill>
              <a:srgbClr val="D95A4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063240" y="553212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76C72"/>
                </a:solidFill>
              </a:rPr>
              <a:t>Negative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502920" y="6007608"/>
            <a:ext cx="11183112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13232" y="6099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exhibit creates a longitudinal sector memory: a claimed recovery can be tested against how companies actually describe demand.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COMMENTARY TRACKER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snapshot: what improved, what persisted, and what emerged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layout—replace with the selected quarter and supporting quotes.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858768" y="1755648"/>
            <a:ext cx="4462272" cy="292608"/>
          </a:xfrm>
          <a:prstGeom prst="roundRect">
            <a:avLst>
              <a:gd name="adj" fmla="val 25000"/>
            </a:avLst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68496" y="1819656"/>
            <a:ext cx="4242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5A00"/>
                </a:solidFill>
              </a:rPr>
              <a:t>EDITABLE PLACEHOLDER — INSERT CURRENT-QUARTER SNAPSHOT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2212848"/>
            <a:ext cx="3474720" cy="3401568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212848"/>
            <a:ext cx="3474720" cy="566928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77440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EASING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3008376"/>
            <a:ext cx="2926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</a:rPr>
              <a:t>Consumables destocking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</a:rPr>
              <a:t>Selected biotech demand signals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161288" y="4288536"/>
            <a:ext cx="2468880" cy="0"/>
          </a:xfrm>
          <a:prstGeom prst="line">
            <a:avLst/>
          </a:prstGeom>
          <a:noFill/>
          <a:ln w="12700">
            <a:solidFill>
              <a:srgbClr val="E8EA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449884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i="1" dirty="0">
                <a:solidFill>
                  <a:srgbClr val="676C72"/>
                </a:solidFill>
              </a:rPr>
              <a:t>Replace with validated tracker evidence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4462272" y="2212848"/>
            <a:ext cx="3474720" cy="3401568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62272" y="2212848"/>
            <a:ext cx="3474720" cy="566928"/>
          </a:xfrm>
          <a:prstGeom prst="rect">
            <a:avLst/>
          </a:prstGeom>
          <a:solidFill>
            <a:srgbClr val="E5B944"/>
          </a:solidFill>
          <a:ln w="12700">
            <a:solidFill>
              <a:srgbClr val="E5B9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2377440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UNRESOLVED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36592" y="3008376"/>
            <a:ext cx="2926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</a:rPr>
              <a:t>China demand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</a:rPr>
              <a:t>Instrument replacement cycle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</a:rPr>
              <a:t>NIH / academic budgets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965192" y="4288536"/>
            <a:ext cx="2468880" cy="0"/>
          </a:xfrm>
          <a:prstGeom prst="line">
            <a:avLst/>
          </a:prstGeom>
          <a:noFill/>
          <a:ln w="12700">
            <a:solidFill>
              <a:srgbClr val="E8EA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449884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i="1" dirty="0">
                <a:solidFill>
                  <a:srgbClr val="676C72"/>
                </a:solidFill>
              </a:rPr>
              <a:t>Replace with mixed commentary and cross-company differences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266176" y="2212848"/>
            <a:ext cx="3474720" cy="3401568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66176" y="2212848"/>
            <a:ext cx="3474720" cy="566928"/>
          </a:xfrm>
          <a:prstGeom prst="rect">
            <a:avLst/>
          </a:prstGeom>
          <a:solidFill>
            <a:srgbClr val="D95A4E"/>
          </a:solidFill>
          <a:ln w="12700">
            <a:solidFill>
              <a:srgbClr val="D95A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30768" y="2377440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EMERGING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40496" y="3008376"/>
            <a:ext cx="2926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</a:rPr>
              <a:t>Tariffs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</a:rPr>
              <a:t>MFN / reshoring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</a:rPr>
              <a:t>Middle East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</a:rPr>
              <a:t>AI narratives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769096" y="4288536"/>
            <a:ext cx="2468880" cy="0"/>
          </a:xfrm>
          <a:prstGeom prst="line">
            <a:avLst/>
          </a:prstGeom>
          <a:noFill/>
          <a:ln w="12700">
            <a:solidFill>
              <a:srgbClr val="E8EA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0496" y="449884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i="1" dirty="0">
                <a:solidFill>
                  <a:srgbClr val="676C72"/>
                </a:solidFill>
              </a:rPr>
              <a:t>Replace with new risks or opportunities introduced this quarter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502920" y="6007608"/>
            <a:ext cx="11183112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6099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quarterly view helps distinguish a genuine sector inflection from isolated company commentary or short-term noise.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COMMENTARY TRACKER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differentiated edge is context—not simply a count of positive and negative comments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tracker makes several investment questions answerable in a disciplined way.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49808" y="1856232"/>
            <a:ext cx="402336" cy="402336"/>
          </a:xfrm>
          <a:prstGeom prst="ellipse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3852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53312" y="18288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00000"/>
                </a:solidFill>
              </a:rPr>
              <a:t>Is the recovery broadening?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4498848" y="1828800"/>
            <a:ext cx="4645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B"/>
                </a:solidFill>
              </a:rPr>
              <a:t>Compare reported growth with changes in language across companies and end markets.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749808" y="2734056"/>
            <a:ext cx="402336" cy="402336"/>
          </a:xfrm>
          <a:prstGeom prst="ellipse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81635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53312" y="27066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00000"/>
                </a:solidFill>
              </a:rPr>
              <a:t>Are old headwinds truly fading?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498848" y="27066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B"/>
                </a:solidFill>
              </a:rPr>
              <a:t>Test whether concerns such as consumables destocking disappear or merely change labels.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749808" y="3611880"/>
            <a:ext cx="402336" cy="40233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694176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53312" y="358444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00000"/>
                </a:solidFill>
              </a:rPr>
              <a:t>What is sector-wide versus company-specific?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4498848" y="3584448"/>
            <a:ext cx="4645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B"/>
                </a:solidFill>
              </a:rPr>
              <a:t>Separate common demand signals from execution, portfolio or geographic differences.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749808" y="4489704"/>
            <a:ext cx="402336" cy="40233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572000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53312" y="44622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00000"/>
                </a:solidFill>
              </a:rPr>
              <a:t>What risks are emerging before guidance changes?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4498848" y="4462272"/>
            <a:ext cx="4645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B"/>
                </a:solidFill>
              </a:rPr>
              <a:t>Track new policy, geopolitical and AI narratives as they enter management commentary.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9464040" y="1847088"/>
            <a:ext cx="1965960" cy="3520440"/>
          </a:xfrm>
          <a:prstGeom prst="roundRect">
            <a:avLst>
              <a:gd name="adj" fmla="val 2791"/>
            </a:avLst>
          </a:prstGeom>
          <a:solidFill>
            <a:srgbClr val="DFF2FA"/>
          </a:solidFill>
          <a:ln w="12700">
            <a:solidFill>
              <a:srgbClr val="A9DD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1847088"/>
            <a:ext cx="73152" cy="3520440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65208" y="20116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Research value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65208" y="2350008"/>
            <a:ext cx="1581912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• Better sector memory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• Faster quarter-over-quarter read-throughs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• More consistent call preparation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• A differentiated client narrative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6007608"/>
            <a:ext cx="11183112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6099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tracker is reusable research infrastructure: each quarter adds evidence rather than restarting the debate from zero.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50208"/>
            <a:ext cx="6812280" cy="290779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03720" y="676656"/>
            <a:ext cx="4507992" cy="5257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73384" y="274320"/>
            <a:ext cx="475488" cy="5074920"/>
          </a:xfrm>
          <a:prstGeom prst="rect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5720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BERNSTEIN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30352" y="8961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SOCIETE GENERALE GROUP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50608" y="960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E9DD2"/>
                </a:solidFill>
              </a:rPr>
              <a:t>PROPRIETARY PROJECT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50608" y="1399032"/>
            <a:ext cx="3611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Innovation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Analysis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150608" y="3246120"/>
            <a:ext cx="32461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50608" y="3493008"/>
            <a:ext cx="34930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Replacing hard-to-compare product-launch tracking with a proprietary multi-source evidence base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ANALYSIS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reframed innovation from a launch-counting problem into a multi-source evidence problem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framework combines capacity, scientific usage, intellectual property, adoption and recognition.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4434840" cy="3520440"/>
          </a:xfrm>
          <a:prstGeom prst="roundRect">
            <a:avLst>
              <a:gd name="adj" fmla="val 1558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847088"/>
            <a:ext cx="73152" cy="3520440"/>
          </a:xfrm>
          <a:prstGeom prst="rect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01168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Previous approach: new product launches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9536" y="2350008"/>
            <a:ext cx="4050792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Strengths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• Intuitive and tangible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Limitations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• Disclosure is inconsistent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• Definitions vary by company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• Launches are difficult to identify retrospectively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• A launch count does not show adoption, scientific usage or quality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5303520" y="2926080"/>
            <a:ext cx="777240" cy="960120"/>
          </a:xfrm>
          <a:prstGeom prst="chevron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847088"/>
            <a:ext cx="5212080" cy="3520440"/>
          </a:xfrm>
          <a:prstGeom prst="roundRect">
            <a:avLst>
              <a:gd name="adj" fmla="val 1558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847088"/>
            <a:ext cx="73152" cy="3520440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20116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New approach: eight complementary metrics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0528" y="2350008"/>
            <a:ext cx="4828032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25282B"/>
                </a:solidFill>
              </a:rPr>
              <a:t>• Uses public data sources that can be refreshed by year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25282B"/>
                </a:solidFill>
              </a:rPr>
              <a:t>• Measures both innovation inputs and observable outputs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25282B"/>
                </a:solidFill>
              </a:rPr>
              <a:t>• Distinguishes scientific usage, IP creation and institutional adoption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25282B"/>
                </a:solidFill>
              </a:rPr>
              <a:t>• Preserves source-specific context rather than forcing one dataset to answer every question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25282B"/>
                </a:solidFill>
              </a:rPr>
              <a:t>• Supports individual exhibits and a composite heatmap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502920" y="6007608"/>
            <a:ext cx="11183112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6099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proprietary value is the combination: no single metric is “innovation,” but together they reveal different company innovation models.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ANALYSIS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metrics capture different stages of the innovation cycle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separates innovation capacity from scientific use, IP creation, adoption and recognition.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10881360" cy="658368"/>
          </a:xfrm>
          <a:prstGeom prst="roundRect">
            <a:avLst>
              <a:gd name="adj" fmla="val 5556"/>
            </a:avLst>
          </a:prstGeom>
          <a:solidFill>
            <a:srgbClr val="F8F8F8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118872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4767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</a:rPr>
              <a:t>INNOVATION CAPACITY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2926080" y="194767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00000"/>
                </a:solidFill>
              </a:rPr>
              <a:t>R&amp;D as % of sales  •  LinkedIn PhD share</a:t>
            </a:r>
            <a:endParaRPr lang="en-US" sz="1060" dirty="0"/>
          </a:p>
        </p:txBody>
      </p:sp>
      <p:sp>
        <p:nvSpPr>
          <p:cNvPr id="9" name="Text 7"/>
          <p:cNvSpPr/>
          <p:nvPr/>
        </p:nvSpPr>
        <p:spPr>
          <a:xfrm>
            <a:off x="6766560" y="191109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</a:rPr>
              <a:t>Resources and scientific talent available to innovate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58368" y="2615184"/>
            <a:ext cx="10881360" cy="658368"/>
          </a:xfrm>
          <a:prstGeom prst="roundRect">
            <a:avLst>
              <a:gd name="adj" fmla="val 5556"/>
            </a:avLst>
          </a:prstGeom>
          <a:solidFill>
            <a:srgbClr val="F7FBFD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615184"/>
            <a:ext cx="118872" cy="658368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77977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</a:rPr>
              <a:t>SCIENTIFIC USAGE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2926080" y="2779776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E9DD2"/>
                </a:solidFill>
              </a:rPr>
              <a:t>bioRxiv full text  •  PMC Methods full text  •  PubMed title / abstract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6766560" y="27432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</a:rPr>
              <a:t>Visibility in active research workflows and scientific literature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58368" y="3447288"/>
            <a:ext cx="10881360" cy="658368"/>
          </a:xfrm>
          <a:prstGeom prst="roundRect">
            <a:avLst>
              <a:gd name="adj" fmla="val 5556"/>
            </a:avLst>
          </a:prstGeom>
          <a:solidFill>
            <a:srgbClr val="F8F8F8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447288"/>
            <a:ext cx="118872" cy="658368"/>
          </a:xfrm>
          <a:prstGeom prst="rect">
            <a:avLst/>
          </a:prstGeom>
          <a:solidFill>
            <a:srgbClr val="0B5486"/>
          </a:solidFill>
          <a:ln w="12700">
            <a:solidFill>
              <a:srgbClr val="0B54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6118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</a:rPr>
              <a:t>IP CREATION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2926080" y="361188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5486"/>
                </a:solidFill>
              </a:rPr>
              <a:t>USPTO patents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6766560" y="357530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</a:rPr>
              <a:t>Formal intellectual property and company-owned invention activity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58368" y="4279392"/>
            <a:ext cx="10881360" cy="658368"/>
          </a:xfrm>
          <a:prstGeom prst="roundRect">
            <a:avLst>
              <a:gd name="adj" fmla="val 5556"/>
            </a:avLst>
          </a:prstGeom>
          <a:solidFill>
            <a:srgbClr val="F7FBFD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4279392"/>
            <a:ext cx="118872" cy="658368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44398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</a:rPr>
              <a:t>INSTITUTIONAL ADOPTION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2926080" y="4443984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50A46D"/>
                </a:solidFill>
              </a:rPr>
              <a:t>NIH S10 awards / funding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6766560" y="440740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</a:rPr>
              <a:t>Presence in federally funded shared-instrumentation purchases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58368" y="5111496"/>
            <a:ext cx="10881360" cy="658368"/>
          </a:xfrm>
          <a:prstGeom prst="roundRect">
            <a:avLst>
              <a:gd name="adj" fmla="val 5556"/>
            </a:avLst>
          </a:prstGeom>
          <a:solidFill>
            <a:srgbClr val="F8F8F8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5111496"/>
            <a:ext cx="118872" cy="658368"/>
          </a:xfrm>
          <a:prstGeom prst="rect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27608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</a:rPr>
              <a:t>EXTERNAL RECOGNITION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2926080" y="5276088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676C72"/>
                </a:solidFill>
              </a:rPr>
              <a:t>Innovation awards</a:t>
            </a:r>
            <a:endParaRPr lang="en-US" sz="1060" dirty="0"/>
          </a:p>
        </p:txBody>
      </p:sp>
      <p:sp>
        <p:nvSpPr>
          <p:cNvPr id="29" name="Text 27"/>
          <p:cNvSpPr/>
          <p:nvPr/>
        </p:nvSpPr>
        <p:spPr>
          <a:xfrm>
            <a:off x="6766560" y="523951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</a:rPr>
              <a:t>Independent recognition of notable products and platforms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02920" y="6007608"/>
            <a:ext cx="11183112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6099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is differentiated because it links what companies invest, what scientists use, what firms patent, and what institutions fund.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ANALYSIS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public data to an auditable proprietary dataset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standardizes collection, attribution, deduplication and yearly outputs across very different sources.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938528"/>
            <a:ext cx="2029968" cy="2231136"/>
          </a:xfrm>
          <a:prstGeom prst="roundRect">
            <a:avLst>
              <a:gd name="adj" fmla="val 2252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2176272"/>
            <a:ext cx="530352" cy="530352"/>
          </a:xfrm>
          <a:prstGeom prst="ellipse">
            <a:avLst/>
          </a:prstGeom>
          <a:solidFill>
            <a:srgbClr val="1E9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340864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PUBLIC SOURCES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76656" y="33832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5282B"/>
                </a:solidFill>
              </a:rPr>
              <a:t>APIs • JATS XML • AWS open data • filings • LinkedIn</a:t>
            </a:r>
            <a:endParaRPr lang="en-US" sz="910" dirty="0"/>
          </a:p>
        </p:txBody>
      </p:sp>
      <p:sp>
        <p:nvSpPr>
          <p:cNvPr id="10" name="Shape 8"/>
          <p:cNvSpPr/>
          <p:nvPr/>
        </p:nvSpPr>
        <p:spPr>
          <a:xfrm>
            <a:off x="2578608" y="2697480"/>
            <a:ext cx="283464" cy="502920"/>
          </a:xfrm>
          <a:prstGeom prst="chevron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62072" y="1938528"/>
            <a:ext cx="2029968" cy="2231136"/>
          </a:xfrm>
          <a:prstGeom prst="roundRect">
            <a:avLst>
              <a:gd name="adj" fmla="val 2252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2176272"/>
            <a:ext cx="530352" cy="530352"/>
          </a:xfrm>
          <a:prstGeom prst="ellipse">
            <a:avLst/>
          </a:prstGeom>
          <a:solidFill>
            <a:srgbClr val="1E9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2340864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71800" y="288036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STANDARDIZED DICTIONARIES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08376" y="33832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5282B"/>
                </a:solidFill>
              </a:rPr>
              <a:t>Company aliases • product terms • ownership rules • exclusions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4910328" y="2697480"/>
            <a:ext cx="283464" cy="502920"/>
          </a:xfrm>
          <a:prstGeom prst="chevron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93792" y="1938528"/>
            <a:ext cx="2029968" cy="2231136"/>
          </a:xfrm>
          <a:prstGeom prst="roundRect">
            <a:avLst>
              <a:gd name="adj" fmla="val 2252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2176272"/>
            <a:ext cx="530352" cy="5303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2340864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0" y="288036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SOURCE-SPECIFIC MATCHING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40096" y="33832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5282B"/>
                </a:solidFill>
              </a:rPr>
              <a:t>Methods context • applicant / assignee fields • title / abstract • grant text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7242048" y="2697480"/>
            <a:ext cx="283464" cy="502920"/>
          </a:xfrm>
          <a:prstGeom prst="chevron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25512" y="1938528"/>
            <a:ext cx="2029968" cy="2231136"/>
          </a:xfrm>
          <a:prstGeom prst="roundRect">
            <a:avLst>
              <a:gd name="adj" fmla="val 2252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75320" y="2176272"/>
            <a:ext cx="530352" cy="5303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2340864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35240" y="288036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DATA INTEGRITY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671816" y="33832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5282B"/>
                </a:solidFill>
              </a:rPr>
              <a:t>One company-record row • all terms retained • dedup • failures audited</a:t>
            </a:r>
            <a:endParaRPr lang="en-US" sz="910" dirty="0"/>
          </a:p>
        </p:txBody>
      </p:sp>
      <p:sp>
        <p:nvSpPr>
          <p:cNvPr id="28" name="Shape 26"/>
          <p:cNvSpPr/>
          <p:nvPr/>
        </p:nvSpPr>
        <p:spPr>
          <a:xfrm>
            <a:off x="9573768" y="2697480"/>
            <a:ext cx="283464" cy="502920"/>
          </a:xfrm>
          <a:prstGeom prst="chevron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57232" y="1938528"/>
            <a:ext cx="2029968" cy="2231136"/>
          </a:xfrm>
          <a:prstGeom prst="roundRect">
            <a:avLst>
              <a:gd name="adj" fmla="val 2252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07040" y="2176272"/>
            <a:ext cx="530352" cy="530352"/>
          </a:xfrm>
          <a:prstGeom prst="ellipse">
            <a:avLst/>
          </a:prstGeom>
          <a:solidFill>
            <a:srgbClr val="50A46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07040" y="2340864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966960" y="288036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ANALYTICAL OUTPUTS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003536" y="33832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5282B"/>
                </a:solidFill>
              </a:rPr>
              <a:t>Yearly files • metric exhibits • category scores • final heatmap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713232" y="4800600"/>
            <a:ext cx="1938528" cy="329184"/>
          </a:xfrm>
          <a:prstGeom prst="roundRect">
            <a:avLst>
              <a:gd name="adj" fmla="val 22222"/>
            </a:avLst>
          </a:prstGeom>
          <a:solidFill>
            <a:srgbClr val="0B5486"/>
          </a:solidFill>
          <a:ln w="12700">
            <a:solidFill>
              <a:srgbClr val="0B548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8737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Reproducible random samples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953512" y="4800600"/>
            <a:ext cx="1938528" cy="329184"/>
          </a:xfrm>
          <a:prstGeom prst="roundRect">
            <a:avLst>
              <a:gd name="adj" fmla="val 22222"/>
            </a:avLst>
          </a:prstGeom>
          <a:solidFill>
            <a:srgbClr val="0B5486"/>
          </a:solidFill>
          <a:ln w="12700">
            <a:solidFill>
              <a:srgbClr val="0B548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63240" y="48737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Full-text validation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193792" y="4800600"/>
            <a:ext cx="1938528" cy="329184"/>
          </a:xfrm>
          <a:prstGeom prst="roundRect">
            <a:avLst>
              <a:gd name="adj" fmla="val 22222"/>
            </a:avLst>
          </a:prstGeom>
          <a:solidFill>
            <a:srgbClr val="0B5486"/>
          </a:solidFill>
          <a:ln w="12700">
            <a:solidFill>
              <a:srgbClr val="0B548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0" y="48737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Context-gated terms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34072" y="4800600"/>
            <a:ext cx="1938528" cy="329184"/>
          </a:xfrm>
          <a:prstGeom prst="roundRect">
            <a:avLst>
              <a:gd name="adj" fmla="val 22222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43800" y="48737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Current-parent mapping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674352" y="4800600"/>
            <a:ext cx="1938528" cy="329184"/>
          </a:xfrm>
          <a:prstGeom prst="roundRect">
            <a:avLst>
              <a:gd name="adj" fmla="val 22222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84080" y="48737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Checkpointed / resumable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2920" y="6007608"/>
            <a:ext cx="11183112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" y="6099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reduced manual collection time while improving reproducibility, breadth and auditability.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ANALYSIS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Metric-specific exhibits preserve the meaning of each source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layouts—replace with the final company data and takeaways.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709160" y="1755648"/>
            <a:ext cx="2834640" cy="292608"/>
          </a:xfrm>
          <a:prstGeom prst="roundRect">
            <a:avLst>
              <a:gd name="adj" fmla="val 25000"/>
            </a:avLst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18888" y="1819656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5A00"/>
                </a:solidFill>
              </a:rPr>
              <a:t>EDITABLE EXHIBIT EXAMPLES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2084832"/>
            <a:ext cx="3657600" cy="3328416"/>
          </a:xfrm>
          <a:prstGeom prst="roundRect">
            <a:avLst>
              <a:gd name="adj" fmla="val 1374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86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R&amp;D investment intensity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5968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5486"/>
                </a:solidFill>
              </a:rPr>
              <a:t>Range-and-dot plot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41248" y="3017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PACB*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481328" y="3108960"/>
            <a:ext cx="2194560" cy="0"/>
          </a:xfrm>
          <a:prstGeom prst="line">
            <a:avLst/>
          </a:prstGeom>
          <a:noFill/>
          <a:ln w="25400">
            <a:solidFill>
              <a:srgbClr val="C8C9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98064" y="3026664"/>
            <a:ext cx="164592" cy="16459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4472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TECH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481328" y="3538728"/>
            <a:ext cx="1920240" cy="0"/>
          </a:xfrm>
          <a:prstGeom prst="line">
            <a:avLst/>
          </a:prstGeom>
          <a:noFill/>
          <a:ln w="25400">
            <a:solidFill>
              <a:srgbClr val="C8C9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33472" y="3456432"/>
            <a:ext cx="164592" cy="164592"/>
          </a:xfrm>
          <a:prstGeom prst="ellipse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87705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BIO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481328" y="3968496"/>
            <a:ext cx="1600200" cy="0"/>
          </a:xfrm>
          <a:prstGeom prst="line">
            <a:avLst/>
          </a:prstGeom>
          <a:noFill/>
          <a:ln w="25400">
            <a:solidFill>
              <a:srgbClr val="C8C9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41448" y="3886200"/>
            <a:ext cx="164592" cy="164592"/>
          </a:xfrm>
          <a:prstGeom prst="ellipse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430682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TMO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481328" y="4398264"/>
            <a:ext cx="1325880" cy="0"/>
          </a:xfrm>
          <a:prstGeom prst="line">
            <a:avLst/>
          </a:prstGeom>
          <a:noFill/>
          <a:ln w="25400">
            <a:solidFill>
              <a:srgbClr val="C8C9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76856" y="4315968"/>
            <a:ext cx="164592" cy="164592"/>
          </a:xfrm>
          <a:prstGeom prst="ellipse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7365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WAT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481328" y="4828032"/>
            <a:ext cx="1078992" cy="0"/>
          </a:xfrm>
          <a:prstGeom prst="line">
            <a:avLst/>
          </a:prstGeom>
          <a:noFill/>
          <a:ln w="25400">
            <a:solidFill>
              <a:srgbClr val="C8C9C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28723" y="4745736"/>
            <a:ext cx="164592" cy="164592"/>
          </a:xfrm>
          <a:prstGeom prst="ellipse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19379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76C72"/>
                </a:solidFill>
              </a:rPr>
              <a:t>* off-scale treatment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270248" y="2084832"/>
            <a:ext cx="3657600" cy="3328416"/>
          </a:xfrm>
          <a:prstGeom prst="roundRect">
            <a:avLst>
              <a:gd name="adj" fmla="val 1374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2286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NIH S10 institutional adoption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26280" y="2596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0A46D"/>
                </a:solidFill>
              </a:rPr>
              <a:t>Clustered bars: award share vs funding share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26280" y="30358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TMO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166360" y="3044952"/>
            <a:ext cx="1069848" cy="109728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66360" y="3200400"/>
            <a:ext cx="1193292" cy="109728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26280" y="34655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DHR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166360" y="3474720"/>
            <a:ext cx="905256" cy="109728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66360" y="3630168"/>
            <a:ext cx="822960" cy="109728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38953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BRKR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166360" y="3904488"/>
            <a:ext cx="740664" cy="109728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66360" y="4059936"/>
            <a:ext cx="658368" cy="109728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26280" y="432511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WAT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166360" y="4334256"/>
            <a:ext cx="288036" cy="109728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66360" y="4489704"/>
            <a:ext cx="329184" cy="109728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26280" y="47548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A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166360" y="4764024"/>
            <a:ext cx="144018" cy="109728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66360" y="4919472"/>
            <a:ext cx="164592" cy="109728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5175504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9DD2"/>
                </a:solidFill>
              </a:rPr>
              <a:t>Award share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650992" y="5175504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0A46D"/>
                </a:solidFill>
              </a:rPr>
              <a:t>Funding share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973568" y="2084832"/>
            <a:ext cx="3657600" cy="3328416"/>
          </a:xfrm>
          <a:prstGeom prst="roundRect">
            <a:avLst>
              <a:gd name="adj" fmla="val 1374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29600" y="2286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Scientific research footprint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229600" y="2596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5486"/>
                </a:solidFill>
              </a:rPr>
              <a:t>Ranked company-paper relationships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229600" y="305409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TMO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869680" y="3081528"/>
            <a:ext cx="1909267" cy="164592"/>
          </a:xfrm>
          <a:prstGeom prst="rect">
            <a:avLst/>
          </a:prstGeom>
          <a:solidFill>
            <a:srgbClr val="0B5486"/>
          </a:solidFill>
          <a:ln w="12700">
            <a:solidFill>
              <a:srgbClr val="0B548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9600" y="349300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DHR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869680" y="3520440"/>
            <a:ext cx="1514246" cy="164592"/>
          </a:xfrm>
          <a:prstGeom prst="rect">
            <a:avLst/>
          </a:prstGeom>
          <a:solidFill>
            <a:srgbClr val="0B5486"/>
          </a:solidFill>
          <a:ln w="12700">
            <a:solidFill>
              <a:srgbClr val="0B548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0" y="393192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ILMN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869680" y="3959352"/>
            <a:ext cx="1316736" cy="164592"/>
          </a:xfrm>
          <a:prstGeom prst="rect">
            <a:avLst/>
          </a:prstGeom>
          <a:solidFill>
            <a:srgbClr val="A9DDF0"/>
          </a:solidFill>
          <a:ln w="12700">
            <a:solidFill>
              <a:srgbClr val="A9DD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29600" y="437083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A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869680" y="4398264"/>
            <a:ext cx="1020470" cy="164592"/>
          </a:xfrm>
          <a:prstGeom prst="rect">
            <a:avLst/>
          </a:prstGeom>
          <a:solidFill>
            <a:srgbClr val="A9DDF0"/>
          </a:solidFill>
          <a:ln w="12700">
            <a:solidFill>
              <a:srgbClr val="A9DD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0" y="480974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QGEN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8869680" y="4837176"/>
            <a:ext cx="691286" cy="164592"/>
          </a:xfrm>
          <a:prstGeom prst="rect">
            <a:avLst/>
          </a:prstGeom>
          <a:solidFill>
            <a:srgbClr val="A9DDF0"/>
          </a:solidFill>
          <a:ln w="12700">
            <a:solidFill>
              <a:srgbClr val="A9DD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02920" y="6007608"/>
            <a:ext cx="11183112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3232" y="6099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exhibit should answer a source-specific question; the composite heatmap comes only after the individual metrics are understood.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ANALYSIS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output: a company-by-metric heatmap with a transparent composite score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layout—replace values, scoring logic and company ordering with the final analysis.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783080" y="186537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R&amp;D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587752" y="186537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PhD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392424" y="186537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bioRxiv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97096" y="186537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PMC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01768" y="186537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PubMed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806440" y="186537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USPTO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611112" y="186537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S10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415784" y="186537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Awards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220456" y="186537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</a:rPr>
              <a:t>Composite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77240" y="2276856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783080" y="2212848"/>
            <a:ext cx="758952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2267712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0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2587752" y="2212848"/>
            <a:ext cx="758952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87752" y="2267712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23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3392424" y="2212848"/>
            <a:ext cx="758952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92424" y="2267712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46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4197096" y="2212848"/>
            <a:ext cx="758952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97096" y="2267712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69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5001768" y="2212848"/>
            <a:ext cx="758952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1768" y="2267712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92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5806440" y="2212848"/>
            <a:ext cx="758952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2267712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14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6611112" y="2212848"/>
            <a:ext cx="758952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11112" y="2267712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37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7415784" y="2212848"/>
            <a:ext cx="758952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15784" y="2267712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60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8220456" y="2212848"/>
            <a:ext cx="758952" cy="256032"/>
          </a:xfrm>
          <a:prstGeom prst="rect">
            <a:avLst/>
          </a:prstGeom>
          <a:solidFill>
            <a:srgbClr val="0B548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0456" y="2267712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83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777240" y="2560320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BIO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783080" y="2496312"/>
            <a:ext cx="758952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83080" y="2551176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17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2587752" y="2496312"/>
            <a:ext cx="758952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87752" y="2551176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40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3392424" y="2496312"/>
            <a:ext cx="758952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92424" y="2551176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63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4197096" y="2496312"/>
            <a:ext cx="758952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97096" y="2551176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86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5001768" y="2496312"/>
            <a:ext cx="758952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01768" y="2551176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8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5806440" y="2496312"/>
            <a:ext cx="758952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06440" y="2551176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31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6611112" y="2496312"/>
            <a:ext cx="758952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11112" y="2551176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54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7415784" y="2496312"/>
            <a:ext cx="758952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15784" y="2551176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77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8220456" y="2496312"/>
            <a:ext cx="758952" cy="256032"/>
          </a:xfrm>
          <a:prstGeom prst="rect">
            <a:avLst/>
          </a:prstGeom>
          <a:solidFill>
            <a:srgbClr val="0B548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0456" y="2551176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100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777240" y="2843784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BRKR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783080" y="2779776"/>
            <a:ext cx="758952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83080" y="2834640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34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2587752" y="2779776"/>
            <a:ext cx="758952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87752" y="2834640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57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3392424" y="2779776"/>
            <a:ext cx="758952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92424" y="2834640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80</a:t>
            </a:r>
            <a:endParaRPr lang="en-US" sz="720" dirty="0"/>
          </a:p>
        </p:txBody>
      </p:sp>
      <p:sp>
        <p:nvSpPr>
          <p:cNvPr id="59" name="Shape 57"/>
          <p:cNvSpPr/>
          <p:nvPr/>
        </p:nvSpPr>
        <p:spPr>
          <a:xfrm>
            <a:off x="4197096" y="2779776"/>
            <a:ext cx="758952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97096" y="2834640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2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5001768" y="2779776"/>
            <a:ext cx="758952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01768" y="2834640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25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5806440" y="2779776"/>
            <a:ext cx="758952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06440" y="2834640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48</a:t>
            </a:r>
            <a:endParaRPr lang="en-US" sz="720" dirty="0"/>
          </a:p>
        </p:txBody>
      </p:sp>
      <p:sp>
        <p:nvSpPr>
          <p:cNvPr id="65" name="Shape 63"/>
          <p:cNvSpPr/>
          <p:nvPr/>
        </p:nvSpPr>
        <p:spPr>
          <a:xfrm>
            <a:off x="6611112" y="2779776"/>
            <a:ext cx="758952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11112" y="2834640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71</a:t>
            </a:r>
            <a:endParaRPr lang="en-US" sz="720" dirty="0"/>
          </a:p>
        </p:txBody>
      </p:sp>
      <p:sp>
        <p:nvSpPr>
          <p:cNvPr id="67" name="Shape 65"/>
          <p:cNvSpPr/>
          <p:nvPr/>
        </p:nvSpPr>
        <p:spPr>
          <a:xfrm>
            <a:off x="7415784" y="2779776"/>
            <a:ext cx="758952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15784" y="2834640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94</a:t>
            </a:r>
            <a:endParaRPr lang="en-US" sz="720" dirty="0"/>
          </a:p>
        </p:txBody>
      </p:sp>
      <p:sp>
        <p:nvSpPr>
          <p:cNvPr id="69" name="Shape 67"/>
          <p:cNvSpPr/>
          <p:nvPr/>
        </p:nvSpPr>
        <p:spPr>
          <a:xfrm>
            <a:off x="8220456" y="2779776"/>
            <a:ext cx="758952" cy="256032"/>
          </a:xfrm>
          <a:prstGeom prst="rect">
            <a:avLst/>
          </a:prstGeom>
          <a:solidFill>
            <a:srgbClr val="C8C9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20456" y="2834640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16</a:t>
            </a:r>
            <a:endParaRPr lang="en-US" sz="720" dirty="0"/>
          </a:p>
        </p:txBody>
      </p:sp>
      <p:sp>
        <p:nvSpPr>
          <p:cNvPr id="71" name="Text 69"/>
          <p:cNvSpPr/>
          <p:nvPr/>
        </p:nvSpPr>
        <p:spPr>
          <a:xfrm>
            <a:off x="777240" y="3127248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282B"/>
                </a:solidFill>
              </a:rPr>
              <a:t>DHR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783080" y="3063240"/>
            <a:ext cx="758952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783080" y="3118104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51</a:t>
            </a:r>
            <a:endParaRPr lang="en-US" sz="720" dirty="0"/>
          </a:p>
        </p:txBody>
      </p:sp>
      <p:sp>
        <p:nvSpPr>
          <p:cNvPr id="74" name="Shape 72"/>
          <p:cNvSpPr/>
          <p:nvPr/>
        </p:nvSpPr>
        <p:spPr>
          <a:xfrm>
            <a:off x="2587752" y="3063240"/>
            <a:ext cx="758952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587752" y="3118104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74</a:t>
            </a:r>
            <a:endParaRPr lang="en-US" sz="720" dirty="0"/>
          </a:p>
        </p:txBody>
      </p:sp>
      <p:sp>
        <p:nvSpPr>
          <p:cNvPr id="76" name="Shape 74"/>
          <p:cNvSpPr/>
          <p:nvPr/>
        </p:nvSpPr>
        <p:spPr>
          <a:xfrm>
            <a:off x="3392424" y="3063240"/>
            <a:ext cx="758952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392424" y="3118104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97</a:t>
            </a:r>
            <a:endParaRPr lang="en-US" sz="720" dirty="0"/>
          </a:p>
        </p:txBody>
      </p:sp>
      <p:sp>
        <p:nvSpPr>
          <p:cNvPr id="78" name="Shape 76"/>
          <p:cNvSpPr/>
          <p:nvPr/>
        </p:nvSpPr>
        <p:spPr>
          <a:xfrm>
            <a:off x="4197096" y="3063240"/>
            <a:ext cx="758952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97096" y="3118104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19</a:t>
            </a:r>
            <a:endParaRPr lang="en-US" sz="720" dirty="0"/>
          </a:p>
        </p:txBody>
      </p:sp>
      <p:sp>
        <p:nvSpPr>
          <p:cNvPr id="80" name="Shape 78"/>
          <p:cNvSpPr/>
          <p:nvPr/>
        </p:nvSpPr>
        <p:spPr>
          <a:xfrm>
            <a:off x="5001768" y="3063240"/>
            <a:ext cx="758952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001768" y="3118104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42</a:t>
            </a:r>
            <a:endParaRPr lang="en-US" sz="720" dirty="0"/>
          </a:p>
        </p:txBody>
      </p:sp>
      <p:sp>
        <p:nvSpPr>
          <p:cNvPr id="82" name="Shape 80"/>
          <p:cNvSpPr/>
          <p:nvPr/>
        </p:nvSpPr>
        <p:spPr>
          <a:xfrm>
            <a:off x="5806440" y="3063240"/>
            <a:ext cx="758952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806440" y="3118104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65</a:t>
            </a:r>
            <a:endParaRPr lang="en-US" sz="720" dirty="0"/>
          </a:p>
        </p:txBody>
      </p:sp>
      <p:sp>
        <p:nvSpPr>
          <p:cNvPr id="84" name="Shape 82"/>
          <p:cNvSpPr/>
          <p:nvPr/>
        </p:nvSpPr>
        <p:spPr>
          <a:xfrm>
            <a:off x="6611112" y="3063240"/>
            <a:ext cx="758952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611112" y="3118104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88</a:t>
            </a:r>
            <a:endParaRPr lang="en-US" sz="720" dirty="0"/>
          </a:p>
        </p:txBody>
      </p:sp>
      <p:sp>
        <p:nvSpPr>
          <p:cNvPr id="86" name="Shape 84"/>
          <p:cNvSpPr/>
          <p:nvPr/>
        </p:nvSpPr>
        <p:spPr>
          <a:xfrm>
            <a:off x="7415784" y="3063240"/>
            <a:ext cx="758952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415784" y="3118104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10</a:t>
            </a:r>
            <a:endParaRPr lang="en-US" sz="720" dirty="0"/>
          </a:p>
        </p:txBody>
      </p:sp>
      <p:sp>
        <p:nvSpPr>
          <p:cNvPr id="88" name="Shape 86"/>
          <p:cNvSpPr/>
          <p:nvPr/>
        </p:nvSpPr>
        <p:spPr>
          <a:xfrm>
            <a:off x="8220456" y="3063240"/>
            <a:ext cx="758952" cy="256032"/>
          </a:xfrm>
          <a:prstGeom prst="rect">
            <a:avLst/>
          </a:prstGeom>
          <a:solidFill>
            <a:srgbClr val="C8C9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220456" y="3118104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33</a:t>
            </a:r>
            <a:endParaRPr lang="en-US" sz="720" dirty="0"/>
          </a:p>
        </p:txBody>
      </p:sp>
      <p:sp>
        <p:nvSpPr>
          <p:cNvPr id="90" name="Text 88"/>
          <p:cNvSpPr/>
          <p:nvPr/>
        </p:nvSpPr>
        <p:spPr>
          <a:xfrm>
            <a:off x="777240" y="3410712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ILMN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1783080" y="3346704"/>
            <a:ext cx="758952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783080" y="3401568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68</a:t>
            </a:r>
            <a:endParaRPr lang="en-US" sz="720" dirty="0"/>
          </a:p>
        </p:txBody>
      </p:sp>
      <p:sp>
        <p:nvSpPr>
          <p:cNvPr id="93" name="Shape 91"/>
          <p:cNvSpPr/>
          <p:nvPr/>
        </p:nvSpPr>
        <p:spPr>
          <a:xfrm>
            <a:off x="2587752" y="3346704"/>
            <a:ext cx="758952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587752" y="3401568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91</a:t>
            </a:r>
            <a:endParaRPr lang="en-US" sz="720" dirty="0"/>
          </a:p>
        </p:txBody>
      </p:sp>
      <p:sp>
        <p:nvSpPr>
          <p:cNvPr id="95" name="Shape 93"/>
          <p:cNvSpPr/>
          <p:nvPr/>
        </p:nvSpPr>
        <p:spPr>
          <a:xfrm>
            <a:off x="3392424" y="3346704"/>
            <a:ext cx="758952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392424" y="3401568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13</a:t>
            </a:r>
            <a:endParaRPr lang="en-US" sz="720" dirty="0"/>
          </a:p>
        </p:txBody>
      </p:sp>
      <p:sp>
        <p:nvSpPr>
          <p:cNvPr id="97" name="Shape 95"/>
          <p:cNvSpPr/>
          <p:nvPr/>
        </p:nvSpPr>
        <p:spPr>
          <a:xfrm>
            <a:off x="4197096" y="3346704"/>
            <a:ext cx="758952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197096" y="3401568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36</a:t>
            </a:r>
            <a:endParaRPr lang="en-US" sz="720" dirty="0"/>
          </a:p>
        </p:txBody>
      </p:sp>
      <p:sp>
        <p:nvSpPr>
          <p:cNvPr id="99" name="Shape 97"/>
          <p:cNvSpPr/>
          <p:nvPr/>
        </p:nvSpPr>
        <p:spPr>
          <a:xfrm>
            <a:off x="5001768" y="3346704"/>
            <a:ext cx="758952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001768" y="3401568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59</a:t>
            </a:r>
            <a:endParaRPr lang="en-US" sz="720" dirty="0"/>
          </a:p>
        </p:txBody>
      </p:sp>
      <p:sp>
        <p:nvSpPr>
          <p:cNvPr id="101" name="Shape 99"/>
          <p:cNvSpPr/>
          <p:nvPr/>
        </p:nvSpPr>
        <p:spPr>
          <a:xfrm>
            <a:off x="5806440" y="3346704"/>
            <a:ext cx="758952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806440" y="3401568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82</a:t>
            </a:r>
            <a:endParaRPr lang="en-US" sz="720" dirty="0"/>
          </a:p>
        </p:txBody>
      </p:sp>
      <p:sp>
        <p:nvSpPr>
          <p:cNvPr id="103" name="Shape 101"/>
          <p:cNvSpPr/>
          <p:nvPr/>
        </p:nvSpPr>
        <p:spPr>
          <a:xfrm>
            <a:off x="6611112" y="3346704"/>
            <a:ext cx="758952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611112" y="3401568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4</a:t>
            </a:r>
            <a:endParaRPr lang="en-US" sz="720" dirty="0"/>
          </a:p>
        </p:txBody>
      </p:sp>
      <p:sp>
        <p:nvSpPr>
          <p:cNvPr id="105" name="Shape 103"/>
          <p:cNvSpPr/>
          <p:nvPr/>
        </p:nvSpPr>
        <p:spPr>
          <a:xfrm>
            <a:off x="7415784" y="3346704"/>
            <a:ext cx="758952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415784" y="3401568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27</a:t>
            </a:r>
            <a:endParaRPr lang="en-US" sz="720" dirty="0"/>
          </a:p>
        </p:txBody>
      </p:sp>
      <p:sp>
        <p:nvSpPr>
          <p:cNvPr id="107" name="Shape 105"/>
          <p:cNvSpPr/>
          <p:nvPr/>
        </p:nvSpPr>
        <p:spPr>
          <a:xfrm>
            <a:off x="8220456" y="3346704"/>
            <a:ext cx="758952" cy="256032"/>
          </a:xfrm>
          <a:prstGeom prst="rect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220456" y="3401568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50</a:t>
            </a:r>
            <a:endParaRPr lang="en-US" sz="720" dirty="0"/>
          </a:p>
        </p:txBody>
      </p:sp>
      <p:sp>
        <p:nvSpPr>
          <p:cNvPr id="109" name="Text 107"/>
          <p:cNvSpPr/>
          <p:nvPr/>
        </p:nvSpPr>
        <p:spPr>
          <a:xfrm>
            <a:off x="777240" y="3694176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MTD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1783080" y="3630168"/>
            <a:ext cx="758952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783080" y="3685032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85</a:t>
            </a:r>
            <a:endParaRPr lang="en-US" sz="720" dirty="0"/>
          </a:p>
        </p:txBody>
      </p:sp>
      <p:sp>
        <p:nvSpPr>
          <p:cNvPr id="112" name="Shape 110"/>
          <p:cNvSpPr/>
          <p:nvPr/>
        </p:nvSpPr>
        <p:spPr>
          <a:xfrm>
            <a:off x="2587752" y="3630168"/>
            <a:ext cx="758952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587752" y="3685032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7</a:t>
            </a:r>
            <a:endParaRPr lang="en-US" sz="720" dirty="0"/>
          </a:p>
        </p:txBody>
      </p:sp>
      <p:sp>
        <p:nvSpPr>
          <p:cNvPr id="114" name="Shape 112"/>
          <p:cNvSpPr/>
          <p:nvPr/>
        </p:nvSpPr>
        <p:spPr>
          <a:xfrm>
            <a:off x="3392424" y="3630168"/>
            <a:ext cx="758952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392424" y="3685032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30</a:t>
            </a:r>
            <a:endParaRPr lang="en-US" sz="720" dirty="0"/>
          </a:p>
        </p:txBody>
      </p:sp>
      <p:sp>
        <p:nvSpPr>
          <p:cNvPr id="116" name="Shape 114"/>
          <p:cNvSpPr/>
          <p:nvPr/>
        </p:nvSpPr>
        <p:spPr>
          <a:xfrm>
            <a:off x="4197096" y="3630168"/>
            <a:ext cx="758952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197096" y="3685032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53</a:t>
            </a:r>
            <a:endParaRPr lang="en-US" sz="720" dirty="0"/>
          </a:p>
        </p:txBody>
      </p:sp>
      <p:sp>
        <p:nvSpPr>
          <p:cNvPr id="118" name="Shape 116"/>
          <p:cNvSpPr/>
          <p:nvPr/>
        </p:nvSpPr>
        <p:spPr>
          <a:xfrm>
            <a:off x="5001768" y="3630168"/>
            <a:ext cx="758952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001768" y="3685032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76</a:t>
            </a:r>
            <a:endParaRPr lang="en-US" sz="720" dirty="0"/>
          </a:p>
        </p:txBody>
      </p:sp>
      <p:sp>
        <p:nvSpPr>
          <p:cNvPr id="120" name="Shape 118"/>
          <p:cNvSpPr/>
          <p:nvPr/>
        </p:nvSpPr>
        <p:spPr>
          <a:xfrm>
            <a:off x="5806440" y="3630168"/>
            <a:ext cx="758952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806440" y="3685032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99</a:t>
            </a:r>
            <a:endParaRPr lang="en-US" sz="720" dirty="0"/>
          </a:p>
        </p:txBody>
      </p:sp>
      <p:sp>
        <p:nvSpPr>
          <p:cNvPr id="122" name="Shape 120"/>
          <p:cNvSpPr/>
          <p:nvPr/>
        </p:nvSpPr>
        <p:spPr>
          <a:xfrm>
            <a:off x="6611112" y="3630168"/>
            <a:ext cx="758952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611112" y="3685032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21</a:t>
            </a:r>
            <a:endParaRPr lang="en-US" sz="720" dirty="0"/>
          </a:p>
        </p:txBody>
      </p:sp>
      <p:sp>
        <p:nvSpPr>
          <p:cNvPr id="124" name="Shape 122"/>
          <p:cNvSpPr/>
          <p:nvPr/>
        </p:nvSpPr>
        <p:spPr>
          <a:xfrm>
            <a:off x="7415784" y="3630168"/>
            <a:ext cx="758952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415784" y="3685032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44</a:t>
            </a:r>
            <a:endParaRPr lang="en-US" sz="720" dirty="0"/>
          </a:p>
        </p:txBody>
      </p:sp>
      <p:sp>
        <p:nvSpPr>
          <p:cNvPr id="126" name="Shape 124"/>
          <p:cNvSpPr/>
          <p:nvPr/>
        </p:nvSpPr>
        <p:spPr>
          <a:xfrm>
            <a:off x="8220456" y="3630168"/>
            <a:ext cx="758952" cy="256032"/>
          </a:xfrm>
          <a:prstGeom prst="rect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220456" y="3685032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67</a:t>
            </a:r>
            <a:endParaRPr lang="en-US" sz="720" dirty="0"/>
          </a:p>
        </p:txBody>
      </p:sp>
      <p:sp>
        <p:nvSpPr>
          <p:cNvPr id="128" name="Text 126"/>
          <p:cNvSpPr/>
          <p:nvPr/>
        </p:nvSpPr>
        <p:spPr>
          <a:xfrm>
            <a:off x="777240" y="3977640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PACB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1783080" y="3913632"/>
            <a:ext cx="758952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783080" y="3968496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1</a:t>
            </a:r>
            <a:endParaRPr lang="en-US" sz="720" dirty="0"/>
          </a:p>
        </p:txBody>
      </p:sp>
      <p:sp>
        <p:nvSpPr>
          <p:cNvPr id="131" name="Shape 129"/>
          <p:cNvSpPr/>
          <p:nvPr/>
        </p:nvSpPr>
        <p:spPr>
          <a:xfrm>
            <a:off x="2587752" y="3913632"/>
            <a:ext cx="758952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587752" y="3968496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24</a:t>
            </a:r>
            <a:endParaRPr lang="en-US" sz="720" dirty="0"/>
          </a:p>
        </p:txBody>
      </p:sp>
      <p:sp>
        <p:nvSpPr>
          <p:cNvPr id="133" name="Shape 131"/>
          <p:cNvSpPr/>
          <p:nvPr/>
        </p:nvSpPr>
        <p:spPr>
          <a:xfrm>
            <a:off x="3392424" y="3913632"/>
            <a:ext cx="758952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392424" y="3968496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47</a:t>
            </a:r>
            <a:endParaRPr lang="en-US" sz="720" dirty="0"/>
          </a:p>
        </p:txBody>
      </p:sp>
      <p:sp>
        <p:nvSpPr>
          <p:cNvPr id="135" name="Shape 133"/>
          <p:cNvSpPr/>
          <p:nvPr/>
        </p:nvSpPr>
        <p:spPr>
          <a:xfrm>
            <a:off x="4197096" y="3913632"/>
            <a:ext cx="758952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197096" y="3968496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70</a:t>
            </a:r>
            <a:endParaRPr lang="en-US" sz="720" dirty="0"/>
          </a:p>
        </p:txBody>
      </p:sp>
      <p:sp>
        <p:nvSpPr>
          <p:cNvPr id="137" name="Shape 135"/>
          <p:cNvSpPr/>
          <p:nvPr/>
        </p:nvSpPr>
        <p:spPr>
          <a:xfrm>
            <a:off x="5001768" y="3913632"/>
            <a:ext cx="758952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001768" y="3968496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93</a:t>
            </a:r>
            <a:endParaRPr lang="en-US" sz="720" dirty="0"/>
          </a:p>
        </p:txBody>
      </p:sp>
      <p:sp>
        <p:nvSpPr>
          <p:cNvPr id="139" name="Shape 137"/>
          <p:cNvSpPr/>
          <p:nvPr/>
        </p:nvSpPr>
        <p:spPr>
          <a:xfrm>
            <a:off x="5806440" y="3913632"/>
            <a:ext cx="758952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806440" y="3968496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15</a:t>
            </a:r>
            <a:endParaRPr lang="en-US" sz="720" dirty="0"/>
          </a:p>
        </p:txBody>
      </p:sp>
      <p:sp>
        <p:nvSpPr>
          <p:cNvPr id="141" name="Shape 139"/>
          <p:cNvSpPr/>
          <p:nvPr/>
        </p:nvSpPr>
        <p:spPr>
          <a:xfrm>
            <a:off x="6611112" y="3913632"/>
            <a:ext cx="758952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611112" y="3968496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38</a:t>
            </a:r>
            <a:endParaRPr lang="en-US" sz="720" dirty="0"/>
          </a:p>
        </p:txBody>
      </p:sp>
      <p:sp>
        <p:nvSpPr>
          <p:cNvPr id="143" name="Shape 141"/>
          <p:cNvSpPr/>
          <p:nvPr/>
        </p:nvSpPr>
        <p:spPr>
          <a:xfrm>
            <a:off x="7415784" y="3913632"/>
            <a:ext cx="758952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415784" y="3968496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61</a:t>
            </a:r>
            <a:endParaRPr lang="en-US" sz="720" dirty="0"/>
          </a:p>
        </p:txBody>
      </p:sp>
      <p:sp>
        <p:nvSpPr>
          <p:cNvPr id="145" name="Shape 143"/>
          <p:cNvSpPr/>
          <p:nvPr/>
        </p:nvSpPr>
        <p:spPr>
          <a:xfrm>
            <a:off x="8220456" y="3913632"/>
            <a:ext cx="758952" cy="256032"/>
          </a:xfrm>
          <a:prstGeom prst="rect">
            <a:avLst/>
          </a:prstGeom>
          <a:solidFill>
            <a:srgbClr val="0B548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8220456" y="3968496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84</a:t>
            </a:r>
            <a:endParaRPr lang="en-US" sz="720" dirty="0"/>
          </a:p>
        </p:txBody>
      </p:sp>
      <p:sp>
        <p:nvSpPr>
          <p:cNvPr id="147" name="Text 145"/>
          <p:cNvSpPr/>
          <p:nvPr/>
        </p:nvSpPr>
        <p:spPr>
          <a:xfrm>
            <a:off x="777240" y="4261104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QGEN</a:t>
            </a:r>
            <a:endParaRPr lang="en-US" sz="850" dirty="0"/>
          </a:p>
        </p:txBody>
      </p:sp>
      <p:sp>
        <p:nvSpPr>
          <p:cNvPr id="148" name="Shape 146"/>
          <p:cNvSpPr/>
          <p:nvPr/>
        </p:nvSpPr>
        <p:spPr>
          <a:xfrm>
            <a:off x="1783080" y="4197096"/>
            <a:ext cx="758952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1783080" y="4251960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18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2587752" y="4197096"/>
            <a:ext cx="758952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2587752" y="4251960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41</a:t>
            </a:r>
            <a:endParaRPr lang="en-US" sz="720" dirty="0"/>
          </a:p>
        </p:txBody>
      </p:sp>
      <p:sp>
        <p:nvSpPr>
          <p:cNvPr id="152" name="Shape 150"/>
          <p:cNvSpPr/>
          <p:nvPr/>
        </p:nvSpPr>
        <p:spPr>
          <a:xfrm>
            <a:off x="3392424" y="4197096"/>
            <a:ext cx="758952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3392424" y="4251960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64</a:t>
            </a:r>
            <a:endParaRPr lang="en-US" sz="720" dirty="0"/>
          </a:p>
        </p:txBody>
      </p:sp>
      <p:sp>
        <p:nvSpPr>
          <p:cNvPr id="154" name="Shape 152"/>
          <p:cNvSpPr/>
          <p:nvPr/>
        </p:nvSpPr>
        <p:spPr>
          <a:xfrm>
            <a:off x="4197096" y="4197096"/>
            <a:ext cx="758952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197096" y="4251960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87</a:t>
            </a:r>
            <a:endParaRPr lang="en-US" sz="720" dirty="0"/>
          </a:p>
        </p:txBody>
      </p:sp>
      <p:sp>
        <p:nvSpPr>
          <p:cNvPr id="156" name="Shape 154"/>
          <p:cNvSpPr/>
          <p:nvPr/>
        </p:nvSpPr>
        <p:spPr>
          <a:xfrm>
            <a:off x="5001768" y="4197096"/>
            <a:ext cx="758952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5001768" y="4251960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9</a:t>
            </a:r>
            <a:endParaRPr lang="en-US" sz="720" dirty="0"/>
          </a:p>
        </p:txBody>
      </p:sp>
      <p:sp>
        <p:nvSpPr>
          <p:cNvPr id="158" name="Shape 156"/>
          <p:cNvSpPr/>
          <p:nvPr/>
        </p:nvSpPr>
        <p:spPr>
          <a:xfrm>
            <a:off x="5806440" y="4197096"/>
            <a:ext cx="758952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5806440" y="4251960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32</a:t>
            </a:r>
            <a:endParaRPr lang="en-US" sz="720" dirty="0"/>
          </a:p>
        </p:txBody>
      </p:sp>
      <p:sp>
        <p:nvSpPr>
          <p:cNvPr id="160" name="Shape 158"/>
          <p:cNvSpPr/>
          <p:nvPr/>
        </p:nvSpPr>
        <p:spPr>
          <a:xfrm>
            <a:off x="6611112" y="4197096"/>
            <a:ext cx="758952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6611112" y="4251960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55</a:t>
            </a:r>
            <a:endParaRPr lang="en-US" sz="720" dirty="0"/>
          </a:p>
        </p:txBody>
      </p:sp>
      <p:sp>
        <p:nvSpPr>
          <p:cNvPr id="162" name="Shape 160"/>
          <p:cNvSpPr/>
          <p:nvPr/>
        </p:nvSpPr>
        <p:spPr>
          <a:xfrm>
            <a:off x="7415784" y="4197096"/>
            <a:ext cx="758952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7415784" y="4251960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78</a:t>
            </a:r>
            <a:endParaRPr lang="en-US" sz="720" dirty="0"/>
          </a:p>
        </p:txBody>
      </p:sp>
      <p:sp>
        <p:nvSpPr>
          <p:cNvPr id="164" name="Shape 162"/>
          <p:cNvSpPr/>
          <p:nvPr/>
        </p:nvSpPr>
        <p:spPr>
          <a:xfrm>
            <a:off x="8220456" y="4197096"/>
            <a:ext cx="758952" cy="256032"/>
          </a:xfrm>
          <a:prstGeom prst="rect">
            <a:avLst/>
          </a:prstGeom>
          <a:solidFill>
            <a:srgbClr val="C8C9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8220456" y="4251960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0</a:t>
            </a:r>
            <a:endParaRPr lang="en-US" sz="720" dirty="0"/>
          </a:p>
        </p:txBody>
      </p:sp>
      <p:sp>
        <p:nvSpPr>
          <p:cNvPr id="166" name="Text 164"/>
          <p:cNvSpPr/>
          <p:nvPr/>
        </p:nvSpPr>
        <p:spPr>
          <a:xfrm>
            <a:off x="777240" y="4544568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RVTY</a:t>
            </a:r>
            <a:endParaRPr lang="en-US" sz="850" dirty="0"/>
          </a:p>
        </p:txBody>
      </p:sp>
      <p:sp>
        <p:nvSpPr>
          <p:cNvPr id="167" name="Shape 165"/>
          <p:cNvSpPr/>
          <p:nvPr/>
        </p:nvSpPr>
        <p:spPr>
          <a:xfrm>
            <a:off x="1783080" y="4480560"/>
            <a:ext cx="758952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783080" y="4535424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35</a:t>
            </a:r>
            <a:endParaRPr lang="en-US" sz="720" dirty="0"/>
          </a:p>
        </p:txBody>
      </p:sp>
      <p:sp>
        <p:nvSpPr>
          <p:cNvPr id="169" name="Shape 167"/>
          <p:cNvSpPr/>
          <p:nvPr/>
        </p:nvSpPr>
        <p:spPr>
          <a:xfrm>
            <a:off x="2587752" y="4480560"/>
            <a:ext cx="758952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2587752" y="4535424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58</a:t>
            </a:r>
            <a:endParaRPr lang="en-US" sz="720" dirty="0"/>
          </a:p>
        </p:txBody>
      </p:sp>
      <p:sp>
        <p:nvSpPr>
          <p:cNvPr id="171" name="Shape 169"/>
          <p:cNvSpPr/>
          <p:nvPr/>
        </p:nvSpPr>
        <p:spPr>
          <a:xfrm>
            <a:off x="3392424" y="4480560"/>
            <a:ext cx="758952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3392424" y="4535424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81</a:t>
            </a:r>
            <a:endParaRPr lang="en-US" sz="720" dirty="0"/>
          </a:p>
        </p:txBody>
      </p:sp>
      <p:sp>
        <p:nvSpPr>
          <p:cNvPr id="173" name="Shape 171"/>
          <p:cNvSpPr/>
          <p:nvPr/>
        </p:nvSpPr>
        <p:spPr>
          <a:xfrm>
            <a:off x="4197096" y="4480560"/>
            <a:ext cx="758952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4197096" y="4535424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3</a:t>
            </a:r>
            <a:endParaRPr lang="en-US" sz="720" dirty="0"/>
          </a:p>
        </p:txBody>
      </p:sp>
      <p:sp>
        <p:nvSpPr>
          <p:cNvPr id="175" name="Shape 173"/>
          <p:cNvSpPr/>
          <p:nvPr/>
        </p:nvSpPr>
        <p:spPr>
          <a:xfrm>
            <a:off x="5001768" y="4480560"/>
            <a:ext cx="758952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5001768" y="4535424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26</a:t>
            </a:r>
            <a:endParaRPr lang="en-US" sz="720" dirty="0"/>
          </a:p>
        </p:txBody>
      </p:sp>
      <p:sp>
        <p:nvSpPr>
          <p:cNvPr id="177" name="Shape 175"/>
          <p:cNvSpPr/>
          <p:nvPr/>
        </p:nvSpPr>
        <p:spPr>
          <a:xfrm>
            <a:off x="5806440" y="4480560"/>
            <a:ext cx="758952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5806440" y="4535424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49</a:t>
            </a:r>
            <a:endParaRPr lang="en-US" sz="720" dirty="0"/>
          </a:p>
        </p:txBody>
      </p:sp>
      <p:sp>
        <p:nvSpPr>
          <p:cNvPr id="179" name="Shape 177"/>
          <p:cNvSpPr/>
          <p:nvPr/>
        </p:nvSpPr>
        <p:spPr>
          <a:xfrm>
            <a:off x="6611112" y="4480560"/>
            <a:ext cx="758952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6611112" y="4535424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72</a:t>
            </a:r>
            <a:endParaRPr lang="en-US" sz="720" dirty="0"/>
          </a:p>
        </p:txBody>
      </p:sp>
      <p:sp>
        <p:nvSpPr>
          <p:cNvPr id="181" name="Shape 179"/>
          <p:cNvSpPr/>
          <p:nvPr/>
        </p:nvSpPr>
        <p:spPr>
          <a:xfrm>
            <a:off x="7415784" y="4480560"/>
            <a:ext cx="758952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7415784" y="4535424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95</a:t>
            </a:r>
            <a:endParaRPr lang="en-US" sz="720" dirty="0"/>
          </a:p>
        </p:txBody>
      </p:sp>
      <p:sp>
        <p:nvSpPr>
          <p:cNvPr id="183" name="Shape 181"/>
          <p:cNvSpPr/>
          <p:nvPr/>
        </p:nvSpPr>
        <p:spPr>
          <a:xfrm>
            <a:off x="8220456" y="4480560"/>
            <a:ext cx="758952" cy="256032"/>
          </a:xfrm>
          <a:prstGeom prst="rect">
            <a:avLst/>
          </a:prstGeom>
          <a:solidFill>
            <a:srgbClr val="C8C9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8220456" y="4535424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17</a:t>
            </a:r>
            <a:endParaRPr lang="en-US" sz="720" dirty="0"/>
          </a:p>
        </p:txBody>
      </p:sp>
      <p:sp>
        <p:nvSpPr>
          <p:cNvPr id="185" name="Text 183"/>
          <p:cNvSpPr/>
          <p:nvPr/>
        </p:nvSpPr>
        <p:spPr>
          <a:xfrm>
            <a:off x="777240" y="4828032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TECH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1783080" y="4764024"/>
            <a:ext cx="758952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1783080" y="4818888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52</a:t>
            </a:r>
            <a:endParaRPr lang="en-US" sz="720" dirty="0"/>
          </a:p>
        </p:txBody>
      </p:sp>
      <p:sp>
        <p:nvSpPr>
          <p:cNvPr id="188" name="Shape 186"/>
          <p:cNvSpPr/>
          <p:nvPr/>
        </p:nvSpPr>
        <p:spPr>
          <a:xfrm>
            <a:off x="2587752" y="4764024"/>
            <a:ext cx="758952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2587752" y="4818888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75</a:t>
            </a:r>
            <a:endParaRPr lang="en-US" sz="720" dirty="0"/>
          </a:p>
        </p:txBody>
      </p:sp>
      <p:sp>
        <p:nvSpPr>
          <p:cNvPr id="190" name="Shape 188"/>
          <p:cNvSpPr/>
          <p:nvPr/>
        </p:nvSpPr>
        <p:spPr>
          <a:xfrm>
            <a:off x="3392424" y="4764024"/>
            <a:ext cx="758952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392424" y="4818888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98</a:t>
            </a:r>
            <a:endParaRPr lang="en-US" sz="720" dirty="0"/>
          </a:p>
        </p:txBody>
      </p:sp>
      <p:sp>
        <p:nvSpPr>
          <p:cNvPr id="192" name="Shape 190"/>
          <p:cNvSpPr/>
          <p:nvPr/>
        </p:nvSpPr>
        <p:spPr>
          <a:xfrm>
            <a:off x="4197096" y="4764024"/>
            <a:ext cx="758952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4197096" y="4818888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20</a:t>
            </a:r>
            <a:endParaRPr lang="en-US" sz="720" dirty="0"/>
          </a:p>
        </p:txBody>
      </p:sp>
      <p:sp>
        <p:nvSpPr>
          <p:cNvPr id="194" name="Shape 192"/>
          <p:cNvSpPr/>
          <p:nvPr/>
        </p:nvSpPr>
        <p:spPr>
          <a:xfrm>
            <a:off x="5001768" y="4764024"/>
            <a:ext cx="758952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5001768" y="4818888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43</a:t>
            </a:r>
            <a:endParaRPr lang="en-US" sz="720" dirty="0"/>
          </a:p>
        </p:txBody>
      </p:sp>
      <p:sp>
        <p:nvSpPr>
          <p:cNvPr id="196" name="Shape 194"/>
          <p:cNvSpPr/>
          <p:nvPr/>
        </p:nvSpPr>
        <p:spPr>
          <a:xfrm>
            <a:off x="5806440" y="4764024"/>
            <a:ext cx="758952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5806440" y="4818888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66</a:t>
            </a:r>
            <a:endParaRPr lang="en-US" sz="720" dirty="0"/>
          </a:p>
        </p:txBody>
      </p:sp>
      <p:sp>
        <p:nvSpPr>
          <p:cNvPr id="198" name="Shape 196"/>
          <p:cNvSpPr/>
          <p:nvPr/>
        </p:nvSpPr>
        <p:spPr>
          <a:xfrm>
            <a:off x="6611112" y="4764024"/>
            <a:ext cx="758952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6611112" y="4818888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89</a:t>
            </a:r>
            <a:endParaRPr lang="en-US" sz="720" dirty="0"/>
          </a:p>
        </p:txBody>
      </p:sp>
      <p:sp>
        <p:nvSpPr>
          <p:cNvPr id="200" name="Shape 198"/>
          <p:cNvSpPr/>
          <p:nvPr/>
        </p:nvSpPr>
        <p:spPr>
          <a:xfrm>
            <a:off x="7415784" y="4764024"/>
            <a:ext cx="758952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7415784" y="4818888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11</a:t>
            </a:r>
            <a:endParaRPr lang="en-US" sz="720" dirty="0"/>
          </a:p>
        </p:txBody>
      </p:sp>
      <p:sp>
        <p:nvSpPr>
          <p:cNvPr id="202" name="Shape 200"/>
          <p:cNvSpPr/>
          <p:nvPr/>
        </p:nvSpPr>
        <p:spPr>
          <a:xfrm>
            <a:off x="8220456" y="4764024"/>
            <a:ext cx="758952" cy="256032"/>
          </a:xfrm>
          <a:prstGeom prst="rect">
            <a:avLst/>
          </a:prstGeom>
          <a:solidFill>
            <a:srgbClr val="C8C9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8220456" y="4818888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34</a:t>
            </a:r>
            <a:endParaRPr lang="en-US" sz="720" dirty="0"/>
          </a:p>
        </p:txBody>
      </p:sp>
      <p:sp>
        <p:nvSpPr>
          <p:cNvPr id="204" name="Text 202"/>
          <p:cNvSpPr/>
          <p:nvPr/>
        </p:nvSpPr>
        <p:spPr>
          <a:xfrm>
            <a:off x="777240" y="5111496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282B"/>
                </a:solidFill>
              </a:rPr>
              <a:t>TMO</a:t>
            </a:r>
            <a:endParaRPr lang="en-US" sz="850" dirty="0"/>
          </a:p>
        </p:txBody>
      </p:sp>
      <p:sp>
        <p:nvSpPr>
          <p:cNvPr id="205" name="Shape 203"/>
          <p:cNvSpPr/>
          <p:nvPr/>
        </p:nvSpPr>
        <p:spPr>
          <a:xfrm>
            <a:off x="1783080" y="5047488"/>
            <a:ext cx="758952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1783080" y="5102352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69</a:t>
            </a:r>
            <a:endParaRPr lang="en-US" sz="720" dirty="0"/>
          </a:p>
        </p:txBody>
      </p:sp>
      <p:sp>
        <p:nvSpPr>
          <p:cNvPr id="207" name="Shape 205"/>
          <p:cNvSpPr/>
          <p:nvPr/>
        </p:nvSpPr>
        <p:spPr>
          <a:xfrm>
            <a:off x="2587752" y="5047488"/>
            <a:ext cx="758952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2587752" y="5102352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92</a:t>
            </a:r>
            <a:endParaRPr lang="en-US" sz="720" dirty="0"/>
          </a:p>
        </p:txBody>
      </p:sp>
      <p:sp>
        <p:nvSpPr>
          <p:cNvPr id="209" name="Shape 207"/>
          <p:cNvSpPr/>
          <p:nvPr/>
        </p:nvSpPr>
        <p:spPr>
          <a:xfrm>
            <a:off x="3392424" y="5047488"/>
            <a:ext cx="758952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3392424" y="5102352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14</a:t>
            </a:r>
            <a:endParaRPr lang="en-US" sz="720" dirty="0"/>
          </a:p>
        </p:txBody>
      </p:sp>
      <p:sp>
        <p:nvSpPr>
          <p:cNvPr id="211" name="Shape 209"/>
          <p:cNvSpPr/>
          <p:nvPr/>
        </p:nvSpPr>
        <p:spPr>
          <a:xfrm>
            <a:off x="4197096" y="5047488"/>
            <a:ext cx="758952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4197096" y="5102352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37</a:t>
            </a:r>
            <a:endParaRPr lang="en-US" sz="720" dirty="0"/>
          </a:p>
        </p:txBody>
      </p:sp>
      <p:sp>
        <p:nvSpPr>
          <p:cNvPr id="213" name="Shape 211"/>
          <p:cNvSpPr/>
          <p:nvPr/>
        </p:nvSpPr>
        <p:spPr>
          <a:xfrm>
            <a:off x="5001768" y="5047488"/>
            <a:ext cx="758952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5001768" y="5102352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60</a:t>
            </a:r>
            <a:endParaRPr lang="en-US" sz="720" dirty="0"/>
          </a:p>
        </p:txBody>
      </p:sp>
      <p:sp>
        <p:nvSpPr>
          <p:cNvPr id="215" name="Shape 213"/>
          <p:cNvSpPr/>
          <p:nvPr/>
        </p:nvSpPr>
        <p:spPr>
          <a:xfrm>
            <a:off x="5806440" y="5047488"/>
            <a:ext cx="758952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5806440" y="5102352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83</a:t>
            </a:r>
            <a:endParaRPr lang="en-US" sz="720" dirty="0"/>
          </a:p>
        </p:txBody>
      </p:sp>
      <p:sp>
        <p:nvSpPr>
          <p:cNvPr id="217" name="Shape 215"/>
          <p:cNvSpPr/>
          <p:nvPr/>
        </p:nvSpPr>
        <p:spPr>
          <a:xfrm>
            <a:off x="6611112" y="5047488"/>
            <a:ext cx="758952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6611112" y="5102352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5</a:t>
            </a:r>
            <a:endParaRPr lang="en-US" sz="720" dirty="0"/>
          </a:p>
        </p:txBody>
      </p:sp>
      <p:sp>
        <p:nvSpPr>
          <p:cNvPr id="219" name="Shape 217"/>
          <p:cNvSpPr/>
          <p:nvPr/>
        </p:nvSpPr>
        <p:spPr>
          <a:xfrm>
            <a:off x="7415784" y="5047488"/>
            <a:ext cx="758952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7415784" y="5102352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28</a:t>
            </a:r>
            <a:endParaRPr lang="en-US" sz="720" dirty="0"/>
          </a:p>
        </p:txBody>
      </p:sp>
      <p:sp>
        <p:nvSpPr>
          <p:cNvPr id="221" name="Shape 219"/>
          <p:cNvSpPr/>
          <p:nvPr/>
        </p:nvSpPr>
        <p:spPr>
          <a:xfrm>
            <a:off x="8220456" y="5047488"/>
            <a:ext cx="758952" cy="256032"/>
          </a:xfrm>
          <a:prstGeom prst="rect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8220456" y="5102352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51</a:t>
            </a:r>
            <a:endParaRPr lang="en-US" sz="720" dirty="0"/>
          </a:p>
        </p:txBody>
      </p:sp>
      <p:sp>
        <p:nvSpPr>
          <p:cNvPr id="223" name="Text 221"/>
          <p:cNvSpPr/>
          <p:nvPr/>
        </p:nvSpPr>
        <p:spPr>
          <a:xfrm>
            <a:off x="777240" y="5394960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WAT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1783080" y="5330952"/>
            <a:ext cx="758952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1783080" y="5385816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86</a:t>
            </a:r>
            <a:endParaRPr lang="en-US" sz="720" dirty="0"/>
          </a:p>
        </p:txBody>
      </p:sp>
      <p:sp>
        <p:nvSpPr>
          <p:cNvPr id="226" name="Shape 224"/>
          <p:cNvSpPr/>
          <p:nvPr/>
        </p:nvSpPr>
        <p:spPr>
          <a:xfrm>
            <a:off x="2587752" y="5330952"/>
            <a:ext cx="758952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2587752" y="5385816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8</a:t>
            </a:r>
            <a:endParaRPr lang="en-US" sz="720" dirty="0"/>
          </a:p>
        </p:txBody>
      </p:sp>
      <p:sp>
        <p:nvSpPr>
          <p:cNvPr id="228" name="Shape 226"/>
          <p:cNvSpPr/>
          <p:nvPr/>
        </p:nvSpPr>
        <p:spPr>
          <a:xfrm>
            <a:off x="3392424" y="5330952"/>
            <a:ext cx="758952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3392424" y="5385816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31</a:t>
            </a:r>
            <a:endParaRPr lang="en-US" sz="720" dirty="0"/>
          </a:p>
        </p:txBody>
      </p:sp>
      <p:sp>
        <p:nvSpPr>
          <p:cNvPr id="230" name="Shape 228"/>
          <p:cNvSpPr/>
          <p:nvPr/>
        </p:nvSpPr>
        <p:spPr>
          <a:xfrm>
            <a:off x="4197096" y="5330952"/>
            <a:ext cx="758952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4197096" y="5385816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54</a:t>
            </a:r>
            <a:endParaRPr lang="en-US" sz="720" dirty="0"/>
          </a:p>
        </p:txBody>
      </p:sp>
      <p:sp>
        <p:nvSpPr>
          <p:cNvPr id="232" name="Shape 230"/>
          <p:cNvSpPr/>
          <p:nvPr/>
        </p:nvSpPr>
        <p:spPr>
          <a:xfrm>
            <a:off x="5001768" y="5330952"/>
            <a:ext cx="758952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5001768" y="5385816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77</a:t>
            </a:r>
            <a:endParaRPr lang="en-US" sz="720" dirty="0"/>
          </a:p>
        </p:txBody>
      </p:sp>
      <p:sp>
        <p:nvSpPr>
          <p:cNvPr id="234" name="Shape 232"/>
          <p:cNvSpPr/>
          <p:nvPr/>
        </p:nvSpPr>
        <p:spPr>
          <a:xfrm>
            <a:off x="5806440" y="5330952"/>
            <a:ext cx="758952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5806440" y="5385816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100</a:t>
            </a:r>
            <a:endParaRPr lang="en-US" sz="720" dirty="0"/>
          </a:p>
        </p:txBody>
      </p:sp>
      <p:sp>
        <p:nvSpPr>
          <p:cNvPr id="236" name="Shape 234"/>
          <p:cNvSpPr/>
          <p:nvPr/>
        </p:nvSpPr>
        <p:spPr>
          <a:xfrm>
            <a:off x="6611112" y="5330952"/>
            <a:ext cx="758952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6611112" y="5385816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22</a:t>
            </a:r>
            <a:endParaRPr lang="en-US" sz="720" dirty="0"/>
          </a:p>
        </p:txBody>
      </p:sp>
      <p:sp>
        <p:nvSpPr>
          <p:cNvPr id="238" name="Shape 236"/>
          <p:cNvSpPr/>
          <p:nvPr/>
        </p:nvSpPr>
        <p:spPr>
          <a:xfrm>
            <a:off x="7415784" y="5330952"/>
            <a:ext cx="758952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7415784" y="5385816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45</a:t>
            </a:r>
            <a:endParaRPr lang="en-US" sz="720" dirty="0"/>
          </a:p>
        </p:txBody>
      </p:sp>
      <p:sp>
        <p:nvSpPr>
          <p:cNvPr id="240" name="Shape 238"/>
          <p:cNvSpPr/>
          <p:nvPr/>
        </p:nvSpPr>
        <p:spPr>
          <a:xfrm>
            <a:off x="8220456" y="5330952"/>
            <a:ext cx="758952" cy="256032"/>
          </a:xfrm>
          <a:prstGeom prst="rect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8220456" y="5385816"/>
            <a:ext cx="758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68</a:t>
            </a:r>
            <a:endParaRPr lang="en-US" sz="720" dirty="0"/>
          </a:p>
        </p:txBody>
      </p:sp>
      <p:sp>
        <p:nvSpPr>
          <p:cNvPr id="242" name="Shape 240"/>
          <p:cNvSpPr/>
          <p:nvPr/>
        </p:nvSpPr>
        <p:spPr>
          <a:xfrm>
            <a:off x="9372600" y="2212848"/>
            <a:ext cx="2103120" cy="3337560"/>
          </a:xfrm>
          <a:prstGeom prst="roundRect">
            <a:avLst>
              <a:gd name="adj" fmla="val 2609"/>
            </a:avLst>
          </a:prstGeom>
          <a:solidFill>
            <a:srgbClr val="F7F7F7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9573768" y="2377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</a:rPr>
              <a:t>Design principles</a:t>
            </a:r>
            <a:endParaRPr lang="en-US" sz="1250" dirty="0"/>
          </a:p>
        </p:txBody>
      </p:sp>
      <p:sp>
        <p:nvSpPr>
          <p:cNvPr id="244" name="Text 242"/>
          <p:cNvSpPr/>
          <p:nvPr/>
        </p:nvSpPr>
        <p:spPr>
          <a:xfrm>
            <a:off x="9573768" y="2715768"/>
            <a:ext cx="1719072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5282B"/>
                </a:solidFill>
              </a:rPr>
              <a:t>• Show raw values in backup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25282B"/>
                </a:solidFill>
              </a:rPr>
              <a:t>• Use distance-based scores where magnitudes matter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25282B"/>
                </a:solidFill>
              </a:rPr>
              <a:t>• Avoid double-counting related metrics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25282B"/>
                </a:solidFill>
              </a:rPr>
              <a:t>• Keep assumptions explicit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25282B"/>
                </a:solidFill>
              </a:rPr>
              <a:t>• Preserve company archetypes—not just rank order</a:t>
            </a:r>
            <a:endParaRPr lang="en-US" sz="970" dirty="0"/>
          </a:p>
        </p:txBody>
      </p:sp>
      <p:sp>
        <p:nvSpPr>
          <p:cNvPr id="245" name="Shape 243"/>
          <p:cNvSpPr/>
          <p:nvPr/>
        </p:nvSpPr>
        <p:spPr>
          <a:xfrm>
            <a:off x="502920" y="6007608"/>
            <a:ext cx="11183112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713232" y="6099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heatmap should explain both who leads and why—broad strength, category specialization or a distinct innovation model.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ANALYSIS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hypotheses to test with the final exhibits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directional expectations—not final conclusions.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343400" y="1755648"/>
            <a:ext cx="3474720" cy="292608"/>
          </a:xfrm>
          <a:prstGeom prst="roundRect">
            <a:avLst>
              <a:gd name="adj" fmla="val 25000"/>
            </a:avLst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53128" y="1819656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5A00"/>
                </a:solidFill>
              </a:rPr>
              <a:t>REPLACE WITH VALIDATED TAKEAWAYS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2212848"/>
            <a:ext cx="10744200" cy="621792"/>
          </a:xfrm>
          <a:prstGeom prst="roundRect">
            <a:avLst>
              <a:gd name="adj" fmla="val 7353"/>
            </a:avLst>
          </a:prstGeom>
          <a:solidFill>
            <a:srgbClr val="F7FBFD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212848"/>
            <a:ext cx="109728" cy="62179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3957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000000"/>
                </a:solidFill>
              </a:rPr>
              <a:t>BREADTH LEADERS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3090672" y="2340864"/>
            <a:ext cx="7973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TMO, DHR and BRKR may show the broadest institutional and scientific footprint.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999232"/>
            <a:ext cx="10744200" cy="621792"/>
          </a:xfrm>
          <a:prstGeom prst="roundRect">
            <a:avLst>
              <a:gd name="adj" fmla="val 7353"/>
            </a:avLst>
          </a:prstGeom>
          <a:solidFill>
            <a:srgbClr val="F8F8F8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999232"/>
            <a:ext cx="109728" cy="6217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18211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000000"/>
                </a:solidFill>
              </a:rPr>
              <a:t>PRE-SCALE OUTLIER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3090672" y="3127248"/>
            <a:ext cx="7973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PACB’s R&amp;D intensity is structurally different and should be interpreted in the context of a smaller revenue base.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785616"/>
            <a:ext cx="10744200" cy="621792"/>
          </a:xfrm>
          <a:prstGeom prst="roundRect">
            <a:avLst>
              <a:gd name="adj" fmla="val 7353"/>
            </a:avLst>
          </a:prstGeom>
          <a:solidFill>
            <a:srgbClr val="F7FBFD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785616"/>
            <a:ext cx="109728" cy="621792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96849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000000"/>
                </a:solidFill>
              </a:rPr>
              <a:t>DIFFERENT INNOVATION MODELS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3090672" y="3913632"/>
            <a:ext cx="7973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Some companies may over-index in scientific usage, while others show stronger patents or institutional adoption.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4572000"/>
            <a:ext cx="10744200" cy="621792"/>
          </a:xfrm>
          <a:prstGeom prst="roundRect">
            <a:avLst>
              <a:gd name="adj" fmla="val 7353"/>
            </a:avLst>
          </a:prstGeom>
          <a:solidFill>
            <a:srgbClr val="F8F8F8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572000"/>
            <a:ext cx="109728" cy="621792"/>
          </a:xfrm>
          <a:prstGeom prst="rect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7548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000000"/>
                </a:solidFill>
              </a:rPr>
              <a:t>CONSISTENCY MATTERS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3090672" y="4700016"/>
            <a:ext cx="7973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The strongest companies should demonstrate breadth across metrics—not dependence on a single source.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920240" y="5468112"/>
            <a:ext cx="8366760" cy="530352"/>
          </a:xfrm>
          <a:prstGeom prst="roundRect">
            <a:avLst>
              <a:gd name="adj" fmla="val 10345"/>
            </a:avLst>
          </a:prstGeom>
          <a:solidFill>
            <a:srgbClr val="DFF2FA"/>
          </a:solidFill>
          <a:ln w="12700">
            <a:solidFill>
              <a:srgbClr val="A9DD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0240" y="5468112"/>
            <a:ext cx="73152" cy="53035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21408" y="5632704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</a:rPr>
              <a:t>Final slide objective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121408" y="5971032"/>
            <a:ext cx="7982712" cy="-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5282B"/>
                </a:solidFill>
              </a:rPr>
              <a:t>Replace these hypotheses with three concise conclusions supported by the final charts: one leader, one differentiated company archetype, and one surprising disconnect.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RESEARCH EXECUTION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proprietary projects were built alongside initiation, earnings and day-to-day team support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work touched both long-cycle research and fast-turnaround publishing.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901952"/>
            <a:ext cx="3337560" cy="1042416"/>
          </a:xfrm>
          <a:prstGeom prst="roundRect">
            <a:avLst>
              <a:gd name="adj" fmla="val 4386"/>
            </a:avLst>
          </a:prstGeom>
          <a:solidFill>
            <a:srgbClr val="F7FBFD"/>
          </a:solidFill>
          <a:ln w="12700">
            <a:solidFill>
              <a:srgbClr val="A9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66544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E9DD2"/>
                </a:solidFill>
              </a:rPr>
              <a:t>8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1600200" y="207568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</a:rPr>
              <a:t>companies in coverage resumption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7408" y="1901952"/>
            <a:ext cx="3337560" cy="1042416"/>
          </a:xfrm>
          <a:prstGeom prst="roundRect">
            <a:avLst>
              <a:gd name="adj" fmla="val 4386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2066544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00000"/>
                </a:solidFill>
              </a:rPr>
              <a:t>7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5367528" y="207568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</a:rPr>
              <a:t>earnings notes supported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56448" y="1901952"/>
            <a:ext cx="3337560" cy="1042416"/>
          </a:xfrm>
          <a:prstGeom prst="roundRect">
            <a:avLst>
              <a:gd name="adj" fmla="val 4386"/>
            </a:avLst>
          </a:prstGeom>
          <a:solidFill>
            <a:srgbClr val="F7FBFD"/>
          </a:solidFill>
          <a:ln w="12700">
            <a:solidFill>
              <a:srgbClr val="A9DD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21031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5486"/>
                </a:solidFill>
              </a:rPr>
              <a:t>Ongoing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400032" y="2075688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00000"/>
                </a:solidFill>
              </a:rPr>
              <a:t>call prep, events and policy work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658368" y="3246120"/>
            <a:ext cx="3337560" cy="2212848"/>
          </a:xfrm>
          <a:prstGeom prst="roundRect">
            <a:avLst>
              <a:gd name="adj" fmla="val 2479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246120"/>
            <a:ext cx="73152" cy="2212848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34107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Coverage resumption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59536" y="3749040"/>
            <a:ext cx="2953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5282B"/>
                </a:solidFill>
              </a:rPr>
              <a:t>GH • NTRA • A • AVTR • WAT • TMO • RVTY • ILMN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5282B"/>
                </a:solidFill>
              </a:rPr>
              <a:t>Rebuilt commentary history, supported NIH funding work, refreshed exhibits and condensed thesis / valuation material for marketing slides.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4407408" y="3246120"/>
            <a:ext cx="3337560" cy="2212848"/>
          </a:xfrm>
          <a:prstGeom prst="roundRect">
            <a:avLst>
              <a:gd name="adj" fmla="val 2479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07408" y="3246120"/>
            <a:ext cx="73152" cy="22128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34107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Earnings execution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608576" y="3749040"/>
            <a:ext cx="2953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5282B"/>
                </a:solidFill>
              </a:rPr>
              <a:t>Drafted commentary sections and key call takeaways; updated guidance and historical exhibits; tracked down supporting data under deadline.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8156448" y="3246120"/>
            <a:ext cx="3337560" cy="2212848"/>
          </a:xfrm>
          <a:prstGeom prst="roundRect">
            <a:avLst>
              <a:gd name="adj" fmla="val 2479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56448" y="3246120"/>
            <a:ext cx="73152" cy="2212848"/>
          </a:xfrm>
          <a:prstGeom prst="rect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57616" y="34107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Broader research support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357616" y="3749040"/>
            <a:ext cx="2953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5282B"/>
                </a:solidFill>
              </a:rPr>
              <a:t>Prepared questions and cheat sheets; summarized AI webinars and the Medtech / Tools symposium; supported China VBP and other ad hoc research needs.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502920" y="6007608"/>
            <a:ext cx="11183112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6099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learned how long-form differentiated research and rapid earnings execution reinforce each other inside the same coverage process.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IMPROVEMENT AND LEARNING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lesson was how to be rigorous without waiting for perfect information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scientific background helped with diligence; equity research taught me how to turn evidence into judgment.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85800" y="18470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B5486"/>
                </a:solidFill>
              </a:rPr>
              <a:t>PROCESS IMPROVEMENT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2176272"/>
            <a:ext cx="2880360" cy="2999232"/>
          </a:xfrm>
          <a:prstGeom prst="roundRect">
            <a:avLst>
              <a:gd name="adj" fmla="val 1905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176272"/>
            <a:ext cx="73152" cy="2999232"/>
          </a:xfrm>
          <a:prstGeom prst="rect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3408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Before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86968" y="2679192"/>
            <a:ext cx="2496312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</a:rPr>
              <a:t>• Fragmented or manual collection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</a:rPr>
              <a:t>• Limited longitudinal memory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</a:rPr>
              <a:t>• Inconsistent comparability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</a:rPr>
              <a:t>• Hard to refresh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</a:rPr>
              <a:t>• Important context living in notes and transcripts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3730752" y="3273552"/>
            <a:ext cx="621792" cy="768096"/>
          </a:xfrm>
          <a:prstGeom prst="chevron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2176272"/>
            <a:ext cx="2880360" cy="2999232"/>
          </a:xfrm>
          <a:prstGeom prst="roundRect">
            <a:avLst>
              <a:gd name="adj" fmla="val 1905"/>
            </a:avLst>
          </a:prstGeom>
          <a:solidFill>
            <a:srgbClr val="F7FBFD"/>
          </a:solidFill>
          <a:ln w="12700">
            <a:solidFill>
              <a:srgbClr val="A9DD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3712" y="2176272"/>
            <a:ext cx="73152" cy="299923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3408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After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2679192"/>
            <a:ext cx="2496312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</a:rPr>
              <a:t>• Standardized definitions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</a:rPr>
              <a:t>• Reusable yearly outputs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</a:rPr>
              <a:t>• Conservative attribution and audit trails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</a:rPr>
              <a:t>• Faster refreshes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</a:rPr>
              <a:t>• Exhibits designed around the investment debate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7845552" y="18470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B5486"/>
                </a:solidFill>
              </a:rPr>
              <a:t>WHAT I LEARNED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45552" y="2176272"/>
            <a:ext cx="3611880" cy="2999232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45552" y="2176272"/>
            <a:ext cx="73152" cy="29992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234086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Research judgment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0" y="2679192"/>
            <a:ext cx="3227832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• Messy information can still be decision-useful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• The best answer is often a transparent, defensible approximation—not a false sense of precision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• Management language is data when collected consistently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• Clear writing under pressure is part of the analytical process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• Commercial relevance determines which questions matter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502920" y="6007608"/>
            <a:ext cx="11183112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6099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summer taught me to combine scientific rigor, creativity and speed—and to communicate the “so what” clearly.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6967728" cy="2926080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59168" y="658368"/>
            <a:ext cx="4434840" cy="5120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292608"/>
            <a:ext cx="502920" cy="4828032"/>
          </a:xfrm>
          <a:prstGeom prst="rect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57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BERNSTEIN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30352" y="896112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000000"/>
                </a:solidFill>
              </a:rPr>
              <a:t>SOCIETE GENERALE GROUP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296912" y="10789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E9DD2"/>
                </a:solidFill>
              </a:rPr>
              <a:t>The common thread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296912" y="1572768"/>
            <a:ext cx="35661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Turning messy information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into differentiated,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investable research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7296912" y="3456432"/>
            <a:ext cx="31546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96912" y="374904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Curious enough to ask better questions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Creative enough to build the process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Diligent enough to validate the answer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84632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</a:rPr>
              <a:t>“We don’t control the world, we just try to out-think it.”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14400" y="5669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Thank you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60350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Justin Curcio  |  Equity Research Intern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EXHIBIT TEMPLATE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Full-slide heatmap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8732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the final composite or a single-source company-by-year view.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418320" y="658368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8048" y="731520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TEMPLATE 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83080" y="186537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76C72"/>
                </a:solidFill>
              </a:rPr>
              <a:t>Metric 1</a:t>
            </a:r>
            <a:endParaRPr lang="en-US" sz="770" dirty="0"/>
          </a:p>
        </p:txBody>
      </p:sp>
      <p:sp>
        <p:nvSpPr>
          <p:cNvPr id="8" name="Text 6"/>
          <p:cNvSpPr/>
          <p:nvPr/>
        </p:nvSpPr>
        <p:spPr>
          <a:xfrm>
            <a:off x="2770632" y="186537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76C72"/>
                </a:solidFill>
              </a:rPr>
              <a:t>Metric 2</a:t>
            </a:r>
            <a:endParaRPr lang="en-US" sz="770" dirty="0"/>
          </a:p>
        </p:txBody>
      </p:sp>
      <p:sp>
        <p:nvSpPr>
          <p:cNvPr id="9" name="Text 7"/>
          <p:cNvSpPr/>
          <p:nvPr/>
        </p:nvSpPr>
        <p:spPr>
          <a:xfrm>
            <a:off x="3758184" y="186537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76C72"/>
                </a:solidFill>
              </a:rPr>
              <a:t>Metric 3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4745736" y="186537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76C72"/>
                </a:solidFill>
              </a:rPr>
              <a:t>Metric 4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5733288" y="186537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76C72"/>
                </a:solidFill>
              </a:rPr>
              <a:t>Metric 5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6720840" y="186537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76C72"/>
                </a:solidFill>
              </a:rPr>
              <a:t>Metric 6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7708392" y="186537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76C72"/>
                </a:solidFill>
              </a:rPr>
              <a:t>Metric 7</a:t>
            </a:r>
            <a:endParaRPr lang="en-US" sz="770" dirty="0"/>
          </a:p>
        </p:txBody>
      </p:sp>
      <p:sp>
        <p:nvSpPr>
          <p:cNvPr id="14" name="Text 12"/>
          <p:cNvSpPr/>
          <p:nvPr/>
        </p:nvSpPr>
        <p:spPr>
          <a:xfrm>
            <a:off x="8695944" y="186537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76C72"/>
                </a:solidFill>
              </a:rPr>
              <a:t>Metric 8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9683496" y="186537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76C72"/>
                </a:solidFill>
              </a:rPr>
              <a:t>Overall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868680" y="227685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282B"/>
                </a:solidFill>
              </a:rPr>
              <a:t>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783080" y="2212848"/>
            <a:ext cx="941832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3080" y="2267712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0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2770632" y="2212848"/>
            <a:ext cx="941832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70632" y="2267712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19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3758184" y="2212848"/>
            <a:ext cx="941832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58184" y="2267712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38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4745736" y="2212848"/>
            <a:ext cx="941832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45736" y="2267712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57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5733288" y="2212848"/>
            <a:ext cx="941832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33288" y="2267712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76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6720840" y="2212848"/>
            <a:ext cx="941832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2267712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95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7708392" y="2212848"/>
            <a:ext cx="941832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08392" y="2267712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13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8695944" y="2212848"/>
            <a:ext cx="941832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95944" y="2267712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32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9683496" y="2212848"/>
            <a:ext cx="941832" cy="265176"/>
          </a:xfrm>
          <a:prstGeom prst="rect">
            <a:avLst/>
          </a:prstGeom>
          <a:solidFill>
            <a:srgbClr val="C8C9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83496" y="2267712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51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868680" y="256946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282B"/>
                </a:solidFill>
              </a:rPr>
              <a:t>BIO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783080" y="2505456"/>
            <a:ext cx="941832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83080" y="256032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11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2770632" y="2505456"/>
            <a:ext cx="941832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70632" y="256032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30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3758184" y="2505456"/>
            <a:ext cx="941832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58184" y="256032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49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4745736" y="2505456"/>
            <a:ext cx="941832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45736" y="256032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68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5733288" y="2505456"/>
            <a:ext cx="941832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33288" y="256032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87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6720840" y="2505456"/>
            <a:ext cx="941832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20840" y="256032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5</a:t>
            </a:r>
            <a:endParaRPr lang="en-US" sz="740" dirty="0"/>
          </a:p>
        </p:txBody>
      </p:sp>
      <p:sp>
        <p:nvSpPr>
          <p:cNvPr id="48" name="Shape 46"/>
          <p:cNvSpPr/>
          <p:nvPr/>
        </p:nvSpPr>
        <p:spPr>
          <a:xfrm>
            <a:off x="7708392" y="2505456"/>
            <a:ext cx="941832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08392" y="256032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24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8695944" y="2505456"/>
            <a:ext cx="941832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95944" y="256032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43</a:t>
            </a:r>
            <a:endParaRPr lang="en-US" sz="740" dirty="0"/>
          </a:p>
        </p:txBody>
      </p:sp>
      <p:sp>
        <p:nvSpPr>
          <p:cNvPr id="52" name="Shape 50"/>
          <p:cNvSpPr/>
          <p:nvPr/>
        </p:nvSpPr>
        <p:spPr>
          <a:xfrm>
            <a:off x="9683496" y="2505456"/>
            <a:ext cx="941832" cy="265176"/>
          </a:xfrm>
          <a:prstGeom prst="rect">
            <a:avLst/>
          </a:prstGeom>
          <a:solidFill>
            <a:srgbClr val="0B548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3496" y="256032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62</a:t>
            </a:r>
            <a:endParaRPr lang="en-US" sz="740" dirty="0"/>
          </a:p>
        </p:txBody>
      </p:sp>
      <p:sp>
        <p:nvSpPr>
          <p:cNvPr id="54" name="Text 52"/>
          <p:cNvSpPr/>
          <p:nvPr/>
        </p:nvSpPr>
        <p:spPr>
          <a:xfrm>
            <a:off x="868680" y="286207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282B"/>
                </a:solidFill>
              </a:rPr>
              <a:t>BRKR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783080" y="2798064"/>
            <a:ext cx="941832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83080" y="2852928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22</a:t>
            </a:r>
            <a:endParaRPr lang="en-US" sz="740" dirty="0"/>
          </a:p>
        </p:txBody>
      </p:sp>
      <p:sp>
        <p:nvSpPr>
          <p:cNvPr id="57" name="Shape 55"/>
          <p:cNvSpPr/>
          <p:nvPr/>
        </p:nvSpPr>
        <p:spPr>
          <a:xfrm>
            <a:off x="2770632" y="2798064"/>
            <a:ext cx="941832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70632" y="2852928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41</a:t>
            </a:r>
            <a:endParaRPr lang="en-US" sz="740" dirty="0"/>
          </a:p>
        </p:txBody>
      </p:sp>
      <p:sp>
        <p:nvSpPr>
          <p:cNvPr id="59" name="Shape 57"/>
          <p:cNvSpPr/>
          <p:nvPr/>
        </p:nvSpPr>
        <p:spPr>
          <a:xfrm>
            <a:off x="3758184" y="2798064"/>
            <a:ext cx="941832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58184" y="2852928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60</a:t>
            </a:r>
            <a:endParaRPr lang="en-US" sz="740" dirty="0"/>
          </a:p>
        </p:txBody>
      </p:sp>
      <p:sp>
        <p:nvSpPr>
          <p:cNvPr id="61" name="Shape 59"/>
          <p:cNvSpPr/>
          <p:nvPr/>
        </p:nvSpPr>
        <p:spPr>
          <a:xfrm>
            <a:off x="4745736" y="2798064"/>
            <a:ext cx="941832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45736" y="2852928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79</a:t>
            </a:r>
            <a:endParaRPr lang="en-US" sz="740" dirty="0"/>
          </a:p>
        </p:txBody>
      </p:sp>
      <p:sp>
        <p:nvSpPr>
          <p:cNvPr id="63" name="Shape 61"/>
          <p:cNvSpPr/>
          <p:nvPr/>
        </p:nvSpPr>
        <p:spPr>
          <a:xfrm>
            <a:off x="5733288" y="2798064"/>
            <a:ext cx="941832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733288" y="2852928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98</a:t>
            </a:r>
            <a:endParaRPr lang="en-US" sz="740" dirty="0"/>
          </a:p>
        </p:txBody>
      </p:sp>
      <p:sp>
        <p:nvSpPr>
          <p:cNvPr id="65" name="Shape 63"/>
          <p:cNvSpPr/>
          <p:nvPr/>
        </p:nvSpPr>
        <p:spPr>
          <a:xfrm>
            <a:off x="6720840" y="2798064"/>
            <a:ext cx="941832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20840" y="2852928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16</a:t>
            </a:r>
            <a:endParaRPr lang="en-US" sz="740" dirty="0"/>
          </a:p>
        </p:txBody>
      </p:sp>
      <p:sp>
        <p:nvSpPr>
          <p:cNvPr id="67" name="Shape 65"/>
          <p:cNvSpPr/>
          <p:nvPr/>
        </p:nvSpPr>
        <p:spPr>
          <a:xfrm>
            <a:off x="7708392" y="2798064"/>
            <a:ext cx="941832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708392" y="2852928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35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8695944" y="2798064"/>
            <a:ext cx="941832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695944" y="2852928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54</a:t>
            </a:r>
            <a:endParaRPr lang="en-US" sz="740" dirty="0"/>
          </a:p>
        </p:txBody>
      </p:sp>
      <p:sp>
        <p:nvSpPr>
          <p:cNvPr id="71" name="Shape 69"/>
          <p:cNvSpPr/>
          <p:nvPr/>
        </p:nvSpPr>
        <p:spPr>
          <a:xfrm>
            <a:off x="9683496" y="2798064"/>
            <a:ext cx="941832" cy="265176"/>
          </a:xfrm>
          <a:prstGeom prst="rect">
            <a:avLst/>
          </a:prstGeom>
          <a:solidFill>
            <a:srgbClr val="0B548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683496" y="2852928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73</a:t>
            </a:r>
            <a:endParaRPr lang="en-US" sz="740" dirty="0"/>
          </a:p>
        </p:txBody>
      </p:sp>
      <p:sp>
        <p:nvSpPr>
          <p:cNvPr id="73" name="Text 71"/>
          <p:cNvSpPr/>
          <p:nvPr/>
        </p:nvSpPr>
        <p:spPr>
          <a:xfrm>
            <a:off x="868680" y="315468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282B"/>
                </a:solidFill>
              </a:rPr>
              <a:t>DHR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1783080" y="3090672"/>
            <a:ext cx="941832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783080" y="3145536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33</a:t>
            </a:r>
            <a:endParaRPr lang="en-US" sz="740" dirty="0"/>
          </a:p>
        </p:txBody>
      </p:sp>
      <p:sp>
        <p:nvSpPr>
          <p:cNvPr id="76" name="Shape 74"/>
          <p:cNvSpPr/>
          <p:nvPr/>
        </p:nvSpPr>
        <p:spPr>
          <a:xfrm>
            <a:off x="2770632" y="3090672"/>
            <a:ext cx="941832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70632" y="3145536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52</a:t>
            </a:r>
            <a:endParaRPr lang="en-US" sz="740" dirty="0"/>
          </a:p>
        </p:txBody>
      </p:sp>
      <p:sp>
        <p:nvSpPr>
          <p:cNvPr id="78" name="Shape 76"/>
          <p:cNvSpPr/>
          <p:nvPr/>
        </p:nvSpPr>
        <p:spPr>
          <a:xfrm>
            <a:off x="3758184" y="3090672"/>
            <a:ext cx="941832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758184" y="3145536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71</a:t>
            </a:r>
            <a:endParaRPr lang="en-US" sz="740" dirty="0"/>
          </a:p>
        </p:txBody>
      </p:sp>
      <p:sp>
        <p:nvSpPr>
          <p:cNvPr id="80" name="Shape 78"/>
          <p:cNvSpPr/>
          <p:nvPr/>
        </p:nvSpPr>
        <p:spPr>
          <a:xfrm>
            <a:off x="4745736" y="3090672"/>
            <a:ext cx="941832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45736" y="3145536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90</a:t>
            </a:r>
            <a:endParaRPr lang="en-US" sz="740" dirty="0"/>
          </a:p>
        </p:txBody>
      </p:sp>
      <p:sp>
        <p:nvSpPr>
          <p:cNvPr id="82" name="Shape 80"/>
          <p:cNvSpPr/>
          <p:nvPr/>
        </p:nvSpPr>
        <p:spPr>
          <a:xfrm>
            <a:off x="5733288" y="3090672"/>
            <a:ext cx="941832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733288" y="3145536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8</a:t>
            </a:r>
            <a:endParaRPr lang="en-US" sz="740" dirty="0"/>
          </a:p>
        </p:txBody>
      </p:sp>
      <p:sp>
        <p:nvSpPr>
          <p:cNvPr id="84" name="Shape 82"/>
          <p:cNvSpPr/>
          <p:nvPr/>
        </p:nvSpPr>
        <p:spPr>
          <a:xfrm>
            <a:off x="6720840" y="3090672"/>
            <a:ext cx="941832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720840" y="3145536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27</a:t>
            </a:r>
            <a:endParaRPr lang="en-US" sz="740" dirty="0"/>
          </a:p>
        </p:txBody>
      </p:sp>
      <p:sp>
        <p:nvSpPr>
          <p:cNvPr id="86" name="Shape 84"/>
          <p:cNvSpPr/>
          <p:nvPr/>
        </p:nvSpPr>
        <p:spPr>
          <a:xfrm>
            <a:off x="7708392" y="3090672"/>
            <a:ext cx="941832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08392" y="3145536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46</a:t>
            </a:r>
            <a:endParaRPr lang="en-US" sz="740" dirty="0"/>
          </a:p>
        </p:txBody>
      </p:sp>
      <p:sp>
        <p:nvSpPr>
          <p:cNvPr id="88" name="Shape 86"/>
          <p:cNvSpPr/>
          <p:nvPr/>
        </p:nvSpPr>
        <p:spPr>
          <a:xfrm>
            <a:off x="8695944" y="3090672"/>
            <a:ext cx="941832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695944" y="3145536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65</a:t>
            </a:r>
            <a:endParaRPr lang="en-US" sz="740" dirty="0"/>
          </a:p>
        </p:txBody>
      </p:sp>
      <p:sp>
        <p:nvSpPr>
          <p:cNvPr id="90" name="Shape 88"/>
          <p:cNvSpPr/>
          <p:nvPr/>
        </p:nvSpPr>
        <p:spPr>
          <a:xfrm>
            <a:off x="9683496" y="3090672"/>
            <a:ext cx="941832" cy="265176"/>
          </a:xfrm>
          <a:prstGeom prst="rect">
            <a:avLst/>
          </a:prstGeom>
          <a:solidFill>
            <a:srgbClr val="0B548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683496" y="3145536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84</a:t>
            </a:r>
            <a:endParaRPr lang="en-US" sz="740" dirty="0"/>
          </a:p>
        </p:txBody>
      </p:sp>
      <p:sp>
        <p:nvSpPr>
          <p:cNvPr id="92" name="Text 90"/>
          <p:cNvSpPr/>
          <p:nvPr/>
        </p:nvSpPr>
        <p:spPr>
          <a:xfrm>
            <a:off x="868680" y="3447288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282B"/>
                </a:solidFill>
              </a:rPr>
              <a:t>ILMN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1783080" y="3383280"/>
            <a:ext cx="941832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783080" y="3438144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44</a:t>
            </a:r>
            <a:endParaRPr lang="en-US" sz="740" dirty="0"/>
          </a:p>
        </p:txBody>
      </p:sp>
      <p:sp>
        <p:nvSpPr>
          <p:cNvPr id="95" name="Shape 93"/>
          <p:cNvSpPr/>
          <p:nvPr/>
        </p:nvSpPr>
        <p:spPr>
          <a:xfrm>
            <a:off x="2770632" y="3383280"/>
            <a:ext cx="941832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770632" y="3438144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63</a:t>
            </a:r>
            <a:endParaRPr lang="en-US" sz="740" dirty="0"/>
          </a:p>
        </p:txBody>
      </p:sp>
      <p:sp>
        <p:nvSpPr>
          <p:cNvPr id="97" name="Shape 95"/>
          <p:cNvSpPr/>
          <p:nvPr/>
        </p:nvSpPr>
        <p:spPr>
          <a:xfrm>
            <a:off x="3758184" y="3383280"/>
            <a:ext cx="941832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758184" y="3438144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82</a:t>
            </a:r>
            <a:endParaRPr lang="en-US" sz="740" dirty="0"/>
          </a:p>
        </p:txBody>
      </p:sp>
      <p:sp>
        <p:nvSpPr>
          <p:cNvPr id="99" name="Shape 97"/>
          <p:cNvSpPr/>
          <p:nvPr/>
        </p:nvSpPr>
        <p:spPr>
          <a:xfrm>
            <a:off x="4745736" y="3383280"/>
            <a:ext cx="941832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745736" y="3438144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0</a:t>
            </a:r>
            <a:endParaRPr lang="en-US" sz="740" dirty="0"/>
          </a:p>
        </p:txBody>
      </p:sp>
      <p:sp>
        <p:nvSpPr>
          <p:cNvPr id="101" name="Shape 99"/>
          <p:cNvSpPr/>
          <p:nvPr/>
        </p:nvSpPr>
        <p:spPr>
          <a:xfrm>
            <a:off x="5733288" y="3383280"/>
            <a:ext cx="941832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733288" y="3438144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19</a:t>
            </a:r>
            <a:endParaRPr lang="en-US" sz="740" dirty="0"/>
          </a:p>
        </p:txBody>
      </p:sp>
      <p:sp>
        <p:nvSpPr>
          <p:cNvPr id="103" name="Shape 101"/>
          <p:cNvSpPr/>
          <p:nvPr/>
        </p:nvSpPr>
        <p:spPr>
          <a:xfrm>
            <a:off x="6720840" y="3383280"/>
            <a:ext cx="941832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720840" y="3438144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38</a:t>
            </a:r>
            <a:endParaRPr lang="en-US" sz="740" dirty="0"/>
          </a:p>
        </p:txBody>
      </p:sp>
      <p:sp>
        <p:nvSpPr>
          <p:cNvPr id="105" name="Shape 103"/>
          <p:cNvSpPr/>
          <p:nvPr/>
        </p:nvSpPr>
        <p:spPr>
          <a:xfrm>
            <a:off x="7708392" y="3383280"/>
            <a:ext cx="941832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708392" y="3438144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57</a:t>
            </a:r>
            <a:endParaRPr lang="en-US" sz="740" dirty="0"/>
          </a:p>
        </p:txBody>
      </p:sp>
      <p:sp>
        <p:nvSpPr>
          <p:cNvPr id="107" name="Shape 105"/>
          <p:cNvSpPr/>
          <p:nvPr/>
        </p:nvSpPr>
        <p:spPr>
          <a:xfrm>
            <a:off x="8695944" y="3383280"/>
            <a:ext cx="941832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695944" y="3438144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76</a:t>
            </a:r>
            <a:endParaRPr lang="en-US" sz="740" dirty="0"/>
          </a:p>
        </p:txBody>
      </p:sp>
      <p:sp>
        <p:nvSpPr>
          <p:cNvPr id="109" name="Shape 107"/>
          <p:cNvSpPr/>
          <p:nvPr/>
        </p:nvSpPr>
        <p:spPr>
          <a:xfrm>
            <a:off x="9683496" y="3383280"/>
            <a:ext cx="941832" cy="265176"/>
          </a:xfrm>
          <a:prstGeom prst="rect">
            <a:avLst/>
          </a:prstGeom>
          <a:solidFill>
            <a:srgbClr val="0B548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683496" y="3438144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95</a:t>
            </a:r>
            <a:endParaRPr lang="en-US" sz="740" dirty="0"/>
          </a:p>
        </p:txBody>
      </p:sp>
      <p:sp>
        <p:nvSpPr>
          <p:cNvPr id="111" name="Text 109"/>
          <p:cNvSpPr/>
          <p:nvPr/>
        </p:nvSpPr>
        <p:spPr>
          <a:xfrm>
            <a:off x="868680" y="373989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282B"/>
                </a:solidFill>
              </a:rPr>
              <a:t>MTD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1783080" y="3675888"/>
            <a:ext cx="941832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783080" y="3730752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55</a:t>
            </a:r>
            <a:endParaRPr lang="en-US" sz="740" dirty="0"/>
          </a:p>
        </p:txBody>
      </p:sp>
      <p:sp>
        <p:nvSpPr>
          <p:cNvPr id="114" name="Shape 112"/>
          <p:cNvSpPr/>
          <p:nvPr/>
        </p:nvSpPr>
        <p:spPr>
          <a:xfrm>
            <a:off x="2770632" y="3675888"/>
            <a:ext cx="941832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770632" y="3730752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74</a:t>
            </a:r>
            <a:endParaRPr lang="en-US" sz="740" dirty="0"/>
          </a:p>
        </p:txBody>
      </p:sp>
      <p:sp>
        <p:nvSpPr>
          <p:cNvPr id="116" name="Shape 114"/>
          <p:cNvSpPr/>
          <p:nvPr/>
        </p:nvSpPr>
        <p:spPr>
          <a:xfrm>
            <a:off x="3758184" y="3675888"/>
            <a:ext cx="941832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758184" y="3730752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93</a:t>
            </a:r>
            <a:endParaRPr lang="en-US" sz="740" dirty="0"/>
          </a:p>
        </p:txBody>
      </p:sp>
      <p:sp>
        <p:nvSpPr>
          <p:cNvPr id="118" name="Shape 116"/>
          <p:cNvSpPr/>
          <p:nvPr/>
        </p:nvSpPr>
        <p:spPr>
          <a:xfrm>
            <a:off x="4745736" y="3675888"/>
            <a:ext cx="941832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745736" y="3730752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11</a:t>
            </a:r>
            <a:endParaRPr lang="en-US" sz="740" dirty="0"/>
          </a:p>
        </p:txBody>
      </p:sp>
      <p:sp>
        <p:nvSpPr>
          <p:cNvPr id="120" name="Shape 118"/>
          <p:cNvSpPr/>
          <p:nvPr/>
        </p:nvSpPr>
        <p:spPr>
          <a:xfrm>
            <a:off x="5733288" y="3675888"/>
            <a:ext cx="941832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733288" y="3730752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30</a:t>
            </a:r>
            <a:endParaRPr lang="en-US" sz="740" dirty="0"/>
          </a:p>
        </p:txBody>
      </p:sp>
      <p:sp>
        <p:nvSpPr>
          <p:cNvPr id="122" name="Shape 120"/>
          <p:cNvSpPr/>
          <p:nvPr/>
        </p:nvSpPr>
        <p:spPr>
          <a:xfrm>
            <a:off x="6720840" y="3675888"/>
            <a:ext cx="941832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720840" y="3730752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49</a:t>
            </a:r>
            <a:endParaRPr lang="en-US" sz="740" dirty="0"/>
          </a:p>
        </p:txBody>
      </p:sp>
      <p:sp>
        <p:nvSpPr>
          <p:cNvPr id="124" name="Shape 122"/>
          <p:cNvSpPr/>
          <p:nvPr/>
        </p:nvSpPr>
        <p:spPr>
          <a:xfrm>
            <a:off x="7708392" y="3675888"/>
            <a:ext cx="941832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708392" y="3730752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68</a:t>
            </a:r>
            <a:endParaRPr lang="en-US" sz="740" dirty="0"/>
          </a:p>
        </p:txBody>
      </p:sp>
      <p:sp>
        <p:nvSpPr>
          <p:cNvPr id="126" name="Shape 124"/>
          <p:cNvSpPr/>
          <p:nvPr/>
        </p:nvSpPr>
        <p:spPr>
          <a:xfrm>
            <a:off x="8695944" y="3675888"/>
            <a:ext cx="941832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695944" y="3730752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87</a:t>
            </a:r>
            <a:endParaRPr lang="en-US" sz="740" dirty="0"/>
          </a:p>
        </p:txBody>
      </p:sp>
      <p:sp>
        <p:nvSpPr>
          <p:cNvPr id="128" name="Shape 126"/>
          <p:cNvSpPr/>
          <p:nvPr/>
        </p:nvSpPr>
        <p:spPr>
          <a:xfrm>
            <a:off x="9683496" y="3675888"/>
            <a:ext cx="941832" cy="265176"/>
          </a:xfrm>
          <a:prstGeom prst="rect">
            <a:avLst/>
          </a:prstGeom>
          <a:solidFill>
            <a:srgbClr val="C8C9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683496" y="3730752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5</a:t>
            </a:r>
            <a:endParaRPr lang="en-US" sz="740" dirty="0"/>
          </a:p>
        </p:txBody>
      </p:sp>
      <p:sp>
        <p:nvSpPr>
          <p:cNvPr id="130" name="Text 128"/>
          <p:cNvSpPr/>
          <p:nvPr/>
        </p:nvSpPr>
        <p:spPr>
          <a:xfrm>
            <a:off x="868680" y="403250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282B"/>
                </a:solidFill>
              </a:rPr>
              <a:t>PACB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1783080" y="3968496"/>
            <a:ext cx="941832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783080" y="402336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66</a:t>
            </a:r>
            <a:endParaRPr lang="en-US" sz="740" dirty="0"/>
          </a:p>
        </p:txBody>
      </p:sp>
      <p:sp>
        <p:nvSpPr>
          <p:cNvPr id="133" name="Shape 131"/>
          <p:cNvSpPr/>
          <p:nvPr/>
        </p:nvSpPr>
        <p:spPr>
          <a:xfrm>
            <a:off x="2770632" y="3968496"/>
            <a:ext cx="941832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770632" y="402336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85</a:t>
            </a:r>
            <a:endParaRPr lang="en-US" sz="740" dirty="0"/>
          </a:p>
        </p:txBody>
      </p:sp>
      <p:sp>
        <p:nvSpPr>
          <p:cNvPr id="135" name="Shape 133"/>
          <p:cNvSpPr/>
          <p:nvPr/>
        </p:nvSpPr>
        <p:spPr>
          <a:xfrm>
            <a:off x="3758184" y="3968496"/>
            <a:ext cx="941832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758184" y="402336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3</a:t>
            </a:r>
            <a:endParaRPr lang="en-US" sz="740" dirty="0"/>
          </a:p>
        </p:txBody>
      </p:sp>
      <p:sp>
        <p:nvSpPr>
          <p:cNvPr id="137" name="Shape 135"/>
          <p:cNvSpPr/>
          <p:nvPr/>
        </p:nvSpPr>
        <p:spPr>
          <a:xfrm>
            <a:off x="4745736" y="3968496"/>
            <a:ext cx="941832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745736" y="402336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22</a:t>
            </a:r>
            <a:endParaRPr lang="en-US" sz="740" dirty="0"/>
          </a:p>
        </p:txBody>
      </p:sp>
      <p:sp>
        <p:nvSpPr>
          <p:cNvPr id="139" name="Shape 137"/>
          <p:cNvSpPr/>
          <p:nvPr/>
        </p:nvSpPr>
        <p:spPr>
          <a:xfrm>
            <a:off x="5733288" y="3968496"/>
            <a:ext cx="941832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733288" y="402336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41</a:t>
            </a:r>
            <a:endParaRPr lang="en-US" sz="740" dirty="0"/>
          </a:p>
        </p:txBody>
      </p:sp>
      <p:sp>
        <p:nvSpPr>
          <p:cNvPr id="141" name="Shape 139"/>
          <p:cNvSpPr/>
          <p:nvPr/>
        </p:nvSpPr>
        <p:spPr>
          <a:xfrm>
            <a:off x="6720840" y="3968496"/>
            <a:ext cx="941832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720840" y="402336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60</a:t>
            </a:r>
            <a:endParaRPr lang="en-US" sz="740" dirty="0"/>
          </a:p>
        </p:txBody>
      </p:sp>
      <p:sp>
        <p:nvSpPr>
          <p:cNvPr id="143" name="Shape 141"/>
          <p:cNvSpPr/>
          <p:nvPr/>
        </p:nvSpPr>
        <p:spPr>
          <a:xfrm>
            <a:off x="7708392" y="3968496"/>
            <a:ext cx="941832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708392" y="402336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79</a:t>
            </a:r>
            <a:endParaRPr lang="en-US" sz="740" dirty="0"/>
          </a:p>
        </p:txBody>
      </p:sp>
      <p:sp>
        <p:nvSpPr>
          <p:cNvPr id="145" name="Shape 143"/>
          <p:cNvSpPr/>
          <p:nvPr/>
        </p:nvSpPr>
        <p:spPr>
          <a:xfrm>
            <a:off x="8695944" y="3968496"/>
            <a:ext cx="941832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8695944" y="402336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98</a:t>
            </a:r>
            <a:endParaRPr lang="en-US" sz="740" dirty="0"/>
          </a:p>
        </p:txBody>
      </p:sp>
      <p:sp>
        <p:nvSpPr>
          <p:cNvPr id="147" name="Shape 145"/>
          <p:cNvSpPr/>
          <p:nvPr/>
        </p:nvSpPr>
        <p:spPr>
          <a:xfrm>
            <a:off x="9683496" y="3968496"/>
            <a:ext cx="941832" cy="265176"/>
          </a:xfrm>
          <a:prstGeom prst="rect">
            <a:avLst/>
          </a:prstGeom>
          <a:solidFill>
            <a:srgbClr val="C8C9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9683496" y="402336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16</a:t>
            </a:r>
            <a:endParaRPr lang="en-US" sz="740" dirty="0"/>
          </a:p>
        </p:txBody>
      </p:sp>
      <p:sp>
        <p:nvSpPr>
          <p:cNvPr id="149" name="Text 147"/>
          <p:cNvSpPr/>
          <p:nvPr/>
        </p:nvSpPr>
        <p:spPr>
          <a:xfrm>
            <a:off x="868680" y="432511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282B"/>
                </a:solidFill>
              </a:rPr>
              <a:t>QGEN</a:t>
            </a:r>
            <a:endParaRPr lang="en-US" sz="850" dirty="0"/>
          </a:p>
        </p:txBody>
      </p:sp>
      <p:sp>
        <p:nvSpPr>
          <p:cNvPr id="150" name="Shape 148"/>
          <p:cNvSpPr/>
          <p:nvPr/>
        </p:nvSpPr>
        <p:spPr>
          <a:xfrm>
            <a:off x="1783080" y="4261104"/>
            <a:ext cx="941832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1783080" y="4315968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77</a:t>
            </a:r>
            <a:endParaRPr lang="en-US" sz="740" dirty="0"/>
          </a:p>
        </p:txBody>
      </p:sp>
      <p:sp>
        <p:nvSpPr>
          <p:cNvPr id="152" name="Shape 150"/>
          <p:cNvSpPr/>
          <p:nvPr/>
        </p:nvSpPr>
        <p:spPr>
          <a:xfrm>
            <a:off x="2770632" y="4261104"/>
            <a:ext cx="941832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2770632" y="4315968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96</a:t>
            </a:r>
            <a:endParaRPr lang="en-US" sz="740" dirty="0"/>
          </a:p>
        </p:txBody>
      </p:sp>
      <p:sp>
        <p:nvSpPr>
          <p:cNvPr id="154" name="Shape 152"/>
          <p:cNvSpPr/>
          <p:nvPr/>
        </p:nvSpPr>
        <p:spPr>
          <a:xfrm>
            <a:off x="3758184" y="4261104"/>
            <a:ext cx="941832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3758184" y="4315968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14</a:t>
            </a:r>
            <a:endParaRPr lang="en-US" sz="740" dirty="0"/>
          </a:p>
        </p:txBody>
      </p:sp>
      <p:sp>
        <p:nvSpPr>
          <p:cNvPr id="156" name="Shape 154"/>
          <p:cNvSpPr/>
          <p:nvPr/>
        </p:nvSpPr>
        <p:spPr>
          <a:xfrm>
            <a:off x="4745736" y="4261104"/>
            <a:ext cx="941832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4745736" y="4315968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33</a:t>
            </a:r>
            <a:endParaRPr lang="en-US" sz="740" dirty="0"/>
          </a:p>
        </p:txBody>
      </p:sp>
      <p:sp>
        <p:nvSpPr>
          <p:cNvPr id="158" name="Shape 156"/>
          <p:cNvSpPr/>
          <p:nvPr/>
        </p:nvSpPr>
        <p:spPr>
          <a:xfrm>
            <a:off x="5733288" y="4261104"/>
            <a:ext cx="941832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5733288" y="4315968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52</a:t>
            </a:r>
            <a:endParaRPr lang="en-US" sz="740" dirty="0"/>
          </a:p>
        </p:txBody>
      </p:sp>
      <p:sp>
        <p:nvSpPr>
          <p:cNvPr id="160" name="Shape 158"/>
          <p:cNvSpPr/>
          <p:nvPr/>
        </p:nvSpPr>
        <p:spPr>
          <a:xfrm>
            <a:off x="6720840" y="4261104"/>
            <a:ext cx="941832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6720840" y="4315968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71</a:t>
            </a:r>
            <a:endParaRPr lang="en-US" sz="740" dirty="0"/>
          </a:p>
        </p:txBody>
      </p:sp>
      <p:sp>
        <p:nvSpPr>
          <p:cNvPr id="162" name="Shape 160"/>
          <p:cNvSpPr/>
          <p:nvPr/>
        </p:nvSpPr>
        <p:spPr>
          <a:xfrm>
            <a:off x="7708392" y="4261104"/>
            <a:ext cx="941832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7708392" y="4315968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90</a:t>
            </a:r>
            <a:endParaRPr lang="en-US" sz="740" dirty="0"/>
          </a:p>
        </p:txBody>
      </p:sp>
      <p:sp>
        <p:nvSpPr>
          <p:cNvPr id="164" name="Shape 162"/>
          <p:cNvSpPr/>
          <p:nvPr/>
        </p:nvSpPr>
        <p:spPr>
          <a:xfrm>
            <a:off x="8695944" y="4261104"/>
            <a:ext cx="941832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8695944" y="4315968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8</a:t>
            </a:r>
            <a:endParaRPr lang="en-US" sz="740" dirty="0"/>
          </a:p>
        </p:txBody>
      </p:sp>
      <p:sp>
        <p:nvSpPr>
          <p:cNvPr id="166" name="Shape 164"/>
          <p:cNvSpPr/>
          <p:nvPr/>
        </p:nvSpPr>
        <p:spPr>
          <a:xfrm>
            <a:off x="9683496" y="4261104"/>
            <a:ext cx="941832" cy="265176"/>
          </a:xfrm>
          <a:prstGeom prst="rect">
            <a:avLst/>
          </a:prstGeom>
          <a:solidFill>
            <a:srgbClr val="C8C9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9683496" y="4315968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27</a:t>
            </a:r>
            <a:endParaRPr lang="en-US" sz="740" dirty="0"/>
          </a:p>
        </p:txBody>
      </p:sp>
      <p:sp>
        <p:nvSpPr>
          <p:cNvPr id="168" name="Text 166"/>
          <p:cNvSpPr/>
          <p:nvPr/>
        </p:nvSpPr>
        <p:spPr>
          <a:xfrm>
            <a:off x="868680" y="461772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282B"/>
                </a:solidFill>
              </a:rPr>
              <a:t>RVTY</a:t>
            </a:r>
            <a:endParaRPr lang="en-US" sz="850" dirty="0"/>
          </a:p>
        </p:txBody>
      </p:sp>
      <p:sp>
        <p:nvSpPr>
          <p:cNvPr id="169" name="Shape 167"/>
          <p:cNvSpPr/>
          <p:nvPr/>
        </p:nvSpPr>
        <p:spPr>
          <a:xfrm>
            <a:off x="1783080" y="4553712"/>
            <a:ext cx="941832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783080" y="4608576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88</a:t>
            </a:r>
            <a:endParaRPr lang="en-US" sz="740" dirty="0"/>
          </a:p>
        </p:txBody>
      </p:sp>
      <p:sp>
        <p:nvSpPr>
          <p:cNvPr id="171" name="Shape 169"/>
          <p:cNvSpPr/>
          <p:nvPr/>
        </p:nvSpPr>
        <p:spPr>
          <a:xfrm>
            <a:off x="2770632" y="4553712"/>
            <a:ext cx="941832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770632" y="4608576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6</a:t>
            </a:r>
            <a:endParaRPr lang="en-US" sz="740" dirty="0"/>
          </a:p>
        </p:txBody>
      </p:sp>
      <p:sp>
        <p:nvSpPr>
          <p:cNvPr id="173" name="Shape 171"/>
          <p:cNvSpPr/>
          <p:nvPr/>
        </p:nvSpPr>
        <p:spPr>
          <a:xfrm>
            <a:off x="3758184" y="4553712"/>
            <a:ext cx="941832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3758184" y="4608576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25</a:t>
            </a:r>
            <a:endParaRPr lang="en-US" sz="740" dirty="0"/>
          </a:p>
        </p:txBody>
      </p:sp>
      <p:sp>
        <p:nvSpPr>
          <p:cNvPr id="175" name="Shape 173"/>
          <p:cNvSpPr/>
          <p:nvPr/>
        </p:nvSpPr>
        <p:spPr>
          <a:xfrm>
            <a:off x="4745736" y="4553712"/>
            <a:ext cx="941832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4745736" y="4608576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44</a:t>
            </a:r>
            <a:endParaRPr lang="en-US" sz="740" dirty="0"/>
          </a:p>
        </p:txBody>
      </p:sp>
      <p:sp>
        <p:nvSpPr>
          <p:cNvPr id="177" name="Shape 175"/>
          <p:cNvSpPr/>
          <p:nvPr/>
        </p:nvSpPr>
        <p:spPr>
          <a:xfrm>
            <a:off x="5733288" y="4553712"/>
            <a:ext cx="941832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5733288" y="4608576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63</a:t>
            </a:r>
            <a:endParaRPr lang="en-US" sz="740" dirty="0"/>
          </a:p>
        </p:txBody>
      </p:sp>
      <p:sp>
        <p:nvSpPr>
          <p:cNvPr id="179" name="Shape 177"/>
          <p:cNvSpPr/>
          <p:nvPr/>
        </p:nvSpPr>
        <p:spPr>
          <a:xfrm>
            <a:off x="6720840" y="4553712"/>
            <a:ext cx="941832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6720840" y="4608576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82</a:t>
            </a:r>
            <a:endParaRPr lang="en-US" sz="740" dirty="0"/>
          </a:p>
        </p:txBody>
      </p:sp>
      <p:sp>
        <p:nvSpPr>
          <p:cNvPr id="181" name="Shape 179"/>
          <p:cNvSpPr/>
          <p:nvPr/>
        </p:nvSpPr>
        <p:spPr>
          <a:xfrm>
            <a:off x="7708392" y="4553712"/>
            <a:ext cx="941832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7708392" y="4608576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0</a:t>
            </a:r>
            <a:endParaRPr lang="en-US" sz="740" dirty="0"/>
          </a:p>
        </p:txBody>
      </p:sp>
      <p:sp>
        <p:nvSpPr>
          <p:cNvPr id="183" name="Shape 181"/>
          <p:cNvSpPr/>
          <p:nvPr/>
        </p:nvSpPr>
        <p:spPr>
          <a:xfrm>
            <a:off x="8695944" y="4553712"/>
            <a:ext cx="941832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8695944" y="4608576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19</a:t>
            </a:r>
            <a:endParaRPr lang="en-US" sz="740" dirty="0"/>
          </a:p>
        </p:txBody>
      </p:sp>
      <p:sp>
        <p:nvSpPr>
          <p:cNvPr id="185" name="Shape 183"/>
          <p:cNvSpPr/>
          <p:nvPr/>
        </p:nvSpPr>
        <p:spPr>
          <a:xfrm>
            <a:off x="9683496" y="4553712"/>
            <a:ext cx="941832" cy="265176"/>
          </a:xfrm>
          <a:prstGeom prst="rect">
            <a:avLst/>
          </a:prstGeom>
          <a:solidFill>
            <a:srgbClr val="C8C9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9683496" y="4608576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38</a:t>
            </a:r>
            <a:endParaRPr lang="en-US" sz="740" dirty="0"/>
          </a:p>
        </p:txBody>
      </p:sp>
      <p:sp>
        <p:nvSpPr>
          <p:cNvPr id="187" name="Text 185"/>
          <p:cNvSpPr/>
          <p:nvPr/>
        </p:nvSpPr>
        <p:spPr>
          <a:xfrm>
            <a:off x="868680" y="4910328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282B"/>
                </a:solidFill>
              </a:rPr>
              <a:t>TECH</a:t>
            </a:r>
            <a:endParaRPr lang="en-US" sz="850" dirty="0"/>
          </a:p>
        </p:txBody>
      </p:sp>
      <p:sp>
        <p:nvSpPr>
          <p:cNvPr id="188" name="Shape 186"/>
          <p:cNvSpPr/>
          <p:nvPr/>
        </p:nvSpPr>
        <p:spPr>
          <a:xfrm>
            <a:off x="1783080" y="4846320"/>
            <a:ext cx="941832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1783080" y="4901184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99</a:t>
            </a:r>
            <a:endParaRPr lang="en-US" sz="740" dirty="0"/>
          </a:p>
        </p:txBody>
      </p:sp>
      <p:sp>
        <p:nvSpPr>
          <p:cNvPr id="190" name="Shape 188"/>
          <p:cNvSpPr/>
          <p:nvPr/>
        </p:nvSpPr>
        <p:spPr>
          <a:xfrm>
            <a:off x="2770632" y="4846320"/>
            <a:ext cx="941832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2770632" y="4901184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17</a:t>
            </a:r>
            <a:endParaRPr lang="en-US" sz="740" dirty="0"/>
          </a:p>
        </p:txBody>
      </p:sp>
      <p:sp>
        <p:nvSpPr>
          <p:cNvPr id="192" name="Shape 190"/>
          <p:cNvSpPr/>
          <p:nvPr/>
        </p:nvSpPr>
        <p:spPr>
          <a:xfrm>
            <a:off x="3758184" y="4846320"/>
            <a:ext cx="941832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3758184" y="4901184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36</a:t>
            </a:r>
            <a:endParaRPr lang="en-US" sz="740" dirty="0"/>
          </a:p>
        </p:txBody>
      </p:sp>
      <p:sp>
        <p:nvSpPr>
          <p:cNvPr id="194" name="Shape 192"/>
          <p:cNvSpPr/>
          <p:nvPr/>
        </p:nvSpPr>
        <p:spPr>
          <a:xfrm>
            <a:off x="4745736" y="4846320"/>
            <a:ext cx="941832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4745736" y="4901184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55</a:t>
            </a:r>
            <a:endParaRPr lang="en-US" sz="740" dirty="0"/>
          </a:p>
        </p:txBody>
      </p:sp>
      <p:sp>
        <p:nvSpPr>
          <p:cNvPr id="196" name="Shape 194"/>
          <p:cNvSpPr/>
          <p:nvPr/>
        </p:nvSpPr>
        <p:spPr>
          <a:xfrm>
            <a:off x="5733288" y="4846320"/>
            <a:ext cx="941832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5733288" y="4901184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74</a:t>
            </a:r>
            <a:endParaRPr lang="en-US" sz="740" dirty="0"/>
          </a:p>
        </p:txBody>
      </p:sp>
      <p:sp>
        <p:nvSpPr>
          <p:cNvPr id="198" name="Shape 196"/>
          <p:cNvSpPr/>
          <p:nvPr/>
        </p:nvSpPr>
        <p:spPr>
          <a:xfrm>
            <a:off x="6720840" y="4846320"/>
            <a:ext cx="941832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6720840" y="4901184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93</a:t>
            </a:r>
            <a:endParaRPr lang="en-US" sz="740" dirty="0"/>
          </a:p>
        </p:txBody>
      </p:sp>
      <p:sp>
        <p:nvSpPr>
          <p:cNvPr id="200" name="Shape 198"/>
          <p:cNvSpPr/>
          <p:nvPr/>
        </p:nvSpPr>
        <p:spPr>
          <a:xfrm>
            <a:off x="7708392" y="4846320"/>
            <a:ext cx="941832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7708392" y="4901184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11</a:t>
            </a:r>
            <a:endParaRPr lang="en-US" sz="740" dirty="0"/>
          </a:p>
        </p:txBody>
      </p:sp>
      <p:sp>
        <p:nvSpPr>
          <p:cNvPr id="202" name="Shape 200"/>
          <p:cNvSpPr/>
          <p:nvPr/>
        </p:nvSpPr>
        <p:spPr>
          <a:xfrm>
            <a:off x="8695944" y="4846320"/>
            <a:ext cx="941832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8695944" y="4901184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30</a:t>
            </a:r>
            <a:endParaRPr lang="en-US" sz="740" dirty="0"/>
          </a:p>
        </p:txBody>
      </p:sp>
      <p:sp>
        <p:nvSpPr>
          <p:cNvPr id="204" name="Shape 202"/>
          <p:cNvSpPr/>
          <p:nvPr/>
        </p:nvSpPr>
        <p:spPr>
          <a:xfrm>
            <a:off x="9683496" y="4846320"/>
            <a:ext cx="941832" cy="265176"/>
          </a:xfrm>
          <a:prstGeom prst="rect">
            <a:avLst/>
          </a:prstGeom>
          <a:solidFill>
            <a:srgbClr val="C8C9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9683496" y="4901184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49</a:t>
            </a:r>
            <a:endParaRPr lang="en-US" sz="740" dirty="0"/>
          </a:p>
        </p:txBody>
      </p:sp>
      <p:sp>
        <p:nvSpPr>
          <p:cNvPr id="206" name="Text 204"/>
          <p:cNvSpPr/>
          <p:nvPr/>
        </p:nvSpPr>
        <p:spPr>
          <a:xfrm>
            <a:off x="868680" y="520293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282B"/>
                </a:solidFill>
              </a:rPr>
              <a:t>TMO</a:t>
            </a:r>
            <a:endParaRPr lang="en-US" sz="850" dirty="0"/>
          </a:p>
        </p:txBody>
      </p:sp>
      <p:sp>
        <p:nvSpPr>
          <p:cNvPr id="207" name="Shape 205"/>
          <p:cNvSpPr/>
          <p:nvPr/>
        </p:nvSpPr>
        <p:spPr>
          <a:xfrm>
            <a:off x="1783080" y="5138928"/>
            <a:ext cx="941832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1783080" y="5193792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9</a:t>
            </a:r>
            <a:endParaRPr lang="en-US" sz="740" dirty="0"/>
          </a:p>
        </p:txBody>
      </p:sp>
      <p:sp>
        <p:nvSpPr>
          <p:cNvPr id="209" name="Shape 207"/>
          <p:cNvSpPr/>
          <p:nvPr/>
        </p:nvSpPr>
        <p:spPr>
          <a:xfrm>
            <a:off x="2770632" y="5138928"/>
            <a:ext cx="941832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2770632" y="5193792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28</a:t>
            </a:r>
            <a:endParaRPr lang="en-US" sz="740" dirty="0"/>
          </a:p>
        </p:txBody>
      </p:sp>
      <p:sp>
        <p:nvSpPr>
          <p:cNvPr id="211" name="Shape 209"/>
          <p:cNvSpPr/>
          <p:nvPr/>
        </p:nvSpPr>
        <p:spPr>
          <a:xfrm>
            <a:off x="3758184" y="5138928"/>
            <a:ext cx="941832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3758184" y="5193792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47</a:t>
            </a:r>
            <a:endParaRPr lang="en-US" sz="740" dirty="0"/>
          </a:p>
        </p:txBody>
      </p:sp>
      <p:sp>
        <p:nvSpPr>
          <p:cNvPr id="213" name="Shape 211"/>
          <p:cNvSpPr/>
          <p:nvPr/>
        </p:nvSpPr>
        <p:spPr>
          <a:xfrm>
            <a:off x="4745736" y="5138928"/>
            <a:ext cx="941832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4745736" y="5193792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66</a:t>
            </a:r>
            <a:endParaRPr lang="en-US" sz="740" dirty="0"/>
          </a:p>
        </p:txBody>
      </p:sp>
      <p:sp>
        <p:nvSpPr>
          <p:cNvPr id="215" name="Shape 213"/>
          <p:cNvSpPr/>
          <p:nvPr/>
        </p:nvSpPr>
        <p:spPr>
          <a:xfrm>
            <a:off x="5733288" y="5138928"/>
            <a:ext cx="941832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5733288" y="5193792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85</a:t>
            </a:r>
            <a:endParaRPr lang="en-US" sz="740" dirty="0"/>
          </a:p>
        </p:txBody>
      </p:sp>
      <p:sp>
        <p:nvSpPr>
          <p:cNvPr id="217" name="Shape 215"/>
          <p:cNvSpPr/>
          <p:nvPr/>
        </p:nvSpPr>
        <p:spPr>
          <a:xfrm>
            <a:off x="6720840" y="5138928"/>
            <a:ext cx="941832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6720840" y="5193792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3</a:t>
            </a:r>
            <a:endParaRPr lang="en-US" sz="740" dirty="0"/>
          </a:p>
        </p:txBody>
      </p:sp>
      <p:sp>
        <p:nvSpPr>
          <p:cNvPr id="219" name="Shape 217"/>
          <p:cNvSpPr/>
          <p:nvPr/>
        </p:nvSpPr>
        <p:spPr>
          <a:xfrm>
            <a:off x="7708392" y="5138928"/>
            <a:ext cx="941832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7708392" y="5193792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22</a:t>
            </a:r>
            <a:endParaRPr lang="en-US" sz="740" dirty="0"/>
          </a:p>
        </p:txBody>
      </p:sp>
      <p:sp>
        <p:nvSpPr>
          <p:cNvPr id="221" name="Shape 219"/>
          <p:cNvSpPr/>
          <p:nvPr/>
        </p:nvSpPr>
        <p:spPr>
          <a:xfrm>
            <a:off x="8695944" y="5138928"/>
            <a:ext cx="941832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8695944" y="5193792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41</a:t>
            </a:r>
            <a:endParaRPr lang="en-US" sz="740" dirty="0"/>
          </a:p>
        </p:txBody>
      </p:sp>
      <p:sp>
        <p:nvSpPr>
          <p:cNvPr id="223" name="Shape 221"/>
          <p:cNvSpPr/>
          <p:nvPr/>
        </p:nvSpPr>
        <p:spPr>
          <a:xfrm>
            <a:off x="9683496" y="5138928"/>
            <a:ext cx="941832" cy="265176"/>
          </a:xfrm>
          <a:prstGeom prst="rect">
            <a:avLst/>
          </a:prstGeom>
          <a:solidFill>
            <a:srgbClr val="0B548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9683496" y="5193792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60</a:t>
            </a:r>
            <a:endParaRPr lang="en-US" sz="740" dirty="0"/>
          </a:p>
        </p:txBody>
      </p:sp>
      <p:sp>
        <p:nvSpPr>
          <p:cNvPr id="225" name="Text 223"/>
          <p:cNvSpPr/>
          <p:nvPr/>
        </p:nvSpPr>
        <p:spPr>
          <a:xfrm>
            <a:off x="868680" y="549554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282B"/>
                </a:solidFill>
              </a:rPr>
              <a:t>WAT</a:t>
            </a:r>
            <a:endParaRPr lang="en-US" sz="850" dirty="0"/>
          </a:p>
        </p:txBody>
      </p:sp>
      <p:sp>
        <p:nvSpPr>
          <p:cNvPr id="226" name="Shape 224"/>
          <p:cNvSpPr/>
          <p:nvPr/>
        </p:nvSpPr>
        <p:spPr>
          <a:xfrm>
            <a:off x="1783080" y="5431536"/>
            <a:ext cx="941832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1783080" y="548640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20</a:t>
            </a:r>
            <a:endParaRPr lang="en-US" sz="740" dirty="0"/>
          </a:p>
        </p:txBody>
      </p:sp>
      <p:sp>
        <p:nvSpPr>
          <p:cNvPr id="228" name="Shape 226"/>
          <p:cNvSpPr/>
          <p:nvPr/>
        </p:nvSpPr>
        <p:spPr>
          <a:xfrm>
            <a:off x="2770632" y="5431536"/>
            <a:ext cx="941832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2770632" y="548640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39</a:t>
            </a:r>
            <a:endParaRPr lang="en-US" sz="740" dirty="0"/>
          </a:p>
        </p:txBody>
      </p:sp>
      <p:sp>
        <p:nvSpPr>
          <p:cNvPr id="230" name="Shape 228"/>
          <p:cNvSpPr/>
          <p:nvPr/>
        </p:nvSpPr>
        <p:spPr>
          <a:xfrm>
            <a:off x="3758184" y="5431536"/>
            <a:ext cx="941832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3758184" y="548640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58</a:t>
            </a:r>
            <a:endParaRPr lang="en-US" sz="740" dirty="0"/>
          </a:p>
        </p:txBody>
      </p:sp>
      <p:sp>
        <p:nvSpPr>
          <p:cNvPr id="232" name="Shape 230"/>
          <p:cNvSpPr/>
          <p:nvPr/>
        </p:nvSpPr>
        <p:spPr>
          <a:xfrm>
            <a:off x="4745736" y="5431536"/>
            <a:ext cx="941832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4745736" y="548640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77</a:t>
            </a:r>
            <a:endParaRPr lang="en-US" sz="740" dirty="0"/>
          </a:p>
        </p:txBody>
      </p:sp>
      <p:sp>
        <p:nvSpPr>
          <p:cNvPr id="234" name="Shape 232"/>
          <p:cNvSpPr/>
          <p:nvPr/>
        </p:nvSpPr>
        <p:spPr>
          <a:xfrm>
            <a:off x="5733288" y="5431536"/>
            <a:ext cx="941832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5733288" y="548640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96</a:t>
            </a:r>
            <a:endParaRPr lang="en-US" sz="740" dirty="0"/>
          </a:p>
        </p:txBody>
      </p:sp>
      <p:sp>
        <p:nvSpPr>
          <p:cNvPr id="236" name="Shape 234"/>
          <p:cNvSpPr/>
          <p:nvPr/>
        </p:nvSpPr>
        <p:spPr>
          <a:xfrm>
            <a:off x="6720840" y="5431536"/>
            <a:ext cx="941832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6720840" y="548640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14</a:t>
            </a:r>
            <a:endParaRPr lang="en-US" sz="740" dirty="0"/>
          </a:p>
        </p:txBody>
      </p:sp>
      <p:sp>
        <p:nvSpPr>
          <p:cNvPr id="238" name="Shape 236"/>
          <p:cNvSpPr/>
          <p:nvPr/>
        </p:nvSpPr>
        <p:spPr>
          <a:xfrm>
            <a:off x="7708392" y="5431536"/>
            <a:ext cx="941832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7708392" y="548640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33</a:t>
            </a:r>
            <a:endParaRPr lang="en-US" sz="740" dirty="0"/>
          </a:p>
        </p:txBody>
      </p:sp>
      <p:sp>
        <p:nvSpPr>
          <p:cNvPr id="240" name="Shape 238"/>
          <p:cNvSpPr/>
          <p:nvPr/>
        </p:nvSpPr>
        <p:spPr>
          <a:xfrm>
            <a:off x="8695944" y="5431536"/>
            <a:ext cx="941832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8695944" y="548640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52</a:t>
            </a:r>
            <a:endParaRPr lang="en-US" sz="740" dirty="0"/>
          </a:p>
        </p:txBody>
      </p:sp>
      <p:sp>
        <p:nvSpPr>
          <p:cNvPr id="242" name="Shape 240"/>
          <p:cNvSpPr/>
          <p:nvPr/>
        </p:nvSpPr>
        <p:spPr>
          <a:xfrm>
            <a:off x="9683496" y="5431536"/>
            <a:ext cx="941832" cy="265176"/>
          </a:xfrm>
          <a:prstGeom prst="rect">
            <a:avLst/>
          </a:prstGeom>
          <a:solidFill>
            <a:srgbClr val="0B548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9683496" y="548640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71</a:t>
            </a:r>
            <a:endParaRPr lang="en-US" sz="740" dirty="0"/>
          </a:p>
        </p:txBody>
      </p:sp>
      <p:sp>
        <p:nvSpPr>
          <p:cNvPr id="244" name="Shape 242"/>
          <p:cNvSpPr/>
          <p:nvPr/>
        </p:nvSpPr>
        <p:spPr>
          <a:xfrm>
            <a:off x="502920" y="6007608"/>
            <a:ext cx="11183112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713232" y="6099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takeaway goes here: identify the leader, the differentiated archetype, and the surprising disconnect.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EXHIBIT TEMPLATE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exhibit with executive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8732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one high-value metric such as R&amp;D intensity, patents or scientific footprint.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418320" y="658368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8048" y="731520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TEMPLATE 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7726680" cy="3794760"/>
          </a:xfrm>
          <a:prstGeom prst="roundRect">
            <a:avLst>
              <a:gd name="adj" fmla="val 964"/>
            </a:avLst>
          </a:prstGeom>
          <a:solidFill>
            <a:srgbClr val="FBFBFB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07792" y="336499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C9CB"/>
                </a:solidFill>
              </a:rPr>
              <a:t>DROP FINAL CHART HERE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58568" y="385876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76C72"/>
                </a:solidFill>
              </a:rPr>
              <a:t>Recommended: horizontal ranked chart or dot-and-range plot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68512" y="1847088"/>
            <a:ext cx="2834640" cy="3794760"/>
          </a:xfrm>
          <a:prstGeom prst="roundRect">
            <a:avLst>
              <a:gd name="adj" fmla="val 1935"/>
            </a:avLst>
          </a:prstGeom>
          <a:solidFill>
            <a:srgbClr val="F7FBFD"/>
          </a:solidFill>
          <a:ln w="12700">
            <a:solidFill>
              <a:srgbClr val="A9DD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68512" y="1847088"/>
            <a:ext cx="73152" cy="3794760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0" y="2011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Key takeaways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869680" y="2350008"/>
            <a:ext cx="2450592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5282B"/>
                </a:solidFill>
              </a:rPr>
              <a:t>1. Main conclusion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5282B"/>
                </a:solidFill>
              </a:rPr>
              <a:t>2. Company or cluster that explains the result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5282B"/>
                </a:solidFill>
              </a:rPr>
              <a:t>3. What it means for the investment debate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5282B"/>
                </a:solidFill>
              </a:rPr>
              <a:t>4. Caveat / interpretation note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6007608"/>
            <a:ext cx="11183112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6099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One-sentence “so what” goes here.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EXHIBIT TEMPLATE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Two-panel comparison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8732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award share versus funding share, current versus historical, or two complementary metrics.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418320" y="658368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8048" y="731520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TEMPLATE 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847088"/>
            <a:ext cx="5285232" cy="3703320"/>
          </a:xfrm>
          <a:prstGeom prst="roundRect">
            <a:avLst>
              <a:gd name="adj" fmla="val 988"/>
            </a:avLst>
          </a:prstGeom>
          <a:solidFill>
            <a:srgbClr val="FBFBFB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50008" y="32552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C9CB"/>
                </a:solidFill>
              </a:rPr>
              <a:t>PANEL 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58568" y="369417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76C72"/>
                </a:solidFill>
              </a:rPr>
              <a:t>e.g., award share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847088"/>
            <a:ext cx="5285232" cy="3703320"/>
          </a:xfrm>
          <a:prstGeom prst="roundRect">
            <a:avLst>
              <a:gd name="adj" fmla="val 988"/>
            </a:avLst>
          </a:prstGeom>
          <a:solidFill>
            <a:srgbClr val="FBFBFB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32552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C9CB"/>
                </a:solidFill>
              </a:rPr>
              <a:t>PANEL 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818120" y="369417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76C72"/>
                </a:solidFill>
              </a:rPr>
              <a:t>e.g., funding share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6007608"/>
            <a:ext cx="11183112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6099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one company order across both panels when row-by-row comparison matters.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EXHIBIT TEMPLATE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KPIs plus trend exhibit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8732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a source-level overview before showing company rankings.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418320" y="658368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8048" y="731520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TEMPLATE 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2011680" cy="1143000"/>
          </a:xfrm>
          <a:prstGeom prst="roundRect">
            <a:avLst>
              <a:gd name="adj" fmla="val 3200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756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E9DD2"/>
                </a:solidFill>
              </a:rPr>
              <a:t>XX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68680" y="2542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76C72"/>
                </a:solidFill>
              </a:rPr>
              <a:t>KPI 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71800" y="1828800"/>
            <a:ext cx="2011680" cy="1143000"/>
          </a:xfrm>
          <a:prstGeom prst="roundRect">
            <a:avLst>
              <a:gd name="adj" fmla="val 3200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20756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XX%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154680" y="2542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76C72"/>
                </a:solidFill>
              </a:rPr>
              <a:t>KPI 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257800" y="1828800"/>
            <a:ext cx="2011680" cy="1143000"/>
          </a:xfrm>
          <a:prstGeom prst="roundRect">
            <a:avLst>
              <a:gd name="adj" fmla="val 3200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20756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$XXM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5440680" y="2542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76C72"/>
                </a:solidFill>
              </a:rPr>
              <a:t>KPI 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273552"/>
            <a:ext cx="10835640" cy="2212848"/>
          </a:xfrm>
          <a:prstGeom prst="roundRect">
            <a:avLst>
              <a:gd name="adj" fmla="val 1653"/>
            </a:avLst>
          </a:prstGeom>
          <a:solidFill>
            <a:srgbClr val="FBFBFB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408736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8C9CB"/>
                </a:solidFill>
              </a:rPr>
              <a:t>DROP TREND / TIME-SERIES EXHIBIT HERE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502920" y="6007608"/>
            <a:ext cx="11183112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6099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format when the audience first needs context on the size or direction of the underlying market.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EXHIBIT TEMPLATE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versus predicted / above-below benchmark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8732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later for descriptive regression or peer-benchmark positioning.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418320" y="658368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8048" y="731520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TEMPLATE 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7406640" cy="3822192"/>
          </a:xfrm>
          <a:prstGeom prst="roundRect">
            <a:avLst>
              <a:gd name="adj" fmla="val 957"/>
            </a:avLst>
          </a:prstGeom>
          <a:solidFill>
            <a:srgbClr val="FBFBFB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5166360"/>
            <a:ext cx="614476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5166360"/>
            <a:ext cx="0" cy="-269748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4956048"/>
            <a:ext cx="5440680" cy="-2240280"/>
          </a:xfrm>
          <a:prstGeom prst="line">
            <a:avLst/>
          </a:prstGeom>
          <a:noFill/>
          <a:ln w="15240">
            <a:solidFill>
              <a:srgbClr val="C8C9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20240" y="4389120"/>
            <a:ext cx="182880" cy="182880"/>
          </a:xfrm>
          <a:prstGeom prst="ellipse">
            <a:avLst/>
          </a:prstGeom>
          <a:solidFill>
            <a:srgbClr val="1E9D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66544" y="43616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282B"/>
                </a:solidFill>
              </a:rPr>
              <a:t>A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560320" y="3840480"/>
            <a:ext cx="182880" cy="182880"/>
          </a:xfrm>
          <a:prstGeom prst="ellipse">
            <a:avLst/>
          </a:prstGeom>
          <a:solidFill>
            <a:srgbClr val="1E9D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06624" y="38130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282B"/>
                </a:solidFill>
              </a:rPr>
              <a:t>BIO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108960" y="4160520"/>
            <a:ext cx="182880" cy="182880"/>
          </a:xfrm>
          <a:prstGeom prst="ellipse">
            <a:avLst/>
          </a:prstGeom>
          <a:solidFill>
            <a:srgbClr val="1E9D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55264" y="41330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282B"/>
                </a:solidFill>
              </a:rPr>
              <a:t>DHR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840480" y="3474720"/>
            <a:ext cx="182880" cy="182880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86784" y="34472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282B"/>
                </a:solidFill>
              </a:rPr>
              <a:t>TMO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0" y="2971800"/>
            <a:ext cx="182880" cy="182880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8304" y="29443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282B"/>
                </a:solidFill>
              </a:rPr>
              <a:t>PACB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303520" y="3337560"/>
            <a:ext cx="182880" cy="182880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9824" y="33101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282B"/>
                </a:solidFill>
              </a:rPr>
              <a:t>WAT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852160" y="2606040"/>
            <a:ext cx="182880" cy="182880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98464" y="257860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282B"/>
                </a:solidFill>
              </a:rPr>
              <a:t>BRKR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657600" y="534009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76C72"/>
                </a:solidFill>
              </a:rPr>
              <a:t>Predicted output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 rot="16200000">
            <a:off x="45720" y="310896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76C72"/>
                </a:solidFill>
              </a:rPr>
              <a:t>Actual output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366760" y="1828800"/>
            <a:ext cx="3108960" cy="3822192"/>
          </a:xfrm>
          <a:prstGeom prst="roundRect">
            <a:avLst>
              <a:gd name="adj" fmla="val 1765"/>
            </a:avLst>
          </a:prstGeom>
          <a:solidFill>
            <a:srgbClr val="F7FBFD"/>
          </a:solidFill>
          <a:ln w="12700">
            <a:solidFill>
              <a:srgbClr val="A9DD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66760" y="1828800"/>
            <a:ext cx="73152" cy="382219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67928" y="19933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567928" y="2331720"/>
            <a:ext cx="2724912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Above the line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Output exceeds the peer benchmark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Near the line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Broadly consistent with inputs / scale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Below the line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Output trails the peer benchmark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Label this “relative output,” not efficiency.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6007608"/>
            <a:ext cx="11183112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6099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only after the descriptive metrics are established; keep the model simple and transparent.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EXHIBIT TEMPLATE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quote tracker / management language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8732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a sector snapshot with representative evidence.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418320" y="658368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8048" y="731520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TEMPLATE F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3401568" cy="3611880"/>
          </a:xfrm>
          <a:prstGeom prst="roundRect">
            <a:avLst>
              <a:gd name="adj" fmla="val 1344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74520"/>
            <a:ext cx="3401568" cy="530352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2996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POSITIVE / EASING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96696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00000"/>
                </a:solidFill>
              </a:rPr>
              <a:t>“Representative management quote or concise paraphrase goes here.”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16152" y="4041648"/>
            <a:ext cx="2331720" cy="0"/>
          </a:xfrm>
          <a:prstGeom prst="line">
            <a:avLst/>
          </a:prstGeom>
          <a:noFill/>
          <a:ln w="12700">
            <a:solidFill>
              <a:srgbClr val="E8EA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426110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76C72"/>
                </a:solidFill>
              </a:rPr>
              <a:t>Company • quarter • event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76C72"/>
                </a:solidFill>
              </a:rPr>
              <a:t>Research interpretation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53128" y="1874520"/>
            <a:ext cx="3401568" cy="3611880"/>
          </a:xfrm>
          <a:prstGeom prst="roundRect">
            <a:avLst>
              <a:gd name="adj" fmla="val 1344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53128" y="1874520"/>
            <a:ext cx="3401568" cy="530352"/>
          </a:xfrm>
          <a:prstGeom prst="rect">
            <a:avLst/>
          </a:prstGeom>
          <a:solidFill>
            <a:srgbClr val="E5B944"/>
          </a:solidFill>
          <a:ln w="12700">
            <a:solidFill>
              <a:srgbClr val="E5B9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6008" y="202996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MIXED / WATCH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64024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00000"/>
                </a:solidFill>
              </a:rPr>
              <a:t>“Representative management quote or concise paraphrase goes here.”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83480" y="4041648"/>
            <a:ext cx="2331720" cy="0"/>
          </a:xfrm>
          <a:prstGeom prst="line">
            <a:avLst/>
          </a:prstGeom>
          <a:noFill/>
          <a:ln w="12700">
            <a:solidFill>
              <a:srgbClr val="E8EA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4024" y="426110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76C72"/>
                </a:solidFill>
              </a:rPr>
              <a:t>Company • quarter • event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76C72"/>
                </a:solidFill>
              </a:rPr>
              <a:t>Research interpretation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220456" y="1874520"/>
            <a:ext cx="3401568" cy="3611880"/>
          </a:xfrm>
          <a:prstGeom prst="roundRect">
            <a:avLst>
              <a:gd name="adj" fmla="val 1344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0456" y="1874520"/>
            <a:ext cx="3401568" cy="530352"/>
          </a:xfrm>
          <a:prstGeom prst="rect">
            <a:avLst/>
          </a:prstGeom>
          <a:solidFill>
            <a:srgbClr val="D95A4E"/>
          </a:solidFill>
          <a:ln w="12700">
            <a:solidFill>
              <a:srgbClr val="D95A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03336" y="202996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NEGATIVE / EMERGING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31352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00000"/>
                </a:solidFill>
              </a:rPr>
              <a:t>“Representative management quote or concise paraphrase goes here.”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750808" y="4041648"/>
            <a:ext cx="2331720" cy="0"/>
          </a:xfrm>
          <a:prstGeom prst="line">
            <a:avLst/>
          </a:prstGeom>
          <a:noFill/>
          <a:ln w="12700">
            <a:solidFill>
              <a:srgbClr val="E8EA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31352" y="426110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76C72"/>
                </a:solidFill>
              </a:rPr>
              <a:t>Company • quarter • event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76C72"/>
                </a:solidFill>
              </a:rPr>
              <a:t>Research interpretation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6007608"/>
            <a:ext cx="11183112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6099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quotes selectively: the tracker provides breadth, while the slide shows only the evidence needed to support the conclusion.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EXHIBIT TEMPLATE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and data integrity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8732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a senior audience needs confidence in a proprietary dataset.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418320" y="658368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8048" y="731520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TEMPLATE 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2057400" cy="2606040"/>
          </a:xfrm>
          <a:prstGeom prst="roundRect">
            <a:avLst>
              <a:gd name="adj" fmla="val 2222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9304" y="2267712"/>
            <a:ext cx="493776" cy="493776"/>
          </a:xfrm>
          <a:prstGeom prst="ellipse">
            <a:avLst/>
          </a:prstGeom>
          <a:solidFill>
            <a:srgbClr val="1E9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9304" y="241401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96265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SOURCE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529584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76C72"/>
                </a:solidFill>
              </a:rPr>
              <a:t>What was collected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2999232"/>
            <a:ext cx="201168" cy="457200"/>
          </a:xfrm>
          <a:prstGeom prst="chevron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2011680"/>
            <a:ext cx="2057400" cy="2606040"/>
          </a:xfrm>
          <a:prstGeom prst="roundRect">
            <a:avLst>
              <a:gd name="adj" fmla="val 2222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21024" y="2267712"/>
            <a:ext cx="493776" cy="493776"/>
          </a:xfrm>
          <a:prstGeom prst="ellipse">
            <a:avLst/>
          </a:prstGeom>
          <a:solidFill>
            <a:srgbClr val="1E9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21024" y="241401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296265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SAMPLE / UNIVERSE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63240" y="3529584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76C72"/>
                </a:solidFill>
              </a:rPr>
              <a:t>How records entered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2999232"/>
            <a:ext cx="201168" cy="457200"/>
          </a:xfrm>
          <a:prstGeom prst="chevron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2011680"/>
            <a:ext cx="2057400" cy="2606040"/>
          </a:xfrm>
          <a:prstGeom prst="roundRect">
            <a:avLst>
              <a:gd name="adj" fmla="val 2222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52744" y="2267712"/>
            <a:ext cx="493776" cy="49377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52744" y="241401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49240" y="296265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MATCHING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94960" y="3529584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76C72"/>
                </a:solidFill>
              </a:rPr>
              <a:t>How company links were identified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69480" y="2999232"/>
            <a:ext cx="201168" cy="457200"/>
          </a:xfrm>
          <a:prstGeom prst="chevron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2011680"/>
            <a:ext cx="2057400" cy="2606040"/>
          </a:xfrm>
          <a:prstGeom prst="roundRect">
            <a:avLst>
              <a:gd name="adj" fmla="val 2222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84464" y="2267712"/>
            <a:ext cx="493776" cy="49377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84464" y="241401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80960" y="296265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DEDUPLICATION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26680" y="3529584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76C72"/>
                </a:solidFill>
              </a:rPr>
              <a:t>Unit of analysis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601200" y="2999232"/>
            <a:ext cx="201168" cy="457200"/>
          </a:xfrm>
          <a:prstGeom prst="chevron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29800" y="2011680"/>
            <a:ext cx="2057400" cy="2606040"/>
          </a:xfrm>
          <a:prstGeom prst="roundRect">
            <a:avLst>
              <a:gd name="adj" fmla="val 2222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616184" y="2267712"/>
            <a:ext cx="493776" cy="49377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16184" y="241401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012680" y="296265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QUALITY CONTROL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058400" y="3529584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76C72"/>
                </a:solidFill>
              </a:rPr>
              <a:t>What was audited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51560" y="4919472"/>
            <a:ext cx="10104120" cy="566928"/>
          </a:xfrm>
          <a:prstGeom prst="roundRect">
            <a:avLst>
              <a:gd name="adj" fmla="val 9677"/>
            </a:avLst>
          </a:prstGeom>
          <a:solidFill>
            <a:srgbClr val="DFF2FA"/>
          </a:solidFill>
          <a:ln w="12700">
            <a:solidFill>
              <a:srgbClr val="A9DD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51560" y="4919472"/>
            <a:ext cx="73152" cy="566928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52728" y="5084064"/>
            <a:ext cx="9738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</a:rPr>
              <a:t>Suggested footnote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252728" y="5422392"/>
            <a:ext cx="9720072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</a:rPr>
              <a:t>Define the source, date range, unit of analysis, treatment of duplicates, major exclusions and any non-exclusive categories. Keep technical details in backup—not in the headline.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EXHIBIT TEMPLATE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backup table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8732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raw values, definitions, sources or model assumptions.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418320" y="658368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8048" y="731520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TEMPLATE 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847088"/>
            <a:ext cx="1234440" cy="438912"/>
          </a:xfrm>
          <a:prstGeom prst="rect">
            <a:avLst/>
          </a:prstGeom>
          <a:solidFill>
            <a:srgbClr val="0000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984248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Company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1828800" y="1847088"/>
            <a:ext cx="1143000" cy="438912"/>
          </a:xfrm>
          <a:prstGeom prst="rect">
            <a:avLst/>
          </a:prstGeom>
          <a:solidFill>
            <a:srgbClr val="0B548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01952" y="1984248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Metric A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2971800" y="1847088"/>
            <a:ext cx="1143000" cy="438912"/>
          </a:xfrm>
          <a:prstGeom prst="rect">
            <a:avLst/>
          </a:prstGeom>
          <a:solidFill>
            <a:srgbClr val="0B548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4952" y="1984248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Metric B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114800" y="1847088"/>
            <a:ext cx="1143000" cy="438912"/>
          </a:xfrm>
          <a:prstGeom prst="rect">
            <a:avLst/>
          </a:prstGeom>
          <a:solidFill>
            <a:srgbClr val="0B548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87952" y="1984248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Metric C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257800" y="1847088"/>
            <a:ext cx="1143000" cy="438912"/>
          </a:xfrm>
          <a:prstGeom prst="rect">
            <a:avLst/>
          </a:prstGeom>
          <a:solidFill>
            <a:srgbClr val="0B548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30952" y="1984248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Metric D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400800" y="1847088"/>
            <a:ext cx="960120" cy="438912"/>
          </a:xfrm>
          <a:prstGeom prst="rect">
            <a:avLst/>
          </a:prstGeom>
          <a:solidFill>
            <a:srgbClr val="0000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1984248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Score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360920" y="1847088"/>
            <a:ext cx="4206240" cy="438912"/>
          </a:xfrm>
          <a:prstGeom prst="rect">
            <a:avLst/>
          </a:prstGeom>
          <a:solidFill>
            <a:srgbClr val="0B548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34072" y="1984248"/>
            <a:ext cx="4059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Notes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94360" y="2286000"/>
            <a:ext cx="123444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2377440"/>
            <a:ext cx="1106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A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1828800" y="2286000"/>
            <a:ext cx="114300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92808" y="2377440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17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2971800" y="2286000"/>
            <a:ext cx="114300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35808" y="2377440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34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4114800" y="2286000"/>
            <a:ext cx="114300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78808" y="2377440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51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5257800" y="2286000"/>
            <a:ext cx="114300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2377440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68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6400800" y="2286000"/>
            <a:ext cx="96012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64808" y="2377440"/>
            <a:ext cx="832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85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7360920" y="2286000"/>
            <a:ext cx="420624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24928" y="2377440"/>
            <a:ext cx="4078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Definition / source / caveat placeholder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594360" y="2615184"/>
            <a:ext cx="12344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2706624"/>
            <a:ext cx="1106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BIO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1828800" y="2615184"/>
            <a:ext cx="11430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92808" y="2706624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30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2971800" y="2615184"/>
            <a:ext cx="11430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35808" y="2706624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47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4114800" y="2615184"/>
            <a:ext cx="11430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78808" y="2706624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64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5257800" y="2615184"/>
            <a:ext cx="11430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21808" y="2706624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81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6400800" y="2615184"/>
            <a:ext cx="96012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64808" y="2706624"/>
            <a:ext cx="832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98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7360920" y="2615184"/>
            <a:ext cx="42062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24928" y="2706624"/>
            <a:ext cx="4078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Definition / source / caveat placeholder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594360" y="2944368"/>
            <a:ext cx="123444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" y="3035808"/>
            <a:ext cx="1106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BRKR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1828800" y="2944368"/>
            <a:ext cx="114300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92808" y="3035808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43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2971800" y="2944368"/>
            <a:ext cx="114300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35808" y="3035808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60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4114800" y="2944368"/>
            <a:ext cx="114300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78808" y="3035808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77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5257800" y="2944368"/>
            <a:ext cx="114300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21808" y="3035808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94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6400800" y="2944368"/>
            <a:ext cx="96012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64808" y="3035808"/>
            <a:ext cx="832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10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7360920" y="2944368"/>
            <a:ext cx="420624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24928" y="3035808"/>
            <a:ext cx="4078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Definition / source / caveat placeholder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594360" y="3273552"/>
            <a:ext cx="12344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8368" y="3364992"/>
            <a:ext cx="1106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DHR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1828800" y="3273552"/>
            <a:ext cx="11430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892808" y="3364992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56</a:t>
            </a:r>
            <a:endParaRPr lang="en-US" sz="780" dirty="0"/>
          </a:p>
        </p:txBody>
      </p:sp>
      <p:sp>
        <p:nvSpPr>
          <p:cNvPr id="67" name="Shape 65"/>
          <p:cNvSpPr/>
          <p:nvPr/>
        </p:nvSpPr>
        <p:spPr>
          <a:xfrm>
            <a:off x="2971800" y="3273552"/>
            <a:ext cx="11430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035808" y="3364992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73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4114800" y="3273552"/>
            <a:ext cx="11430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78808" y="3364992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90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5257800" y="3273552"/>
            <a:ext cx="11430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21808" y="3364992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6</a:t>
            </a:r>
            <a:endParaRPr lang="en-US" sz="780" dirty="0"/>
          </a:p>
        </p:txBody>
      </p:sp>
      <p:sp>
        <p:nvSpPr>
          <p:cNvPr id="73" name="Shape 71"/>
          <p:cNvSpPr/>
          <p:nvPr/>
        </p:nvSpPr>
        <p:spPr>
          <a:xfrm>
            <a:off x="6400800" y="3273552"/>
            <a:ext cx="96012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64808" y="3364992"/>
            <a:ext cx="832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23</a:t>
            </a:r>
            <a:endParaRPr lang="en-US" sz="780" dirty="0"/>
          </a:p>
        </p:txBody>
      </p:sp>
      <p:sp>
        <p:nvSpPr>
          <p:cNvPr id="75" name="Shape 73"/>
          <p:cNvSpPr/>
          <p:nvPr/>
        </p:nvSpPr>
        <p:spPr>
          <a:xfrm>
            <a:off x="7360920" y="3273552"/>
            <a:ext cx="42062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424928" y="3364992"/>
            <a:ext cx="4078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Definition / source / caveat placeholder</a:t>
            </a:r>
            <a:endParaRPr lang="en-US" sz="780" dirty="0"/>
          </a:p>
        </p:txBody>
      </p:sp>
      <p:sp>
        <p:nvSpPr>
          <p:cNvPr id="77" name="Shape 75"/>
          <p:cNvSpPr/>
          <p:nvPr/>
        </p:nvSpPr>
        <p:spPr>
          <a:xfrm>
            <a:off x="594360" y="3602736"/>
            <a:ext cx="123444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58368" y="3694176"/>
            <a:ext cx="1106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ILMN</a:t>
            </a:r>
            <a:endParaRPr lang="en-US" sz="780" dirty="0"/>
          </a:p>
        </p:txBody>
      </p:sp>
      <p:sp>
        <p:nvSpPr>
          <p:cNvPr id="79" name="Shape 77"/>
          <p:cNvSpPr/>
          <p:nvPr/>
        </p:nvSpPr>
        <p:spPr>
          <a:xfrm>
            <a:off x="1828800" y="3602736"/>
            <a:ext cx="114300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892808" y="3694176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69</a:t>
            </a:r>
            <a:endParaRPr lang="en-US" sz="780" dirty="0"/>
          </a:p>
        </p:txBody>
      </p:sp>
      <p:sp>
        <p:nvSpPr>
          <p:cNvPr id="81" name="Shape 79"/>
          <p:cNvSpPr/>
          <p:nvPr/>
        </p:nvSpPr>
        <p:spPr>
          <a:xfrm>
            <a:off x="2971800" y="3602736"/>
            <a:ext cx="114300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035808" y="3694176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86</a:t>
            </a:r>
            <a:endParaRPr lang="en-US" sz="780" dirty="0"/>
          </a:p>
        </p:txBody>
      </p:sp>
      <p:sp>
        <p:nvSpPr>
          <p:cNvPr id="83" name="Shape 81"/>
          <p:cNvSpPr/>
          <p:nvPr/>
        </p:nvSpPr>
        <p:spPr>
          <a:xfrm>
            <a:off x="4114800" y="3602736"/>
            <a:ext cx="114300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178808" y="3694176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2</a:t>
            </a:r>
            <a:endParaRPr lang="en-US" sz="780" dirty="0"/>
          </a:p>
        </p:txBody>
      </p:sp>
      <p:sp>
        <p:nvSpPr>
          <p:cNvPr id="85" name="Shape 83"/>
          <p:cNvSpPr/>
          <p:nvPr/>
        </p:nvSpPr>
        <p:spPr>
          <a:xfrm>
            <a:off x="5257800" y="3602736"/>
            <a:ext cx="114300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321808" y="3694176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19</a:t>
            </a:r>
            <a:endParaRPr lang="en-US" sz="780" dirty="0"/>
          </a:p>
        </p:txBody>
      </p:sp>
      <p:sp>
        <p:nvSpPr>
          <p:cNvPr id="87" name="Shape 85"/>
          <p:cNvSpPr/>
          <p:nvPr/>
        </p:nvSpPr>
        <p:spPr>
          <a:xfrm>
            <a:off x="6400800" y="3602736"/>
            <a:ext cx="96012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464808" y="3694176"/>
            <a:ext cx="832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36</a:t>
            </a:r>
            <a:endParaRPr lang="en-US" sz="780" dirty="0"/>
          </a:p>
        </p:txBody>
      </p:sp>
      <p:sp>
        <p:nvSpPr>
          <p:cNvPr id="89" name="Shape 87"/>
          <p:cNvSpPr/>
          <p:nvPr/>
        </p:nvSpPr>
        <p:spPr>
          <a:xfrm>
            <a:off x="7360920" y="3602736"/>
            <a:ext cx="420624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424928" y="3694176"/>
            <a:ext cx="4078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Definition / source / caveat placeholder</a:t>
            </a:r>
            <a:endParaRPr lang="en-US" sz="780" dirty="0"/>
          </a:p>
        </p:txBody>
      </p:sp>
      <p:sp>
        <p:nvSpPr>
          <p:cNvPr id="91" name="Shape 89"/>
          <p:cNvSpPr/>
          <p:nvPr/>
        </p:nvSpPr>
        <p:spPr>
          <a:xfrm>
            <a:off x="594360" y="3931920"/>
            <a:ext cx="12344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58368" y="4023360"/>
            <a:ext cx="1106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MTD</a:t>
            </a:r>
            <a:endParaRPr lang="en-US" sz="780" dirty="0"/>
          </a:p>
        </p:txBody>
      </p:sp>
      <p:sp>
        <p:nvSpPr>
          <p:cNvPr id="93" name="Shape 91"/>
          <p:cNvSpPr/>
          <p:nvPr/>
        </p:nvSpPr>
        <p:spPr>
          <a:xfrm>
            <a:off x="1828800" y="3931920"/>
            <a:ext cx="11430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892808" y="4023360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82</a:t>
            </a:r>
            <a:endParaRPr lang="en-US" sz="780" dirty="0"/>
          </a:p>
        </p:txBody>
      </p:sp>
      <p:sp>
        <p:nvSpPr>
          <p:cNvPr id="95" name="Shape 93"/>
          <p:cNvSpPr/>
          <p:nvPr/>
        </p:nvSpPr>
        <p:spPr>
          <a:xfrm>
            <a:off x="2971800" y="3931920"/>
            <a:ext cx="11430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035808" y="4023360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99</a:t>
            </a:r>
            <a:endParaRPr lang="en-US" sz="780" dirty="0"/>
          </a:p>
        </p:txBody>
      </p:sp>
      <p:sp>
        <p:nvSpPr>
          <p:cNvPr id="97" name="Shape 95"/>
          <p:cNvSpPr/>
          <p:nvPr/>
        </p:nvSpPr>
        <p:spPr>
          <a:xfrm>
            <a:off x="4114800" y="3931920"/>
            <a:ext cx="11430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178808" y="4023360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15</a:t>
            </a:r>
            <a:endParaRPr lang="en-US" sz="780" dirty="0"/>
          </a:p>
        </p:txBody>
      </p:sp>
      <p:sp>
        <p:nvSpPr>
          <p:cNvPr id="99" name="Shape 97"/>
          <p:cNvSpPr/>
          <p:nvPr/>
        </p:nvSpPr>
        <p:spPr>
          <a:xfrm>
            <a:off x="5257800" y="3931920"/>
            <a:ext cx="11430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321808" y="4023360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32</a:t>
            </a:r>
            <a:endParaRPr lang="en-US" sz="780" dirty="0"/>
          </a:p>
        </p:txBody>
      </p:sp>
      <p:sp>
        <p:nvSpPr>
          <p:cNvPr id="101" name="Shape 99"/>
          <p:cNvSpPr/>
          <p:nvPr/>
        </p:nvSpPr>
        <p:spPr>
          <a:xfrm>
            <a:off x="6400800" y="3931920"/>
            <a:ext cx="96012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464808" y="4023360"/>
            <a:ext cx="832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49</a:t>
            </a:r>
            <a:endParaRPr lang="en-US" sz="780" dirty="0"/>
          </a:p>
        </p:txBody>
      </p:sp>
      <p:sp>
        <p:nvSpPr>
          <p:cNvPr id="103" name="Shape 101"/>
          <p:cNvSpPr/>
          <p:nvPr/>
        </p:nvSpPr>
        <p:spPr>
          <a:xfrm>
            <a:off x="7360920" y="3931920"/>
            <a:ext cx="42062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424928" y="4023360"/>
            <a:ext cx="4078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Definition / source / caveat placeholder</a:t>
            </a:r>
            <a:endParaRPr lang="en-US" sz="780" dirty="0"/>
          </a:p>
        </p:txBody>
      </p:sp>
      <p:sp>
        <p:nvSpPr>
          <p:cNvPr id="105" name="Shape 103"/>
          <p:cNvSpPr/>
          <p:nvPr/>
        </p:nvSpPr>
        <p:spPr>
          <a:xfrm>
            <a:off x="594360" y="4261104"/>
            <a:ext cx="123444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58368" y="4352544"/>
            <a:ext cx="1106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PACB</a:t>
            </a:r>
            <a:endParaRPr lang="en-US" sz="780" dirty="0"/>
          </a:p>
        </p:txBody>
      </p:sp>
      <p:sp>
        <p:nvSpPr>
          <p:cNvPr id="107" name="Shape 105"/>
          <p:cNvSpPr/>
          <p:nvPr/>
        </p:nvSpPr>
        <p:spPr>
          <a:xfrm>
            <a:off x="1828800" y="4261104"/>
            <a:ext cx="114300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892808" y="4352544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95</a:t>
            </a:r>
            <a:endParaRPr lang="en-US" sz="780" dirty="0"/>
          </a:p>
        </p:txBody>
      </p:sp>
      <p:sp>
        <p:nvSpPr>
          <p:cNvPr id="109" name="Shape 107"/>
          <p:cNvSpPr/>
          <p:nvPr/>
        </p:nvSpPr>
        <p:spPr>
          <a:xfrm>
            <a:off x="2971800" y="4261104"/>
            <a:ext cx="114300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035808" y="4352544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11</a:t>
            </a:r>
            <a:endParaRPr lang="en-US" sz="780" dirty="0"/>
          </a:p>
        </p:txBody>
      </p:sp>
      <p:sp>
        <p:nvSpPr>
          <p:cNvPr id="111" name="Shape 109"/>
          <p:cNvSpPr/>
          <p:nvPr/>
        </p:nvSpPr>
        <p:spPr>
          <a:xfrm>
            <a:off x="4114800" y="4261104"/>
            <a:ext cx="114300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178808" y="4352544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28</a:t>
            </a:r>
            <a:endParaRPr lang="en-US" sz="780" dirty="0"/>
          </a:p>
        </p:txBody>
      </p:sp>
      <p:sp>
        <p:nvSpPr>
          <p:cNvPr id="113" name="Shape 111"/>
          <p:cNvSpPr/>
          <p:nvPr/>
        </p:nvSpPr>
        <p:spPr>
          <a:xfrm>
            <a:off x="5257800" y="4261104"/>
            <a:ext cx="114300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321808" y="4352544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45</a:t>
            </a:r>
            <a:endParaRPr lang="en-US" sz="780" dirty="0"/>
          </a:p>
        </p:txBody>
      </p:sp>
      <p:sp>
        <p:nvSpPr>
          <p:cNvPr id="115" name="Shape 113"/>
          <p:cNvSpPr/>
          <p:nvPr/>
        </p:nvSpPr>
        <p:spPr>
          <a:xfrm>
            <a:off x="6400800" y="4261104"/>
            <a:ext cx="96012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464808" y="4352544"/>
            <a:ext cx="832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62</a:t>
            </a:r>
            <a:endParaRPr lang="en-US" sz="780" dirty="0"/>
          </a:p>
        </p:txBody>
      </p:sp>
      <p:sp>
        <p:nvSpPr>
          <p:cNvPr id="117" name="Shape 115"/>
          <p:cNvSpPr/>
          <p:nvPr/>
        </p:nvSpPr>
        <p:spPr>
          <a:xfrm>
            <a:off x="7360920" y="4261104"/>
            <a:ext cx="420624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424928" y="4352544"/>
            <a:ext cx="4078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Definition / source / caveat placeholder</a:t>
            </a:r>
            <a:endParaRPr lang="en-US" sz="780" dirty="0"/>
          </a:p>
        </p:txBody>
      </p:sp>
      <p:sp>
        <p:nvSpPr>
          <p:cNvPr id="119" name="Shape 117"/>
          <p:cNvSpPr/>
          <p:nvPr/>
        </p:nvSpPr>
        <p:spPr>
          <a:xfrm>
            <a:off x="594360" y="4590288"/>
            <a:ext cx="12344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58368" y="4681728"/>
            <a:ext cx="1106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QGEN</a:t>
            </a:r>
            <a:endParaRPr lang="en-US" sz="780" dirty="0"/>
          </a:p>
        </p:txBody>
      </p:sp>
      <p:sp>
        <p:nvSpPr>
          <p:cNvPr id="121" name="Shape 119"/>
          <p:cNvSpPr/>
          <p:nvPr/>
        </p:nvSpPr>
        <p:spPr>
          <a:xfrm>
            <a:off x="1828800" y="4590288"/>
            <a:ext cx="11430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892808" y="4681728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7</a:t>
            </a:r>
            <a:endParaRPr lang="en-US" sz="780" dirty="0"/>
          </a:p>
        </p:txBody>
      </p:sp>
      <p:sp>
        <p:nvSpPr>
          <p:cNvPr id="123" name="Shape 121"/>
          <p:cNvSpPr/>
          <p:nvPr/>
        </p:nvSpPr>
        <p:spPr>
          <a:xfrm>
            <a:off x="2971800" y="4590288"/>
            <a:ext cx="11430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035808" y="4681728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24</a:t>
            </a:r>
            <a:endParaRPr lang="en-US" sz="780" dirty="0"/>
          </a:p>
        </p:txBody>
      </p:sp>
      <p:sp>
        <p:nvSpPr>
          <p:cNvPr id="125" name="Shape 123"/>
          <p:cNvSpPr/>
          <p:nvPr/>
        </p:nvSpPr>
        <p:spPr>
          <a:xfrm>
            <a:off x="4114800" y="4590288"/>
            <a:ext cx="11430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178808" y="4681728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41</a:t>
            </a:r>
            <a:endParaRPr lang="en-US" sz="780" dirty="0"/>
          </a:p>
        </p:txBody>
      </p:sp>
      <p:sp>
        <p:nvSpPr>
          <p:cNvPr id="127" name="Shape 125"/>
          <p:cNvSpPr/>
          <p:nvPr/>
        </p:nvSpPr>
        <p:spPr>
          <a:xfrm>
            <a:off x="5257800" y="4590288"/>
            <a:ext cx="11430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321808" y="4681728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58</a:t>
            </a:r>
            <a:endParaRPr lang="en-US" sz="780" dirty="0"/>
          </a:p>
        </p:txBody>
      </p:sp>
      <p:sp>
        <p:nvSpPr>
          <p:cNvPr id="129" name="Shape 127"/>
          <p:cNvSpPr/>
          <p:nvPr/>
        </p:nvSpPr>
        <p:spPr>
          <a:xfrm>
            <a:off x="6400800" y="4590288"/>
            <a:ext cx="96012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464808" y="4681728"/>
            <a:ext cx="832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75</a:t>
            </a:r>
            <a:endParaRPr lang="en-US" sz="780" dirty="0"/>
          </a:p>
        </p:txBody>
      </p:sp>
      <p:sp>
        <p:nvSpPr>
          <p:cNvPr id="131" name="Shape 129"/>
          <p:cNvSpPr/>
          <p:nvPr/>
        </p:nvSpPr>
        <p:spPr>
          <a:xfrm>
            <a:off x="7360920" y="4590288"/>
            <a:ext cx="42062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7424928" y="4681728"/>
            <a:ext cx="4078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Definition / source / caveat placeholder</a:t>
            </a:r>
            <a:endParaRPr lang="en-US" sz="780" dirty="0"/>
          </a:p>
        </p:txBody>
      </p:sp>
      <p:sp>
        <p:nvSpPr>
          <p:cNvPr id="133" name="Shape 131"/>
          <p:cNvSpPr/>
          <p:nvPr/>
        </p:nvSpPr>
        <p:spPr>
          <a:xfrm>
            <a:off x="594360" y="4919472"/>
            <a:ext cx="123444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58368" y="5010912"/>
            <a:ext cx="1106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RVTY</a:t>
            </a:r>
            <a:endParaRPr lang="en-US" sz="780" dirty="0"/>
          </a:p>
        </p:txBody>
      </p:sp>
      <p:sp>
        <p:nvSpPr>
          <p:cNvPr id="135" name="Shape 133"/>
          <p:cNvSpPr/>
          <p:nvPr/>
        </p:nvSpPr>
        <p:spPr>
          <a:xfrm>
            <a:off x="1828800" y="4919472"/>
            <a:ext cx="114300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892808" y="5010912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20</a:t>
            </a:r>
            <a:endParaRPr lang="en-US" sz="780" dirty="0"/>
          </a:p>
        </p:txBody>
      </p:sp>
      <p:sp>
        <p:nvSpPr>
          <p:cNvPr id="137" name="Shape 135"/>
          <p:cNvSpPr/>
          <p:nvPr/>
        </p:nvSpPr>
        <p:spPr>
          <a:xfrm>
            <a:off x="2971800" y="4919472"/>
            <a:ext cx="114300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3035808" y="5010912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37</a:t>
            </a:r>
            <a:endParaRPr lang="en-US" sz="780" dirty="0"/>
          </a:p>
        </p:txBody>
      </p:sp>
      <p:sp>
        <p:nvSpPr>
          <p:cNvPr id="139" name="Shape 137"/>
          <p:cNvSpPr/>
          <p:nvPr/>
        </p:nvSpPr>
        <p:spPr>
          <a:xfrm>
            <a:off x="4114800" y="4919472"/>
            <a:ext cx="114300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178808" y="5010912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54</a:t>
            </a:r>
            <a:endParaRPr lang="en-US" sz="780" dirty="0"/>
          </a:p>
        </p:txBody>
      </p:sp>
      <p:sp>
        <p:nvSpPr>
          <p:cNvPr id="141" name="Shape 139"/>
          <p:cNvSpPr/>
          <p:nvPr/>
        </p:nvSpPr>
        <p:spPr>
          <a:xfrm>
            <a:off x="5257800" y="4919472"/>
            <a:ext cx="114300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321808" y="5010912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71</a:t>
            </a:r>
            <a:endParaRPr lang="en-US" sz="780" dirty="0"/>
          </a:p>
        </p:txBody>
      </p:sp>
      <p:sp>
        <p:nvSpPr>
          <p:cNvPr id="143" name="Shape 141"/>
          <p:cNvSpPr/>
          <p:nvPr/>
        </p:nvSpPr>
        <p:spPr>
          <a:xfrm>
            <a:off x="6400800" y="4919472"/>
            <a:ext cx="96012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464808" y="5010912"/>
            <a:ext cx="832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88</a:t>
            </a:r>
            <a:endParaRPr lang="en-US" sz="780" dirty="0"/>
          </a:p>
        </p:txBody>
      </p:sp>
      <p:sp>
        <p:nvSpPr>
          <p:cNvPr id="145" name="Shape 143"/>
          <p:cNvSpPr/>
          <p:nvPr/>
        </p:nvSpPr>
        <p:spPr>
          <a:xfrm>
            <a:off x="7360920" y="4919472"/>
            <a:ext cx="420624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424928" y="5010912"/>
            <a:ext cx="4078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Definition / source / caveat placeholder</a:t>
            </a:r>
            <a:endParaRPr lang="en-US" sz="780" dirty="0"/>
          </a:p>
        </p:txBody>
      </p:sp>
      <p:sp>
        <p:nvSpPr>
          <p:cNvPr id="147" name="Shape 145"/>
          <p:cNvSpPr/>
          <p:nvPr/>
        </p:nvSpPr>
        <p:spPr>
          <a:xfrm>
            <a:off x="594360" y="5248656"/>
            <a:ext cx="12344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58368" y="5340096"/>
            <a:ext cx="1106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TECH</a:t>
            </a:r>
            <a:endParaRPr lang="en-US" sz="780" dirty="0"/>
          </a:p>
        </p:txBody>
      </p:sp>
      <p:sp>
        <p:nvSpPr>
          <p:cNvPr id="149" name="Shape 147"/>
          <p:cNvSpPr/>
          <p:nvPr/>
        </p:nvSpPr>
        <p:spPr>
          <a:xfrm>
            <a:off x="1828800" y="5248656"/>
            <a:ext cx="11430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892808" y="5340096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33</a:t>
            </a:r>
            <a:endParaRPr lang="en-US" sz="780" dirty="0"/>
          </a:p>
        </p:txBody>
      </p:sp>
      <p:sp>
        <p:nvSpPr>
          <p:cNvPr id="151" name="Shape 149"/>
          <p:cNvSpPr/>
          <p:nvPr/>
        </p:nvSpPr>
        <p:spPr>
          <a:xfrm>
            <a:off x="2971800" y="5248656"/>
            <a:ext cx="11430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3035808" y="5340096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50</a:t>
            </a:r>
            <a:endParaRPr lang="en-US" sz="780" dirty="0"/>
          </a:p>
        </p:txBody>
      </p:sp>
      <p:sp>
        <p:nvSpPr>
          <p:cNvPr id="153" name="Shape 151"/>
          <p:cNvSpPr/>
          <p:nvPr/>
        </p:nvSpPr>
        <p:spPr>
          <a:xfrm>
            <a:off x="4114800" y="5248656"/>
            <a:ext cx="11430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4178808" y="5340096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67</a:t>
            </a:r>
            <a:endParaRPr lang="en-US" sz="780" dirty="0"/>
          </a:p>
        </p:txBody>
      </p:sp>
      <p:sp>
        <p:nvSpPr>
          <p:cNvPr id="155" name="Shape 153"/>
          <p:cNvSpPr/>
          <p:nvPr/>
        </p:nvSpPr>
        <p:spPr>
          <a:xfrm>
            <a:off x="5257800" y="5248656"/>
            <a:ext cx="11430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321808" y="5340096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84</a:t>
            </a:r>
            <a:endParaRPr lang="en-US" sz="780" dirty="0"/>
          </a:p>
        </p:txBody>
      </p:sp>
      <p:sp>
        <p:nvSpPr>
          <p:cNvPr id="157" name="Shape 155"/>
          <p:cNvSpPr/>
          <p:nvPr/>
        </p:nvSpPr>
        <p:spPr>
          <a:xfrm>
            <a:off x="6400800" y="5248656"/>
            <a:ext cx="96012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6464808" y="5340096"/>
            <a:ext cx="832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0</a:t>
            </a:r>
            <a:endParaRPr lang="en-US" sz="780" dirty="0"/>
          </a:p>
        </p:txBody>
      </p:sp>
      <p:sp>
        <p:nvSpPr>
          <p:cNvPr id="159" name="Shape 157"/>
          <p:cNvSpPr/>
          <p:nvPr/>
        </p:nvSpPr>
        <p:spPr>
          <a:xfrm>
            <a:off x="7360920" y="5248656"/>
            <a:ext cx="42062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7424928" y="5340096"/>
            <a:ext cx="4078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Definition / source / caveat placeholder</a:t>
            </a:r>
            <a:endParaRPr lang="en-US" sz="780" dirty="0"/>
          </a:p>
        </p:txBody>
      </p:sp>
      <p:sp>
        <p:nvSpPr>
          <p:cNvPr id="161" name="Shape 159"/>
          <p:cNvSpPr/>
          <p:nvPr/>
        </p:nvSpPr>
        <p:spPr>
          <a:xfrm>
            <a:off x="502920" y="6007608"/>
            <a:ext cx="11183112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713232" y="6099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this in backup so the main deck can stay exhibit-led while the methodology remains transparent.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Bernstein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Differentiated Research Through Proprietary Data</dc:title>
  <dc:subject>Summer Internship Final Presentation</dc:subject>
  <dc:creator>Justin Curcio</dc:creator>
  <cp:lastModifiedBy>Justin Curcio</cp:lastModifiedBy>
  <cp:revision>1</cp:revision>
  <dcterms:created xsi:type="dcterms:W3CDTF">2026-08-05T17:41:33Z</dcterms:created>
  <dcterms:modified xsi:type="dcterms:W3CDTF">2026-08-05T17:41:33Z</dcterms:modified>
</cp:coreProperties>
</file>