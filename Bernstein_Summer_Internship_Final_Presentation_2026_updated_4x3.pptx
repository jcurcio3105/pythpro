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~20 seconds. Open with the theme: this summer was about turning fragmented and qualitative sector information into repeatable, proprietary research infrastructure that could support the investment debate.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seconds. This is the executive summary. Emphasize proprietary analysis, differentiated research, diligence and process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seconds. Use this to connect all projects before diving into the two major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seconds. Transition: this was the first large proprietary project, built early in the internship.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seconds. Emphasize that this was not just note-taking; it was building a usable longitudinal dataset out of management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seconds once populated. Replace the placeholder with the actual heatmap. Use it to show that you created a longitudinal lens rather than a static transcript digest.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seconds. Include a snapshot when you add the real exhibit. The right panel should show source evidence so the tracker does not feel like arbitrary color-coding.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seconds. This slide keeps the non-project work visible but concise.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seconds. Transition into the largest analytical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~75 seconds. This is the “why” slide. Tie the project to Danaher and to the structural realities of life-science-tools markets.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seconds. Present this as process improvement and intellectual honesty: you removed metrics that sounded appealing but were not reliable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seconds. Keep this slide. It explains the code at a high level and shows that the analysis is differentiated but not a black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seconds. This addresses the methodological critique before it is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~90 seconds once final heatmap is inserted. Start with this before the individual category exhibits so the audience has the end-state in mind.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seconds. This slide supports the “input” side of the innovation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~75 seconds. Mention that bioRxiv is public scientific disclosure, not proprietary IP, so the category is “emerging activity,” not “proprietary innovation.”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~75 seconds. This slide should connect to the later PubMed stability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seconds. Use this to keep the supplemental metrics in the story while being clear about limitations.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~75 seconds. This slide justifies why the individual metric charts use four-year averages.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seconds. Keep the wording cautious: PACB’s launches are plausible context, not causal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seconds. This slide connects the technical work back to equity research relevance.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seconds. This is the personal reflection slide. Emphasize growth from a science background into investment-research judgment.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seconds. End with confidence and gratitude.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layouts if additional exhibits are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heatmap layout.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layout.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layout.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methodology layout.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commentary quote layout.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37960"/>
            <a:ext cx="8375904" cy="0"/>
          </a:xfrm>
          <a:prstGeom prst="line">
            <a:avLst/>
          </a:prstGeom>
          <a:noFill/>
          <a:ln w="7620">
            <a:solidFill>
              <a:srgbClr val="D8DCE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77072" y="6583680"/>
            <a:ext cx="219456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77072" y="6583680"/>
            <a:ext cx="219456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971800"/>
            <a:ext cx="8302752" cy="281635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49240" y="731520"/>
            <a:ext cx="2971800" cy="4160520"/>
          </a:xfrm>
          <a:prstGeom prst="rect">
            <a:avLst/>
          </a:prstGeom>
          <a:solidFill>
            <a:srgbClr val="1F3547"/>
          </a:solidFill>
          <a:ln w="12700">
            <a:solidFill>
              <a:srgbClr val="1F3547"/>
            </a:solidFill>
            <a:prstDash val="solid"/>
          </a:ln>
          <a:effectLst>
            <a:outerShdw sx="100000" sy="100000" kx="0" ky="0" algn="bl" rotWithShape="0" blurRad="16510" dist="1016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101584" y="438912"/>
            <a:ext cx="384048" cy="3913632"/>
          </a:xfrm>
          <a:prstGeom prst="rect">
            <a:avLst/>
          </a:prstGeom>
          <a:solidFill>
            <a:srgbClr val="D9E2E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96128" y="1170432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US Life Science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Tools &amp; Diagnostics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596128" y="2432304"/>
            <a:ext cx="2240280" cy="0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96128" y="2688336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Building differentiated research through proprietary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596128" y="37307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Equity Research Summer Internship 2026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42976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Justin Curcio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04672" y="46817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August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507492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</a:rPr>
              <a:t>Sector commentary tracker • Innovation analysis • Live coverage support</a:t>
            </a:r>
            <a:endParaRPr lang="en-US" sz="9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0B5486"/>
                </a:solidFill>
              </a:rPr>
              <a:t>EXECUTIVE SUMMARY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11480" y="5577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11111"/>
                </a:solidFill>
              </a:rPr>
              <a:t>I built repeatable research infrastructure while supporting live coverage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26A70"/>
                </a:solidFill>
              </a:rPr>
              <a:t>The two proprietary projects created differentiated evidence for questions that standard datasets do not answer cleanly.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2560320" cy="3611880"/>
          </a:xfrm>
          <a:prstGeom prst="roundRect">
            <a:avLst>
              <a:gd name="adj" fmla="val 1786"/>
            </a:avLst>
          </a:prstGeom>
          <a:solidFill>
            <a:srgbClr val="F7FBFD"/>
          </a:solidFill>
          <a:ln w="1016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64208"/>
            <a:ext cx="64008" cy="3611880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801368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1  Sector commentary tracker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2103120"/>
            <a:ext cx="224942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52A2E"/>
                </a:solidFill>
              </a:rPr>
              <a:t>Converted management language into a longitudinal dataset tracking market health, recovery timing and sector-specific “boogeymen” across tools and diagnostics companies.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3291840" y="1664208"/>
            <a:ext cx="2560320" cy="3611880"/>
          </a:xfrm>
          <a:prstGeom prst="roundRect">
            <a:avLst>
              <a:gd name="adj" fmla="val 1786"/>
            </a:avLst>
          </a:prstGeom>
          <a:solidFill>
            <a:srgbClr val="F8FBF8"/>
          </a:solidFill>
          <a:ln w="1016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664208"/>
            <a:ext cx="64008" cy="361188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801368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2  Innovation analysis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47288" y="2103120"/>
            <a:ext cx="224942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52A2E"/>
                </a:solidFill>
              </a:rPr>
              <a:t>Improved an existing approach by replacing hard-to-verify launch tracking with a multi-source framework across R&amp;D, publications, patents, S10 adoption and awards.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6080760" y="1664208"/>
            <a:ext cx="2560320" cy="3611880"/>
          </a:xfrm>
          <a:prstGeom prst="roundRect">
            <a:avLst>
              <a:gd name="adj" fmla="val 1786"/>
            </a:avLst>
          </a:prstGeom>
          <a:solidFill>
            <a:srgbClr val="F8F8F8"/>
          </a:solidFill>
          <a:ln w="1016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664208"/>
            <a:ext cx="64008" cy="3611880"/>
          </a:xfrm>
          <a:prstGeom prst="rect">
            <a:avLst/>
          </a:prstGeom>
          <a:solidFill>
            <a:srgbClr val="1F3547"/>
          </a:solidFill>
          <a:ln w="12700">
            <a:solidFill>
              <a:srgbClr val="1F35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1801368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3  Coverage execution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36208" y="2103120"/>
            <a:ext cx="224942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52A2E"/>
                </a:solidFill>
              </a:rPr>
              <a:t>Supported sector initiation and earnings by writing commentary sections, building exhibits, tracking guidance and preparing calls, notes and event readouts.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411480" y="6172200"/>
            <a:ext cx="8321040" cy="393192"/>
          </a:xfrm>
          <a:prstGeom prst="rect">
            <a:avLst/>
          </a:prstGeom>
          <a:solidFill>
            <a:srgbClr val="1F3547"/>
          </a:solidFill>
          <a:ln w="12700">
            <a:solidFill>
              <a:srgbClr val="1F35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626821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The most valuable work was building processes that can be updated, audited and reused—not just one-time exhibits.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77072" y="6583680"/>
            <a:ext cx="219456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0B5486"/>
                </a:solidFill>
              </a:rPr>
              <a:t>RESEARCH WORKFLOW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11480" y="5577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11111"/>
                </a:solidFill>
              </a:rPr>
              <a:t>The projects sat inside the live equity research process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26A70"/>
                </a:solidFill>
              </a:rPr>
              <a:t>Initiation work, earnings execution and proprietary analytics reinforced each other throughout the summer.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731520" y="2139696"/>
            <a:ext cx="7498080" cy="0"/>
          </a:xfrm>
          <a:prstGeom prst="line">
            <a:avLst/>
          </a:prstGeom>
          <a:noFill/>
          <a:ln w="25400">
            <a:solidFill>
              <a:srgbClr val="D9E2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2002536"/>
            <a:ext cx="274320" cy="274320"/>
          </a:xfrm>
          <a:prstGeom prst="ellipse">
            <a:avLst/>
          </a:prstGeom>
          <a:solidFill>
            <a:srgbClr val="1F354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52374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11111"/>
                </a:solidFill>
              </a:rPr>
              <a:t>Coverage resumption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384048" y="3035808"/>
            <a:ext cx="1600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52A2E"/>
                </a:solidFill>
              </a:rPr>
              <a:t>Rebuilt tracker history, supported NIH funding work, thesis slides and valuation materials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22576" y="2002536"/>
            <a:ext cx="274320" cy="274320"/>
          </a:xfrm>
          <a:prstGeom prst="ellipse">
            <a:avLst/>
          </a:prstGeom>
          <a:solidFill>
            <a:srgbClr val="1E9DD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12264" y="252374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11111"/>
                </a:solidFill>
              </a:rPr>
              <a:t>Sector commentary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2084832" y="3035808"/>
            <a:ext cx="1600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52A2E"/>
                </a:solidFill>
              </a:rPr>
              <a:t>Coded transcripts and expanded boogeyman taxonomy from 3Q23 onward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023360" y="2002536"/>
            <a:ext cx="274320" cy="274320"/>
          </a:xfrm>
          <a:prstGeom prst="ellipse">
            <a:avLst/>
          </a:prstGeom>
          <a:solidFill>
            <a:srgbClr val="1F354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13048" y="252374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11111"/>
                </a:solidFill>
              </a:rPr>
              <a:t>Earnings execution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3785616" y="3035808"/>
            <a:ext cx="1600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52A2E"/>
                </a:solidFill>
              </a:rPr>
              <a:t>Drafted commentary and takeaways for seven company notes and updated exhibits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24144" y="2002536"/>
            <a:ext cx="274320" cy="274320"/>
          </a:xfrm>
          <a:prstGeom prst="ellipse">
            <a:avLst/>
          </a:prstGeom>
          <a:solidFill>
            <a:srgbClr val="1E9DD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252374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11111"/>
                </a:solidFill>
              </a:rPr>
              <a:t>Innovation analysis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5486400" y="3035808"/>
            <a:ext cx="1600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52A2E"/>
                </a:solidFill>
              </a:rPr>
              <a:t>Built scrapers, cleaned datasets and designed scoring / benchmarking framework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424928" y="2002536"/>
            <a:ext cx="274320" cy="274320"/>
          </a:xfrm>
          <a:prstGeom prst="ellipse">
            <a:avLst/>
          </a:prstGeom>
          <a:solidFill>
            <a:srgbClr val="1F354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14616" y="252374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11111"/>
                </a:solidFill>
              </a:rPr>
              <a:t>Research support</a:t>
            </a:r>
            <a:endParaRPr lang="en-US" sz="1060" dirty="0"/>
          </a:p>
        </p:txBody>
      </p:sp>
      <p:sp>
        <p:nvSpPr>
          <p:cNvPr id="20" name="Text 18"/>
          <p:cNvSpPr/>
          <p:nvPr/>
        </p:nvSpPr>
        <p:spPr>
          <a:xfrm>
            <a:off x="7187184" y="3035808"/>
            <a:ext cx="1600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52A2E"/>
                </a:solidFill>
              </a:rPr>
              <a:t>Call prep, regulatory cheat sheets, symposium notes and policy / market work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60120" y="4736592"/>
            <a:ext cx="7223760" cy="914400"/>
          </a:xfrm>
          <a:prstGeom prst="roundRect">
            <a:avLst>
              <a:gd name="adj" fmla="val 4000"/>
            </a:avLst>
          </a:prstGeom>
          <a:solidFill>
            <a:srgbClr val="F6F8F9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4712" y="4882896"/>
            <a:ext cx="6894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547"/>
                </a:solidFill>
              </a:rPr>
              <a:t>What changed in my process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24712" y="5175504"/>
            <a:ext cx="6894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E9DD2"/>
                </a:solidFill>
              </a:rPr>
              <a:t>• </a:t>
            </a:r>
            <a:pPr indent="0" marL="0">
              <a:buNone/>
            </a:pPr>
            <a:r>
              <a:rPr lang="en-US" sz="870" dirty="0">
                <a:solidFill>
                  <a:srgbClr val="252A2E"/>
                </a:solidFill>
              </a:rPr>
              <a:t>Moved from ad hoc data pulls to repeatable workflows with defined denominators</a:t>
            </a:r>
            <a:pPr indent="0" marL="0">
              <a:buNone/>
            </a:pPr>
            <a:r>
              <a:rPr lang="en-US" sz="87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870" b="1" dirty="0">
                <a:solidFill>
                  <a:srgbClr val="1E9DD2"/>
                </a:solidFill>
              </a:rPr>
              <a:t>• </a:t>
            </a:r>
            <a:pPr indent="0" marL="0">
              <a:buNone/>
            </a:pPr>
            <a:r>
              <a:rPr lang="en-US" sz="870" dirty="0">
                <a:solidFill>
                  <a:srgbClr val="252A2E"/>
                </a:solidFill>
              </a:rPr>
              <a:t>Added auditability: source links, excluded items and assumptions are retained</a:t>
            </a:r>
            <a:pPr indent="0" marL="0">
              <a:buNone/>
            </a:pPr>
            <a:r>
              <a:rPr lang="en-US" sz="87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870" b="1" dirty="0">
                <a:solidFill>
                  <a:srgbClr val="1E9DD2"/>
                </a:solidFill>
              </a:rPr>
              <a:t>• </a:t>
            </a:r>
            <a:pPr indent="0" marL="0">
              <a:buNone/>
            </a:pPr>
            <a:r>
              <a:rPr lang="en-US" sz="870" dirty="0">
                <a:solidFill>
                  <a:srgbClr val="252A2E"/>
                </a:solidFill>
              </a:rPr>
              <a:t>Focused each output on the investment “so what,” not just the data itself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77072" y="6583680"/>
            <a:ext cx="219456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3566160"/>
            <a:ext cx="5669280" cy="2651760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49240" y="841248"/>
            <a:ext cx="2971800" cy="4434840"/>
          </a:xfrm>
          <a:prstGeom prst="rect">
            <a:avLst/>
          </a:prstGeom>
          <a:solidFill>
            <a:srgbClr val="1F3547"/>
          </a:solidFill>
          <a:ln w="12700">
            <a:solidFill>
              <a:srgbClr val="1F35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01584" y="566928"/>
            <a:ext cx="402336" cy="4114800"/>
          </a:xfrm>
          <a:prstGeom prst="rect">
            <a:avLst/>
          </a:prstGeom>
          <a:solidFill>
            <a:srgbClr val="D9E2E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96128" y="11430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130" kern="0" dirty="0">
                <a:solidFill>
                  <a:srgbClr val="1E9DD2"/>
                </a:solidFill>
              </a:rPr>
              <a:t>PROPRIETARY PROJECT 1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5596128" y="1554480"/>
            <a:ext cx="2423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Sector Commentary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Tracker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596128" y="3054096"/>
            <a:ext cx="2240280" cy="0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96128" y="327355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</a:rPr>
              <a:t>Structuring management language to track recovery, risk and tone over time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594360" y="4709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Equity Research Summer Internship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507492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Proprietary analysis • Process improvement • Investment relevance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0B5486"/>
                </a:solidFill>
              </a:rPr>
              <a:t>SECTOR COMMENTARY TRACKER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11480" y="5577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11111"/>
                </a:solidFill>
              </a:rPr>
              <a:t>Management language fills gaps that reported numbers cannot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26A70"/>
                </a:solidFill>
              </a:rPr>
              <a:t>The Life Science Tools &amp; Diagnostics sector has been in a prolonged uneven recovery, with limited direct quantitative visibility.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30352" y="1627632"/>
            <a:ext cx="2606040" cy="3657600"/>
          </a:xfrm>
          <a:prstGeom prst="roundRect">
            <a:avLst>
              <a:gd name="adj" fmla="val 1754"/>
            </a:avLst>
          </a:prstGeom>
          <a:solidFill>
            <a:srgbClr val="F7FBFD"/>
          </a:solidFill>
          <a:ln w="1016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627632"/>
            <a:ext cx="64008" cy="3657600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64792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Why it matters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066544"/>
            <a:ext cx="22951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52A2E"/>
                </a:solidFill>
              </a:rPr>
              <a:t>• Market recovery is uneven across end markets and product types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2E"/>
                </a:solidFill>
              </a:rPr>
              <a:t>• Companies describe the same pressure points differently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2E"/>
                </a:solidFill>
              </a:rPr>
              <a:t>• Changes in tone often precede confirmation in reported results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2E"/>
                </a:solidFill>
              </a:rPr>
              <a:t>• A structured tracker creates a consistent lens across calls and quarters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3328416" y="1627632"/>
            <a:ext cx="2606040" cy="3657600"/>
          </a:xfrm>
          <a:prstGeom prst="roundRect">
            <a:avLst>
              <a:gd name="adj" fmla="val 1754"/>
            </a:avLst>
          </a:prstGeom>
          <a:solidFill>
            <a:srgbClr val="F8FBF8"/>
          </a:solidFill>
          <a:ln w="1016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28416" y="1627632"/>
            <a:ext cx="64008" cy="365760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3864" y="1764792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How I improved it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83864" y="2066544"/>
            <a:ext cx="22951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52A2E"/>
                </a:solidFill>
              </a:rPr>
              <a:t>• Restored historical coverage beginning in 3Q23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2E"/>
                </a:solidFill>
              </a:rPr>
              <a:t>• Expanded the “boogeyman” taxonomy with sector-specific risks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2E"/>
                </a:solidFill>
              </a:rPr>
              <a:t>• Added red / yellow / green coding for longitudinal and snapshot views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2E"/>
                </a:solidFill>
              </a:rPr>
              <a:t>• Made quote-level evidence easier to audit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126480" y="1627632"/>
            <a:ext cx="2606040" cy="3657600"/>
          </a:xfrm>
          <a:prstGeom prst="roundRect">
            <a:avLst>
              <a:gd name="adj" fmla="val 1754"/>
            </a:avLst>
          </a:prstGeom>
          <a:solidFill>
            <a:srgbClr val="F8F8F8"/>
          </a:solidFill>
          <a:ln w="1016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627632"/>
            <a:ext cx="64008" cy="3657600"/>
          </a:xfrm>
          <a:prstGeom prst="rect">
            <a:avLst/>
          </a:prstGeom>
          <a:solidFill>
            <a:srgbClr val="1F3547"/>
          </a:solidFill>
          <a:ln w="12700">
            <a:solidFill>
              <a:srgbClr val="1F35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1764792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Example categories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81928" y="2066544"/>
            <a:ext cx="22951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52A2E"/>
                </a:solidFill>
              </a:rPr>
              <a:t>Pharma cautiousness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A2E"/>
                </a:solidFill>
              </a:rPr>
              <a:t>Biotech spend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A2E"/>
                </a:solidFill>
              </a:rPr>
              <a:t>Consumables destocking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A2E"/>
                </a:solidFill>
              </a:rPr>
              <a:t>Instrument weakness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A2E"/>
                </a:solidFill>
              </a:rPr>
              <a:t>China weakness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A2E"/>
                </a:solidFill>
              </a:rPr>
              <a:t>NIH / A&amp;G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A2E"/>
                </a:solidFill>
              </a:rPr>
              <a:t>Tariffs and MFN / reshoring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A2E"/>
                </a:solidFill>
              </a:rPr>
              <a:t>Middle East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252A2E"/>
                </a:solidFill>
              </a:rPr>
              <a:t>AI internal and external market view</a:t>
            </a:r>
            <a:endParaRPr lang="en-US" sz="890" dirty="0"/>
          </a:p>
        </p:txBody>
      </p:sp>
      <p:sp>
        <p:nvSpPr>
          <p:cNvPr id="17" name="Shape 15"/>
          <p:cNvSpPr/>
          <p:nvPr/>
        </p:nvSpPr>
        <p:spPr>
          <a:xfrm>
            <a:off x="411480" y="6172200"/>
            <a:ext cx="8321040" cy="393192"/>
          </a:xfrm>
          <a:prstGeom prst="rect">
            <a:avLst/>
          </a:prstGeom>
          <a:solidFill>
            <a:srgbClr val="1F3547"/>
          </a:solidFill>
          <a:ln w="12700">
            <a:solidFill>
              <a:srgbClr val="1F35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626821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The tracker converts qualitative transcript work into evidence that can be compared across companies and over time.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77072" y="6583680"/>
            <a:ext cx="219456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0B5486"/>
                </a:solidFill>
              </a:rPr>
              <a:t>SECTOR COMMENTARY TRACKER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11480" y="5577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11111"/>
                </a:solidFill>
              </a:rPr>
              <a:t>Longitudinal boogeyman tracking highlights which risks are fading or intensifying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26A70"/>
                </a:solidFill>
              </a:rPr>
              <a:t>Placeholder for tracker exhibit: use this slide for the multi-quarter red / yellow / green view.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8138160" cy="4187952"/>
          </a:xfrm>
          <a:prstGeom prst="rect">
            <a:avLst/>
          </a:prstGeom>
          <a:solidFill>
            <a:srgbClr val="FAFBFC"/>
          </a:solidFill>
          <a:ln w="13970">
            <a:solidFill>
              <a:srgbClr val="BFC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618488"/>
            <a:ext cx="7918704" cy="310896"/>
          </a:xfrm>
          <a:prstGeom prst="rect">
            <a:avLst/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696212"/>
            <a:ext cx="7808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5A00"/>
                </a:solidFill>
              </a:rPr>
              <a:t>INSERT LONGITUDINAL COMMENTARY HEATMAP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6A70"/>
                </a:solidFill>
              </a:rPr>
              <a:t>Rows: boogeyman categories; columns: quarters from 3Q23 onward; colors: positive / mixed / negative commentary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960120" y="2240280"/>
            <a:ext cx="890969" cy="287528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64805" y="2240280"/>
            <a:ext cx="890969" cy="287528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69489" y="2240280"/>
            <a:ext cx="890969" cy="287528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74174" y="2240280"/>
            <a:ext cx="890969" cy="287528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8858" y="2240280"/>
            <a:ext cx="890969" cy="287528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3543" y="2240280"/>
            <a:ext cx="890969" cy="287528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88227" y="2240280"/>
            <a:ext cx="890969" cy="287528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92912" y="2240280"/>
            <a:ext cx="890969" cy="287528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2541524"/>
            <a:ext cx="890969" cy="287528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64805" y="2541524"/>
            <a:ext cx="890969" cy="287528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69489" y="2541524"/>
            <a:ext cx="890969" cy="287528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74174" y="2541524"/>
            <a:ext cx="890969" cy="287528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8858" y="2541524"/>
            <a:ext cx="890969" cy="287528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3543" y="2541524"/>
            <a:ext cx="890969" cy="287528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88227" y="2541524"/>
            <a:ext cx="890969" cy="287528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92912" y="2541524"/>
            <a:ext cx="890969" cy="287528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" y="2842768"/>
            <a:ext cx="890969" cy="287528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64805" y="2842768"/>
            <a:ext cx="890969" cy="287528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69489" y="2842768"/>
            <a:ext cx="890969" cy="287528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74174" y="2842768"/>
            <a:ext cx="890969" cy="287528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8858" y="2842768"/>
            <a:ext cx="890969" cy="287528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3543" y="2842768"/>
            <a:ext cx="890969" cy="287528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88227" y="2842768"/>
            <a:ext cx="890969" cy="287528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92912" y="2842768"/>
            <a:ext cx="890969" cy="287528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0120" y="3144012"/>
            <a:ext cx="890969" cy="287528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64805" y="3144012"/>
            <a:ext cx="890969" cy="287528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69489" y="3144012"/>
            <a:ext cx="890969" cy="287528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74174" y="3144012"/>
            <a:ext cx="890969" cy="287528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8858" y="3144012"/>
            <a:ext cx="890969" cy="287528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3543" y="3144012"/>
            <a:ext cx="890969" cy="287528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88227" y="3144012"/>
            <a:ext cx="890969" cy="287528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92912" y="3144012"/>
            <a:ext cx="890969" cy="287528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0120" y="3445256"/>
            <a:ext cx="890969" cy="287528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64805" y="3445256"/>
            <a:ext cx="890969" cy="287528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69489" y="3445256"/>
            <a:ext cx="890969" cy="287528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74174" y="3445256"/>
            <a:ext cx="890969" cy="287528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8858" y="3445256"/>
            <a:ext cx="890969" cy="287528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3543" y="3445256"/>
            <a:ext cx="890969" cy="287528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88227" y="3445256"/>
            <a:ext cx="890969" cy="287528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92912" y="3445256"/>
            <a:ext cx="890969" cy="287528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60120" y="3746500"/>
            <a:ext cx="890969" cy="287528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64805" y="3746500"/>
            <a:ext cx="890969" cy="287528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69489" y="3746500"/>
            <a:ext cx="890969" cy="287528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74174" y="3746500"/>
            <a:ext cx="890969" cy="287528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8858" y="3746500"/>
            <a:ext cx="890969" cy="287528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3543" y="3746500"/>
            <a:ext cx="890969" cy="287528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88227" y="3746500"/>
            <a:ext cx="890969" cy="287528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292912" y="3746500"/>
            <a:ext cx="890969" cy="287528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60120" y="4047744"/>
            <a:ext cx="890969" cy="287528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64805" y="4047744"/>
            <a:ext cx="890969" cy="287528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69489" y="4047744"/>
            <a:ext cx="890969" cy="287528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74174" y="4047744"/>
            <a:ext cx="890969" cy="287528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8858" y="4047744"/>
            <a:ext cx="890969" cy="287528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483543" y="4047744"/>
            <a:ext cx="890969" cy="287528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88227" y="4047744"/>
            <a:ext cx="890969" cy="287528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292912" y="4047744"/>
            <a:ext cx="890969" cy="287528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60120" y="4348988"/>
            <a:ext cx="890969" cy="287528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864805" y="4348988"/>
            <a:ext cx="890969" cy="287528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69489" y="4348988"/>
            <a:ext cx="890969" cy="287528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674174" y="4348988"/>
            <a:ext cx="890969" cy="287528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578858" y="4348988"/>
            <a:ext cx="890969" cy="287528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83543" y="4348988"/>
            <a:ext cx="890969" cy="287528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388227" y="4348988"/>
            <a:ext cx="890969" cy="287528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92912" y="4348988"/>
            <a:ext cx="890969" cy="287528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60120" y="4650232"/>
            <a:ext cx="890969" cy="287528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864805" y="4650232"/>
            <a:ext cx="890969" cy="287528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69489" y="4650232"/>
            <a:ext cx="890969" cy="287528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674174" y="4650232"/>
            <a:ext cx="890969" cy="287528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578858" y="4650232"/>
            <a:ext cx="890969" cy="287528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483543" y="4650232"/>
            <a:ext cx="890969" cy="287528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388227" y="4650232"/>
            <a:ext cx="890969" cy="287528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292912" y="4650232"/>
            <a:ext cx="890969" cy="287528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58368" y="5733288"/>
            <a:ext cx="7818120" cy="621792"/>
          </a:xfrm>
          <a:prstGeom prst="roundRect">
            <a:avLst>
              <a:gd name="adj" fmla="val 5882"/>
            </a:avLst>
          </a:prstGeom>
          <a:solidFill>
            <a:srgbClr val="F6F8F9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22960" y="5879592"/>
            <a:ext cx="7488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547"/>
                </a:solidFill>
              </a:rPr>
              <a:t>Potential takeaways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822960" y="6172200"/>
            <a:ext cx="74889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E9DD2"/>
                </a:solidFill>
              </a:rPr>
              <a:t>• </a:t>
            </a:r>
            <a:pPr indent="0" marL="0">
              <a:buNone/>
            </a:pPr>
            <a:r>
              <a:rPr lang="en-US" sz="870" dirty="0">
                <a:solidFill>
                  <a:srgbClr val="252A2E"/>
                </a:solidFill>
              </a:rPr>
              <a:t>Consumables destocking appears less persistent as a management concern</a:t>
            </a:r>
            <a:pPr indent="0" marL="0">
              <a:buNone/>
            </a:pPr>
            <a:r>
              <a:rPr lang="en-US" sz="87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870" b="1" dirty="0">
                <a:solidFill>
                  <a:srgbClr val="1E9DD2"/>
                </a:solidFill>
              </a:rPr>
              <a:t>• </a:t>
            </a:r>
            <a:pPr indent="0" marL="0">
              <a:buNone/>
            </a:pPr>
            <a:r>
              <a:rPr lang="en-US" sz="870" dirty="0">
                <a:solidFill>
                  <a:srgbClr val="252A2E"/>
                </a:solidFill>
              </a:rPr>
              <a:t>Recovery commentary should be checked against tone, not just reported numerical improvement</a:t>
            </a:r>
            <a:pPr indent="0" marL="0">
              <a:buNone/>
            </a:pPr>
            <a:r>
              <a:rPr lang="en-US" sz="87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870" b="1" dirty="0">
                <a:solidFill>
                  <a:srgbClr val="1E9DD2"/>
                </a:solidFill>
              </a:rPr>
              <a:t>• </a:t>
            </a:r>
            <a:pPr indent="0" marL="0">
              <a:buNone/>
            </a:pPr>
            <a:r>
              <a:rPr lang="en-US" sz="870" dirty="0">
                <a:solidFill>
                  <a:srgbClr val="252A2E"/>
                </a:solidFill>
              </a:rPr>
              <a:t>New boogeymen such as tariffs, MFN / reshoring and AI can be tracked consistently going forward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77072" y="6583680"/>
            <a:ext cx="219456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0B5486"/>
                </a:solidFill>
              </a:rPr>
              <a:t>SECTOR COMMENTARY TRACKER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11480" y="5577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11111"/>
                </a:solidFill>
              </a:rPr>
              <a:t>Quarterly snapshot helps separate broad sector pressures from company-specific issues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26A70"/>
                </a:solidFill>
              </a:rPr>
              <a:t>Placeholder for a current-quarter tracker view.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212080" cy="4370832"/>
          </a:xfrm>
          <a:prstGeom prst="rect">
            <a:avLst/>
          </a:prstGeom>
          <a:solidFill>
            <a:srgbClr val="FAFBFC"/>
          </a:solidFill>
          <a:ln w="13970">
            <a:solidFill>
              <a:srgbClr val="BFC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591056"/>
            <a:ext cx="4992624" cy="310896"/>
          </a:xfrm>
          <a:prstGeom prst="rect">
            <a:avLst/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668780"/>
            <a:ext cx="4882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5A00"/>
                </a:solidFill>
              </a:rPr>
              <a:t>INSERT QUARTERLY SNAPSHOT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85800" y="202996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6A70"/>
                </a:solidFill>
              </a:rPr>
              <a:t>Example: company × boogeyman matrix for the latest quarter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989320" y="1481328"/>
            <a:ext cx="2651760" cy="4370832"/>
          </a:xfrm>
          <a:prstGeom prst="rect">
            <a:avLst/>
          </a:prstGeom>
          <a:solidFill>
            <a:srgbClr val="FAFBFC"/>
          </a:solidFill>
          <a:ln w="13970">
            <a:solidFill>
              <a:srgbClr val="BFC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9048" y="1591056"/>
            <a:ext cx="2432304" cy="310896"/>
          </a:xfrm>
          <a:prstGeom prst="rect">
            <a:avLst/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53912" y="1668780"/>
            <a:ext cx="2322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5A00"/>
                </a:solidFill>
              </a:rPr>
              <a:t>INSERT QUOTE CALLOUTS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6172200" y="20299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6A70"/>
                </a:solidFill>
              </a:rPr>
              <a:t>Three to four management quotes that support the coding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11480" y="6172200"/>
            <a:ext cx="8321040" cy="393192"/>
          </a:xfrm>
          <a:prstGeom prst="rect">
            <a:avLst/>
          </a:prstGeom>
          <a:solidFill>
            <a:srgbClr val="1F3547"/>
          </a:solidFill>
          <a:ln w="12700">
            <a:solidFill>
              <a:srgbClr val="1F35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626821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This format makes it easier to see whether recovery is broadening or whether improvement is concentrated in a few companies / end markets.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77072" y="6583680"/>
            <a:ext cx="219456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0B5486"/>
                </a:solidFill>
              </a:rPr>
              <a:t>COVERAGE EXECUTION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11480" y="5577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11111"/>
                </a:solidFill>
              </a:rPr>
              <a:t>The same infrastructure supported initiation, earnings and day-to-day research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26A70"/>
                </a:solidFill>
              </a:rPr>
              <a:t>I contributed to live products while developing the proprietary analysis.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2606040" cy="4133088"/>
          </a:xfrm>
          <a:prstGeom prst="roundRect">
            <a:avLst>
              <a:gd name="adj" fmla="val 1754"/>
            </a:avLst>
          </a:prstGeom>
          <a:solidFill>
            <a:srgbClr val="F7FBFD"/>
          </a:solidFill>
          <a:ln w="1016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72768"/>
            <a:ext cx="64008" cy="4133088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709928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</a:rPr>
              <a:t>Coverage resumption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658368" y="2011680"/>
            <a:ext cx="2295144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52A2E"/>
                </a:solidFill>
              </a:rPr>
              <a:t>• Supported resumption across GH, NTRA, A, AVTR, WAT, TMO, RVTY and ILMN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2E"/>
                </a:solidFill>
              </a:rPr>
              <a:t>• Rebuilt commentary tracker after coverage gap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2E"/>
                </a:solidFill>
              </a:rPr>
              <a:t>• Helped translate thesis content into marketing deck slides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2E"/>
                </a:solidFill>
              </a:rPr>
              <a:t>• Contributed to NIH funding work and valuation exhibits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3291840" y="1572768"/>
            <a:ext cx="2606040" cy="4133088"/>
          </a:xfrm>
          <a:prstGeom prst="roundRect">
            <a:avLst>
              <a:gd name="adj" fmla="val 1754"/>
            </a:avLst>
          </a:prstGeom>
          <a:solidFill>
            <a:srgbClr val="F8F8F8"/>
          </a:solidFill>
          <a:ln w="1016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572768"/>
            <a:ext cx="64008" cy="4133088"/>
          </a:xfrm>
          <a:prstGeom prst="rect">
            <a:avLst/>
          </a:prstGeom>
          <a:solidFill>
            <a:srgbClr val="1F3547"/>
          </a:solidFill>
          <a:ln w="12700">
            <a:solidFill>
              <a:srgbClr val="1F35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709928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</a:rPr>
              <a:t>Earnings work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3447288" y="2011680"/>
            <a:ext cx="2295144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52A2E"/>
                </a:solidFill>
              </a:rPr>
              <a:t>• Drafted call takeaways and commentary sections for seven notes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2E"/>
                </a:solidFill>
              </a:rPr>
              <a:t>• Updated guidance tracking and historical exhibits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2E"/>
                </a:solidFill>
              </a:rPr>
              <a:t>• Identified relevant read-throughs from calls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2E"/>
                </a:solidFill>
              </a:rPr>
              <a:t>• Helped maintain the commentary tracker during reporting season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080760" y="1572768"/>
            <a:ext cx="2606040" cy="4133088"/>
          </a:xfrm>
          <a:prstGeom prst="roundRect">
            <a:avLst>
              <a:gd name="adj" fmla="val 1754"/>
            </a:avLst>
          </a:prstGeom>
          <a:solidFill>
            <a:srgbClr val="F8FBF8"/>
          </a:solidFill>
          <a:ln w="1016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572768"/>
            <a:ext cx="64008" cy="4133088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1709928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</a:rPr>
              <a:t>Research support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236208" y="2011680"/>
            <a:ext cx="2295144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52A2E"/>
                </a:solidFill>
              </a:rPr>
              <a:t>• Prepared call questions and cheat sheets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2E"/>
                </a:solidFill>
              </a:rPr>
              <a:t>• Built regulatory context for CRC reimbursement work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2E"/>
                </a:solidFill>
              </a:rPr>
              <a:t>• Took notes from AI webinars and sector symposiums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2E"/>
                </a:solidFill>
              </a:rPr>
              <a:t>• Supported market / policy work such as China VBP and ad hoc projects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11480" y="6172200"/>
            <a:ext cx="8321040" cy="393192"/>
          </a:xfrm>
          <a:prstGeom prst="rect">
            <a:avLst/>
          </a:prstGeom>
          <a:solidFill>
            <a:srgbClr val="1F3547"/>
          </a:solidFill>
          <a:ln w="12700">
            <a:solidFill>
              <a:srgbClr val="1F35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626821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The day-to-day work sharpened the practical test for every project: does it help the team write, debate or prepare better?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77072" y="6583680"/>
            <a:ext cx="219456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3566160"/>
            <a:ext cx="5669280" cy="2651760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49240" y="841248"/>
            <a:ext cx="2971800" cy="4434840"/>
          </a:xfrm>
          <a:prstGeom prst="rect">
            <a:avLst/>
          </a:prstGeom>
          <a:solidFill>
            <a:srgbClr val="1F3547"/>
          </a:solidFill>
          <a:ln w="12700">
            <a:solidFill>
              <a:srgbClr val="1F35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01584" y="566928"/>
            <a:ext cx="402336" cy="4114800"/>
          </a:xfrm>
          <a:prstGeom prst="rect">
            <a:avLst/>
          </a:prstGeom>
          <a:solidFill>
            <a:srgbClr val="D9E2E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96128" y="11430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130" kern="0" dirty="0">
                <a:solidFill>
                  <a:srgbClr val="1E9DD2"/>
                </a:solidFill>
              </a:rPr>
              <a:t>PROPRIETARY PROJECT 2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5596128" y="1554480"/>
            <a:ext cx="2423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Innovation Analysis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596128" y="3054096"/>
            <a:ext cx="2240280" cy="0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96128" y="327355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</a:rPr>
              <a:t>A more robust way to benchmark innovation across life science tools companies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594360" y="4709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Equity Research Summer Internship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507492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Proprietary analysis • Process improvement • Investment relevance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0B5486"/>
                </a:solidFill>
              </a:rPr>
              <a:t>INNOVATION ANALYSIS: WHY NOW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11480" y="5577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11111"/>
                </a:solidFill>
              </a:rPr>
              <a:t>Innovation quality matters because tools markets are sticky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26A70"/>
                </a:solidFill>
              </a:rPr>
              <a:t>The analysis was developed to support the Danaher initiation and broader tools benchmarking.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2606040" cy="4133088"/>
          </a:xfrm>
          <a:prstGeom prst="roundRect">
            <a:avLst>
              <a:gd name="adj" fmla="val 1754"/>
            </a:avLst>
          </a:prstGeom>
          <a:solidFill>
            <a:srgbClr val="F7FBFD"/>
          </a:solidFill>
          <a:ln w="1016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72768"/>
            <a:ext cx="64008" cy="4133088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709928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111111"/>
                </a:solidFill>
              </a:rPr>
              <a:t>Research question</a:t>
            </a:r>
            <a:endParaRPr lang="en-US" sz="1210" dirty="0"/>
          </a:p>
        </p:txBody>
      </p:sp>
      <p:sp>
        <p:nvSpPr>
          <p:cNvPr id="8" name="Text 6"/>
          <p:cNvSpPr/>
          <p:nvPr/>
        </p:nvSpPr>
        <p:spPr>
          <a:xfrm>
            <a:off x="658368" y="2011680"/>
            <a:ext cx="2295144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52A2E"/>
                </a:solidFill>
              </a:rPr>
              <a:t>Danaher has historically acquired durable life-science franchises; newer acquisitions such as Aldevron and other advanced-science assets raised a broader question: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252A2E"/>
                </a:solidFill>
              </a:rPr>
              <a:t>Can companies continue to innovate inside acquired businesses and sustain organic growth?</a:t>
            </a:r>
            <a:endParaRPr lang="en-US" sz="910" dirty="0"/>
          </a:p>
        </p:txBody>
      </p:sp>
      <p:sp>
        <p:nvSpPr>
          <p:cNvPr id="9" name="Shape 7"/>
          <p:cNvSpPr/>
          <p:nvPr/>
        </p:nvSpPr>
        <p:spPr>
          <a:xfrm>
            <a:off x="3291840" y="1572768"/>
            <a:ext cx="2606040" cy="4133088"/>
          </a:xfrm>
          <a:prstGeom prst="roundRect">
            <a:avLst>
              <a:gd name="adj" fmla="val 1754"/>
            </a:avLst>
          </a:prstGeom>
          <a:solidFill>
            <a:srgbClr val="F8FBF8"/>
          </a:solidFill>
          <a:ln w="1016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572768"/>
            <a:ext cx="64008" cy="4133088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709928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111111"/>
                </a:solidFill>
              </a:rPr>
              <a:t>Why innovation matters in tools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3447288" y="2011680"/>
            <a:ext cx="2295144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52A2E"/>
                </a:solidFill>
              </a:rPr>
              <a:t>• Scientists are reluctant to switch platforms without meaningful incremental value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2E"/>
                </a:solidFill>
              </a:rPr>
              <a:t>• Brand loyalty, workflows and installed bases create inertia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2E"/>
                </a:solidFill>
              </a:rPr>
              <a:t>• New entrants often need M&amp;A to gain access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A2E"/>
                </a:solidFill>
              </a:rPr>
              <a:t>• Product quality and continued innovation help maintain or gain share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080760" y="1572768"/>
            <a:ext cx="2606040" cy="4133088"/>
          </a:xfrm>
          <a:prstGeom prst="roundRect">
            <a:avLst>
              <a:gd name="adj" fmla="val 1754"/>
            </a:avLst>
          </a:prstGeom>
          <a:solidFill>
            <a:srgbClr val="F8F8F8"/>
          </a:solidFill>
          <a:ln w="1016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572768"/>
            <a:ext cx="64008" cy="4133088"/>
          </a:xfrm>
          <a:prstGeom prst="rect">
            <a:avLst/>
          </a:prstGeom>
          <a:solidFill>
            <a:srgbClr val="1F3547"/>
          </a:solidFill>
          <a:ln w="12700">
            <a:solidFill>
              <a:srgbClr val="1F35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1709928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111111"/>
                </a:solidFill>
              </a:rPr>
              <a:t>What the analysis can and cannot say</a:t>
            </a:r>
            <a:endParaRPr lang="en-US" sz="1210" dirty="0"/>
          </a:p>
        </p:txBody>
      </p:sp>
      <p:sp>
        <p:nvSpPr>
          <p:cNvPr id="16" name="Text 14"/>
          <p:cNvSpPr/>
          <p:nvPr/>
        </p:nvSpPr>
        <p:spPr>
          <a:xfrm>
            <a:off x="6236208" y="2011680"/>
            <a:ext cx="2295144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52A2E"/>
                </a:solidFill>
              </a:rPr>
              <a:t>The data does not directly measure “innovation quality.” It triangulates observable signals across investment, research usage, patents, institutional adoption and external recognition to form a more complete view.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411480" y="6172200"/>
            <a:ext cx="8321040" cy="393192"/>
          </a:xfrm>
          <a:prstGeom prst="rect">
            <a:avLst/>
          </a:prstGeom>
          <a:solidFill>
            <a:srgbClr val="1F3547"/>
          </a:solidFill>
          <a:ln w="12700">
            <a:solidFill>
              <a:srgbClr val="1F35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626821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The goal is not a perfect innovation score; it is a differentiated, auditable view of where innovation signals appear strongest.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77072" y="6583680"/>
            <a:ext cx="219456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0B5486"/>
                </a:solidFill>
              </a:rPr>
              <a:t>INNOVATION ANALYSIS: METHODOLOGY IMPROVEMENT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11480" y="5577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11111"/>
                </a:solidFill>
              </a:rPr>
              <a:t>I replaced brittle proxies with broader, auditable signals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26A70"/>
                </a:solidFill>
              </a:rPr>
              <a:t>The project improved the existing approach by cutting metrics that were hard to apply consistently.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621792" y="1554480"/>
            <a:ext cx="3611880" cy="4334256"/>
          </a:xfrm>
          <a:prstGeom prst="roundRect">
            <a:avLst>
              <a:gd name="adj" fmla="val 1266"/>
            </a:avLst>
          </a:prstGeom>
          <a:solidFill>
            <a:srgbClr val="FFF9F8"/>
          </a:solidFill>
          <a:ln w="1016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554480"/>
            <a:ext cx="64008" cy="4334256"/>
          </a:xfrm>
          <a:prstGeom prst="rect">
            <a:avLst/>
          </a:prstGeom>
          <a:solidFill>
            <a:srgbClr val="C95B4C"/>
          </a:solidFill>
          <a:ln w="12700">
            <a:solidFill>
              <a:srgbClr val="C95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11111"/>
                </a:solidFill>
              </a:rPr>
              <a:t>What I cut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777240" y="1993392"/>
            <a:ext cx="3300984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52A2E"/>
                </a:solidFill>
              </a:rPr>
              <a:t>Product launches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252A2E"/>
                </a:solidFill>
              </a:rPr>
              <a:t>• Press releases overrepresent the largest / most promoted launches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252A2E"/>
                </a:solidFill>
              </a:rPr>
              <a:t>• Companies disclose launches with inconsistent detail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252A2E"/>
                </a:solidFill>
              </a:rPr>
              <a:t>• Smaller products and incremental improvements are easy to miss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252A2E"/>
                </a:solidFill>
              </a:rPr>
              <a:t>LinkedIn PhD metric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252A2E"/>
                </a:solidFill>
              </a:rPr>
              <a:t>• No Talent Insights access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252A2E"/>
                </a:solidFill>
              </a:rPr>
              <a:t>• Keyword search produced inconsistent results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252A2E"/>
                </a:solidFill>
              </a:rPr>
              <a:t>• Profile counts are not a reliable degree-field measure</a:t>
            </a:r>
            <a:endParaRPr lang="en-US" sz="910" dirty="0"/>
          </a:p>
        </p:txBody>
      </p:sp>
      <p:sp>
        <p:nvSpPr>
          <p:cNvPr id="9" name="Shape 7"/>
          <p:cNvSpPr/>
          <p:nvPr/>
        </p:nvSpPr>
        <p:spPr>
          <a:xfrm>
            <a:off x="4572000" y="1554480"/>
            <a:ext cx="3950208" cy="4334256"/>
          </a:xfrm>
          <a:prstGeom prst="roundRect">
            <a:avLst>
              <a:gd name="adj" fmla="val 1157"/>
            </a:avLst>
          </a:prstGeom>
          <a:solidFill>
            <a:srgbClr val="F8FBF8"/>
          </a:solidFill>
          <a:ln w="1016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554480"/>
            <a:ext cx="64008" cy="4334256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7448" y="1691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11111"/>
                </a:solidFill>
              </a:rPr>
              <a:t>What I added instead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4727448" y="1993392"/>
            <a:ext cx="3639312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52A2E"/>
                </a:solidFill>
              </a:rPr>
              <a:t>R&amp;D investment intensity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252A2E"/>
                </a:solidFill>
              </a:rPr>
              <a:t>• R&amp;D % sales and R&amp;D / employee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252A2E"/>
                </a:solidFill>
              </a:rPr>
              <a:t>Scientific footprint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252A2E"/>
                </a:solidFill>
              </a:rPr>
              <a:t>• bioRxiv full text, PMC Methods and PubMed title / abstract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252A2E"/>
                </a:solidFill>
              </a:rPr>
              <a:t>Proprietary activity and adoption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252A2E"/>
                </a:solidFill>
              </a:rPr>
              <a:t>• USPTO patents and NIH S10 awards / funding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252A2E"/>
                </a:solidFill>
              </a:rPr>
              <a:t>External recognition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252A2E"/>
                </a:solidFill>
              </a:rPr>
              <a:t>• Innovation awards normalized by R&amp;D</a:t>
            </a:r>
            <a:endParaRPr lang="en-US" sz="910" dirty="0"/>
          </a:p>
        </p:txBody>
      </p:sp>
      <p:sp>
        <p:nvSpPr>
          <p:cNvPr id="13" name="Shape 11"/>
          <p:cNvSpPr/>
          <p:nvPr/>
        </p:nvSpPr>
        <p:spPr>
          <a:xfrm>
            <a:off x="411480" y="6172200"/>
            <a:ext cx="8321040" cy="393192"/>
          </a:xfrm>
          <a:prstGeom prst="rect">
            <a:avLst/>
          </a:prstGeom>
          <a:solidFill>
            <a:srgbClr val="1F3547"/>
          </a:solidFill>
          <a:ln w="12700">
            <a:solidFill>
              <a:srgbClr val="1F35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626821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The improved framework favors sources that can be refreshed systematically and compared across the peer group.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77072" y="6583680"/>
            <a:ext cx="219456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0B5486"/>
                </a:solidFill>
              </a:rPr>
              <a:t>INNOVATION ANALYSIS: DATA PROCESS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11480" y="5577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11111"/>
                </a:solidFill>
              </a:rPr>
              <a:t>The framework uses multiple sources with conservative matching and auditability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26A70"/>
                </a:solidFill>
              </a:rPr>
              <a:t>Each source adds a different perspective; the pipeline preserves terms, IDs and denominators.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481328" cy="3337560"/>
          </a:xfrm>
          <a:prstGeom prst="roundRect">
            <a:avLst>
              <a:gd name="adj" fmla="val 3086"/>
            </a:avLst>
          </a:prstGeom>
          <a:solidFill>
            <a:srgbClr val="F7FBFD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1993392"/>
            <a:ext cx="420624" cy="420624"/>
          </a:xfrm>
          <a:prstGeom prst="ellipse">
            <a:avLst/>
          </a:prstGeom>
          <a:solidFill>
            <a:srgbClr val="1E9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09397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1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612648" y="2615184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Source data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612648" y="3072384"/>
            <a:ext cx="12618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52A2E"/>
                </a:solidFill>
              </a:rPr>
              <a:t>bioRxiv JATS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52A2E"/>
                </a:solidFill>
              </a:rPr>
              <a:t>PMC Methods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52A2E"/>
                </a:solidFill>
              </a:rPr>
              <a:t>PubMed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52A2E"/>
                </a:solidFill>
              </a:rPr>
              <a:t>USPTO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52A2E"/>
                </a:solidFill>
              </a:rPr>
              <a:t>NIH S10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52A2E"/>
                </a:solidFill>
              </a:rPr>
              <a:t>Awards / filings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2221992" y="1828800"/>
            <a:ext cx="1481328" cy="3337560"/>
          </a:xfrm>
          <a:prstGeom prst="roundRect">
            <a:avLst>
              <a:gd name="adj" fmla="val 3086"/>
            </a:avLst>
          </a:prstGeom>
          <a:solidFill>
            <a:srgbClr val="F8F8F8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52344" y="1993392"/>
            <a:ext cx="420624" cy="420624"/>
          </a:xfrm>
          <a:prstGeom prst="ellipse">
            <a:avLst/>
          </a:prstGeom>
          <a:solidFill>
            <a:srgbClr val="1F35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52344" y="209397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2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2331720" y="2615184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Dictionary matching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2331720" y="3072384"/>
            <a:ext cx="12618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52A2E"/>
                </a:solidFill>
              </a:rPr>
              <a:t>Company aliases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52A2E"/>
                </a:solidFill>
              </a:rPr>
              <a:t>Product terms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52A2E"/>
                </a:solidFill>
              </a:rPr>
              <a:t>Ambiguity rules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52A2E"/>
                </a:solidFill>
              </a:rPr>
              <a:t>Context filters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3941064" y="1828800"/>
            <a:ext cx="1481328" cy="3337560"/>
          </a:xfrm>
          <a:prstGeom prst="roundRect">
            <a:avLst>
              <a:gd name="adj" fmla="val 3086"/>
            </a:avLst>
          </a:prstGeom>
          <a:solidFill>
            <a:srgbClr val="F7FBFD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71416" y="1993392"/>
            <a:ext cx="420624" cy="420624"/>
          </a:xfrm>
          <a:prstGeom prst="ellipse">
            <a:avLst/>
          </a:prstGeom>
          <a:solidFill>
            <a:srgbClr val="1F35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71416" y="209397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3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4050792" y="2615184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Deduplication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4050792" y="3072384"/>
            <a:ext cx="12618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52A2E"/>
                </a:solidFill>
              </a:rPr>
              <a:t>One record × company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52A2E"/>
                </a:solidFill>
              </a:rPr>
              <a:t>All matched terms retained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52A2E"/>
                </a:solidFill>
              </a:rPr>
              <a:t>No duplicate term inflation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5660136" y="1828800"/>
            <a:ext cx="1481328" cy="3337560"/>
          </a:xfrm>
          <a:prstGeom prst="roundRect">
            <a:avLst>
              <a:gd name="adj" fmla="val 3086"/>
            </a:avLst>
          </a:prstGeom>
          <a:solidFill>
            <a:srgbClr val="F8F8F8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0488" y="1993392"/>
            <a:ext cx="420624" cy="420624"/>
          </a:xfrm>
          <a:prstGeom prst="ellipse">
            <a:avLst/>
          </a:prstGeom>
          <a:solidFill>
            <a:srgbClr val="1F35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209397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4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5769864" y="2615184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Benchmarking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5769864" y="3072384"/>
            <a:ext cx="12618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52A2E"/>
                </a:solidFill>
              </a:rPr>
              <a:t>R&amp;D-adjusted regressions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52A2E"/>
                </a:solidFill>
              </a:rPr>
              <a:t>Four-year averages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52A2E"/>
                </a:solidFill>
              </a:rPr>
              <a:t>Annual diagnostics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7379208" y="1828800"/>
            <a:ext cx="1481328" cy="3337560"/>
          </a:xfrm>
          <a:prstGeom prst="roundRect">
            <a:avLst>
              <a:gd name="adj" fmla="val 3086"/>
            </a:avLst>
          </a:prstGeom>
          <a:solidFill>
            <a:srgbClr val="F7FBFD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09560" y="1993392"/>
            <a:ext cx="420624" cy="420624"/>
          </a:xfrm>
          <a:prstGeom prst="ellipse">
            <a:avLst/>
          </a:prstGeom>
          <a:solidFill>
            <a:srgbClr val="2F6B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9560" y="209397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5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7488936" y="2615184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111"/>
                </a:solidFill>
              </a:rPr>
              <a:t>Exhibits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7488936" y="3072384"/>
            <a:ext cx="12618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52A2E"/>
                </a:solidFill>
              </a:rPr>
              <a:t>Category heatmap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52A2E"/>
                </a:solidFill>
              </a:rPr>
              <a:t>Metric-specific charts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52A2E"/>
                </a:solidFill>
              </a:rPr>
              <a:t>Limitations retained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411480" y="6172200"/>
            <a:ext cx="8321040" cy="393192"/>
          </a:xfrm>
          <a:prstGeom prst="rect">
            <a:avLst/>
          </a:prstGeom>
          <a:solidFill>
            <a:srgbClr val="1F3547"/>
          </a:solidFill>
          <a:ln w="12700">
            <a:solidFill>
              <a:srgbClr val="1F35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626821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The analysis is only as useful as its data discipline: IDs, denominators, terms and exclusions remain traceable.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77072" y="6583680"/>
            <a:ext cx="219456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0B5486"/>
                </a:solidFill>
              </a:rPr>
              <a:t>INNOVATION ANALYSIS: LIMITATIONS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11480" y="5577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11111"/>
                </a:solidFill>
              </a:rPr>
              <a:t>The framework triangulates innovation signals rather than directly measuring innovation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26A70"/>
                </a:solidFill>
              </a:rPr>
              <a:t>The point is to build a better proxy set—not to claim a single dataset proves quality.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2514600" cy="4187952"/>
          </a:xfrm>
          <a:prstGeom prst="roundRect">
            <a:avLst>
              <a:gd name="adj" fmla="val 1818"/>
            </a:avLst>
          </a:prstGeom>
          <a:solidFill>
            <a:srgbClr val="F8FBF8"/>
          </a:solidFill>
          <a:ln w="1016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600200"/>
            <a:ext cx="64008" cy="4187952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737360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</a:rPr>
              <a:t>What the data captures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749808" y="2039112"/>
            <a:ext cx="2203704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A2E"/>
                </a:solidFill>
              </a:rPr>
              <a:t>• Observable research presence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52A2E"/>
                </a:solidFill>
              </a:rPr>
              <a:t>• Patenting activity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52A2E"/>
                </a:solidFill>
              </a:rPr>
              <a:t>• R&amp;D investment intensity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52A2E"/>
                </a:solidFill>
              </a:rPr>
              <a:t>• Institutional equipment adoption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52A2E"/>
                </a:solidFill>
              </a:rPr>
              <a:t>• External award recognition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10128" y="1600200"/>
            <a:ext cx="2514600" cy="4187952"/>
          </a:xfrm>
          <a:prstGeom prst="roundRect">
            <a:avLst>
              <a:gd name="adj" fmla="val 1818"/>
            </a:avLst>
          </a:prstGeom>
          <a:solidFill>
            <a:srgbClr val="FFF9F8"/>
          </a:solidFill>
          <a:ln w="1016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600200"/>
            <a:ext cx="64008" cy="4187952"/>
          </a:xfrm>
          <a:prstGeom prst="rect">
            <a:avLst/>
          </a:prstGeom>
          <a:solidFill>
            <a:srgbClr val="C95B4C"/>
          </a:solidFill>
          <a:ln w="12700">
            <a:solidFill>
              <a:srgbClr val="C95B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65576" y="1737360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</a:rPr>
              <a:t>What it does not prove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3465576" y="2039112"/>
            <a:ext cx="2203704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A2E"/>
                </a:solidFill>
              </a:rPr>
              <a:t>• Commercial success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52A2E"/>
                </a:solidFill>
              </a:rPr>
              <a:t>• Product quality in isolation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52A2E"/>
                </a:solidFill>
              </a:rPr>
              <a:t>• Causal R&amp;D efficiency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52A2E"/>
                </a:solidFill>
              </a:rPr>
              <a:t>• Direct manufacturer revenue from NIH awards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52A2E"/>
                </a:solidFill>
              </a:rPr>
              <a:t>• Complete product-launch coverage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25896" y="1600200"/>
            <a:ext cx="2514600" cy="4187952"/>
          </a:xfrm>
          <a:prstGeom prst="roundRect">
            <a:avLst>
              <a:gd name="adj" fmla="val 1818"/>
            </a:avLst>
          </a:prstGeom>
          <a:solidFill>
            <a:srgbClr val="F7FBFD"/>
          </a:solidFill>
          <a:ln w="1016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25896" y="1600200"/>
            <a:ext cx="64008" cy="418795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1737360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</a:rPr>
              <a:t>Why it still adds value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181344" y="2039112"/>
            <a:ext cx="2203704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52A2E"/>
                </a:solidFill>
              </a:rPr>
              <a:t>• Several weak signals are more informative together than one noisy source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52A2E"/>
                </a:solidFill>
              </a:rPr>
              <a:t>• A consistent framework makes peer comparisons repeatable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52A2E"/>
                </a:solidFill>
              </a:rPr>
              <a:t>• Outliers can be investigated rather than accepted at face value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411480" y="6172200"/>
            <a:ext cx="8321040" cy="393192"/>
          </a:xfrm>
          <a:prstGeom prst="rect">
            <a:avLst/>
          </a:prstGeom>
          <a:solidFill>
            <a:srgbClr val="1F3547"/>
          </a:solidFill>
          <a:ln w="12700">
            <a:solidFill>
              <a:srgbClr val="1F35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626821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The framework is designed to be directional, transparent and repeatable—not falsely precise.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77072" y="6583680"/>
            <a:ext cx="219456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0B5486"/>
                </a:solidFill>
              </a:rPr>
              <a:t>INNOVATION ANALYSIS: SYNTHESIS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11480" y="5577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11111"/>
                </a:solidFill>
              </a:rPr>
              <a:t>Innovation leadership varies across multiple dimensions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26A70"/>
                </a:solidFill>
              </a:rPr>
              <a:t>Peer-relative heatmap shows where each company leads, where it specializes and where signals are thinner.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438912" y="1417320"/>
            <a:ext cx="6217920" cy="4462272"/>
          </a:xfrm>
          <a:prstGeom prst="rect">
            <a:avLst/>
          </a:prstGeom>
          <a:solidFill>
            <a:srgbClr val="FAFBFC"/>
          </a:solidFill>
          <a:ln w="13970">
            <a:solidFill>
              <a:srgbClr val="BFC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27048"/>
            <a:ext cx="5998464" cy="310896"/>
          </a:xfrm>
          <a:prstGeom prst="rect">
            <a:avLst/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604772"/>
            <a:ext cx="5888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5A00"/>
                </a:solidFill>
              </a:rPr>
              <a:t>INSERT FINAL INNOVATION HEATMAP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21792" y="196596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6A70"/>
                </a:solidFill>
              </a:rPr>
              <a:t>Rows: 12 companies; columns: R&amp;D % sales, R&amp;D / employee, bioRxiv, USPTO, PMC, PubMed, NIH S10, Awards, Overall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804672" y="2148840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0716" y="2148840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6760" y="2148840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22804" y="2148840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28848" y="2148840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34892" y="2148840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40936" y="2148840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46980" y="2148840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53024" y="2148840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2401443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10716" y="2401443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6760" y="2401443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2804" y="2401443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28848" y="2401443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34892" y="2401443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40936" y="2401443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46980" y="2401443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53024" y="2401443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" y="2654046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10716" y="2654046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16760" y="2654046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22804" y="2654046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28848" y="2654046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34892" y="2654046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40936" y="2654046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46980" y="2654046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53024" y="2654046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" y="2906649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410716" y="2906649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16760" y="2906649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22804" y="2906649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28848" y="2906649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34892" y="2906649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40936" y="2906649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46980" y="2906649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53024" y="2906649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4672" y="3159252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10716" y="3159252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016760" y="3159252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22804" y="3159252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28848" y="3159252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34892" y="3159252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440936" y="3159252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46980" y="3159252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53024" y="3159252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4672" y="3411855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410716" y="3411855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016760" y="3411855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622804" y="3411855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28848" y="3411855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834892" y="3411855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440936" y="3411855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046980" y="3411855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653024" y="3411855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04672" y="3664458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410716" y="3664458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016760" y="3664458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622804" y="3664458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228848" y="3664458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834892" y="3664458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440936" y="3664458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046980" y="3664458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653024" y="3664458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04672" y="3917061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410716" y="3917061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016760" y="3917061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22804" y="3917061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228848" y="3917061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834892" y="3917061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440936" y="3917061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046980" y="3917061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653024" y="3917061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4672" y="4169664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410716" y="4169664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016760" y="4169664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622804" y="4169664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228848" y="4169664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834892" y="4169664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440936" y="4169664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046980" y="4169664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653024" y="4169664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04672" y="4422267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410716" y="4422267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016760" y="4422267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622804" y="4422267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228848" y="4422267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834892" y="4422267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440936" y="4422267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046980" y="4422267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653024" y="4422267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04672" y="4674870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410716" y="4674870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016760" y="4674870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622804" y="4674870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228848" y="4674870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34892" y="4674870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440936" y="4674870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046980" y="4674870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653024" y="4674870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04672" y="4927473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410716" y="4927473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016760" y="4927473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622804" y="4927473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228848" y="4927473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834892" y="4927473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440936" y="4927473"/>
            <a:ext cx="592328" cy="2388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046980" y="4927473"/>
            <a:ext cx="592328" cy="2388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653024" y="4927473"/>
            <a:ext cx="592328" cy="2388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839712" y="1627632"/>
            <a:ext cx="1874520" cy="4069080"/>
          </a:xfrm>
          <a:prstGeom prst="roundRect">
            <a:avLst>
              <a:gd name="adj" fmla="val 1951"/>
            </a:avLst>
          </a:prstGeom>
          <a:solidFill>
            <a:srgbClr val="F6F8F9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004304" y="1773936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547"/>
                </a:solidFill>
              </a:rPr>
              <a:t>Key takeaways to finalize</a:t>
            </a:r>
            <a:endParaRPr lang="en-US" sz="1050" dirty="0"/>
          </a:p>
        </p:txBody>
      </p:sp>
      <p:sp>
        <p:nvSpPr>
          <p:cNvPr id="119" name="Text 117"/>
          <p:cNvSpPr/>
          <p:nvPr/>
        </p:nvSpPr>
        <p:spPr>
          <a:xfrm>
            <a:off x="7004304" y="2066544"/>
            <a:ext cx="15453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E9DD2"/>
                </a:solidFill>
              </a:rPr>
              <a:t>• </a:t>
            </a:r>
            <a:pPr indent="0" marL="0">
              <a:buNone/>
            </a:pPr>
            <a:r>
              <a:rPr lang="en-US" sz="870" dirty="0">
                <a:solidFill>
                  <a:srgbClr val="252A2E"/>
                </a:solidFill>
              </a:rPr>
              <a:t>Broad-based leaders: peers with top-third positioning across several categories</a:t>
            </a:r>
            <a:pPr indent="0" marL="0">
              <a:buNone/>
            </a:pPr>
            <a:r>
              <a:rPr lang="en-US" sz="87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870" b="1" dirty="0">
                <a:solidFill>
                  <a:srgbClr val="1E9DD2"/>
                </a:solidFill>
              </a:rPr>
              <a:t>• </a:t>
            </a:r>
            <a:pPr indent="0" marL="0">
              <a:buNone/>
            </a:pPr>
            <a:r>
              <a:rPr lang="en-US" sz="870" dirty="0">
                <a:solidFill>
                  <a:srgbClr val="252A2E"/>
                </a:solidFill>
              </a:rPr>
              <a:t>Specialists: companies that lead in emerging activity or established scientific footprint but not both</a:t>
            </a:r>
            <a:pPr indent="0" marL="0">
              <a:buNone/>
            </a:pPr>
            <a:r>
              <a:rPr lang="en-US" sz="87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870" b="1" dirty="0">
                <a:solidFill>
                  <a:srgbClr val="1E9DD2"/>
                </a:solidFill>
              </a:rPr>
              <a:t>• </a:t>
            </a:r>
            <a:pPr indent="0" marL="0">
              <a:buNone/>
            </a:pPr>
            <a:r>
              <a:rPr lang="en-US" sz="870" dirty="0">
                <a:solidFill>
                  <a:srgbClr val="252A2E"/>
                </a:solidFill>
              </a:rPr>
              <a:t>Scale vs intensity: absolute R&amp;D scale and relative investment intensity are distinct signals</a:t>
            </a:r>
            <a:pPr indent="0" marL="0">
              <a:buNone/>
            </a:pPr>
            <a:r>
              <a:rPr lang="en-US" sz="87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870" b="1" dirty="0">
                <a:solidFill>
                  <a:srgbClr val="1E9DD2"/>
                </a:solidFill>
              </a:rPr>
              <a:t>• </a:t>
            </a:r>
            <a:pPr indent="0" marL="0">
              <a:buNone/>
            </a:pPr>
            <a:r>
              <a:rPr lang="en-US" sz="870" dirty="0">
                <a:solidFill>
                  <a:srgbClr val="252A2E"/>
                </a:solidFill>
              </a:rPr>
              <a:t>Supplemental signals: NIH S10 and awards corroborate profiles but are more sparse</a:t>
            </a:r>
            <a:endParaRPr lang="en-US" sz="870" dirty="0"/>
          </a:p>
        </p:txBody>
      </p:sp>
      <p:sp>
        <p:nvSpPr>
          <p:cNvPr id="120" name="Shape 118"/>
          <p:cNvSpPr/>
          <p:nvPr/>
        </p:nvSpPr>
        <p:spPr>
          <a:xfrm>
            <a:off x="438912" y="6016752"/>
            <a:ext cx="201168" cy="146304"/>
          </a:xfrm>
          <a:prstGeom prst="rect">
            <a:avLst/>
          </a:prstGeom>
          <a:solidFill>
            <a:srgbClr val="2F6B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94944" y="601675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A70"/>
                </a:solidFill>
              </a:rPr>
              <a:t>Top third of peers</a:t>
            </a:r>
            <a:endParaRPr lang="en-US" sz="720" dirty="0"/>
          </a:p>
        </p:txBody>
      </p:sp>
      <p:sp>
        <p:nvSpPr>
          <p:cNvPr id="122" name="Shape 120"/>
          <p:cNvSpPr/>
          <p:nvPr/>
        </p:nvSpPr>
        <p:spPr>
          <a:xfrm>
            <a:off x="1920240" y="6016752"/>
            <a:ext cx="201168" cy="146304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176272" y="601675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A70"/>
                </a:solidFill>
              </a:rPr>
              <a:t>Middle third</a:t>
            </a:r>
            <a:endParaRPr lang="en-US" sz="720" dirty="0"/>
          </a:p>
        </p:txBody>
      </p:sp>
      <p:sp>
        <p:nvSpPr>
          <p:cNvPr id="124" name="Shape 122"/>
          <p:cNvSpPr/>
          <p:nvPr/>
        </p:nvSpPr>
        <p:spPr>
          <a:xfrm>
            <a:off x="3154680" y="6016752"/>
            <a:ext cx="201168" cy="146304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410712" y="6016752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26A70"/>
                </a:solidFill>
              </a:rPr>
              <a:t>Bottom third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77072" y="6583680"/>
            <a:ext cx="219456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0B5486"/>
                </a:solidFill>
              </a:rPr>
              <a:t>INNOVATION ANALYSIS: INVESTMENT INTENSITY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11480" y="5577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11111"/>
                </a:solidFill>
              </a:rPr>
              <a:t>R&amp;D scale, R&amp;D intensity and R&amp;D per employee tell different stories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26A70"/>
                </a:solidFill>
              </a:rPr>
              <a:t>Use these exhibits to separate absolute investment from intensity relative to sales and workforce size.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886200" cy="4315968"/>
          </a:xfrm>
          <a:prstGeom prst="rect">
            <a:avLst/>
          </a:prstGeom>
          <a:solidFill>
            <a:srgbClr val="FAFBFC"/>
          </a:solidFill>
          <a:ln w="13970">
            <a:solidFill>
              <a:srgbClr val="BFC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664208"/>
            <a:ext cx="3666744" cy="310896"/>
          </a:xfrm>
          <a:prstGeom prst="rect">
            <a:avLst/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741932"/>
            <a:ext cx="3557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5A00"/>
                </a:solidFill>
              </a:rPr>
              <a:t>INSERT R&amp;D % SALES CHART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6A70"/>
                </a:solidFill>
              </a:rPr>
              <a:t>Range-and-dot plot; PACB shown off scale if needed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886200" cy="4315968"/>
          </a:xfrm>
          <a:prstGeom prst="rect">
            <a:avLst/>
          </a:prstGeom>
          <a:solidFill>
            <a:srgbClr val="FAFBFC"/>
          </a:solidFill>
          <a:ln w="13970">
            <a:solidFill>
              <a:srgbClr val="BFC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4608" y="1664208"/>
            <a:ext cx="3666744" cy="310896"/>
          </a:xfrm>
          <a:prstGeom prst="rect">
            <a:avLst/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741932"/>
            <a:ext cx="3557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5A00"/>
                </a:solidFill>
              </a:rPr>
              <a:t>INSERT R&amp;D / EMPLOYEE CHART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4937760" y="210312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6A70"/>
                </a:solidFill>
              </a:rPr>
              <a:t>Range-and-dot plot; employee counts from filings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11480" y="6172200"/>
            <a:ext cx="8321040" cy="393192"/>
          </a:xfrm>
          <a:prstGeom prst="rect">
            <a:avLst/>
          </a:prstGeom>
          <a:solidFill>
            <a:srgbClr val="1F3547"/>
          </a:solidFill>
          <a:ln w="12700">
            <a:solidFill>
              <a:srgbClr val="1F35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626821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Interpretation: a scale leader can have lower relative intensity because of a larger, more diversified revenue and employee base.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77072" y="6583680"/>
            <a:ext cx="219456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0B5486"/>
                </a:solidFill>
              </a:rPr>
              <a:t>INNOVATION ANALYSIS: EMERGING ACTIVITY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11480" y="5577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11111"/>
                </a:solidFill>
              </a:rPr>
              <a:t>Early scientific disclosure and patents capture different front-end signals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26A70"/>
                </a:solidFill>
              </a:rPr>
              <a:t>bioRxiv reflects prepublication scientific presence; USPTO captures formal proprietary activity.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02920" y="1499616"/>
            <a:ext cx="3886200" cy="4389120"/>
          </a:xfrm>
          <a:prstGeom prst="rect">
            <a:avLst/>
          </a:prstGeom>
          <a:solidFill>
            <a:srgbClr val="FAFBFC"/>
          </a:solidFill>
          <a:ln w="13970">
            <a:solidFill>
              <a:srgbClr val="BFC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609344"/>
            <a:ext cx="3666744" cy="310896"/>
          </a:xfrm>
          <a:prstGeom prst="rect">
            <a:avLst/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687068"/>
            <a:ext cx="3557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5A00"/>
                </a:solidFill>
              </a:rPr>
              <a:t>INSERT BIORXIV REGRESSION CHART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85800" y="204825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6A70"/>
                </a:solidFill>
              </a:rPr>
              <a:t>Average annual company-paper relationships vs. average annual R&amp;D, log-log peer benchmark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754880" y="1499616"/>
            <a:ext cx="3886200" cy="4389120"/>
          </a:xfrm>
          <a:prstGeom prst="rect">
            <a:avLst/>
          </a:prstGeom>
          <a:solidFill>
            <a:srgbClr val="FAFBFC"/>
          </a:solidFill>
          <a:ln w="13970">
            <a:solidFill>
              <a:srgbClr val="BFC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4608" y="1609344"/>
            <a:ext cx="3666744" cy="310896"/>
          </a:xfrm>
          <a:prstGeom prst="rect">
            <a:avLst/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687068"/>
            <a:ext cx="3557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5A00"/>
                </a:solidFill>
              </a:rPr>
              <a:t>INSERT USPTO PATENT REGRESSION CHART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4937760" y="204825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6A70"/>
                </a:solidFill>
              </a:rPr>
              <a:t>Average annual patent activity vs. average annual R&amp;D, log-log peer benchmark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11480" y="6172200"/>
            <a:ext cx="8321040" cy="393192"/>
          </a:xfrm>
          <a:prstGeom prst="rect">
            <a:avLst/>
          </a:prstGeom>
          <a:solidFill>
            <a:srgbClr val="1F3547"/>
          </a:solidFill>
          <a:ln w="12700">
            <a:solidFill>
              <a:srgbClr val="1F35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626821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Together, these metrics help separate public prepublication research presence from proprietary innovation activity.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77072" y="6583680"/>
            <a:ext cx="219456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0B5486"/>
                </a:solidFill>
              </a:rPr>
              <a:t>INNOVATION ANALYSIS: ESTABLISHED SCIENTIFIC FOOTPRINT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11480" y="5577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11111"/>
                </a:solidFill>
              </a:rPr>
              <a:t>PMC and PubMed show whether technologies are visible in the published literature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26A70"/>
                </a:solidFill>
              </a:rPr>
              <a:t>PMC Methods is closer to experimental workflow presence; PubMed captures broader title / abstract visibility.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02920" y="1499616"/>
            <a:ext cx="3886200" cy="4389120"/>
          </a:xfrm>
          <a:prstGeom prst="rect">
            <a:avLst/>
          </a:prstGeom>
          <a:solidFill>
            <a:srgbClr val="FAFBFC"/>
          </a:solidFill>
          <a:ln w="13970">
            <a:solidFill>
              <a:srgbClr val="BFC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609344"/>
            <a:ext cx="3666744" cy="310896"/>
          </a:xfrm>
          <a:prstGeom prst="rect">
            <a:avLst/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687068"/>
            <a:ext cx="3557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5A00"/>
                </a:solidFill>
              </a:rPr>
              <a:t>INSERT PMC METHODS REGRESSION CHART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85800" y="204825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6A70"/>
                </a:solidFill>
              </a:rPr>
              <a:t>Methods-section relationships vs. R&amp;D; log-log peer benchmark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754880" y="1499616"/>
            <a:ext cx="3886200" cy="4389120"/>
          </a:xfrm>
          <a:prstGeom prst="rect">
            <a:avLst/>
          </a:prstGeom>
          <a:solidFill>
            <a:srgbClr val="FAFBFC"/>
          </a:solidFill>
          <a:ln w="13970">
            <a:solidFill>
              <a:srgbClr val="BFC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4608" y="1609344"/>
            <a:ext cx="3666744" cy="310896"/>
          </a:xfrm>
          <a:prstGeom prst="rect">
            <a:avLst/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687068"/>
            <a:ext cx="3557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5A00"/>
                </a:solidFill>
              </a:rPr>
              <a:t>INSERT PUBMED REGRESSION CHART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4937760" y="204825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6A70"/>
                </a:solidFill>
              </a:rPr>
              <a:t>Title / abstract relationships vs. R&amp;D; log-log peer benchmark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11480" y="6172200"/>
            <a:ext cx="8321040" cy="393192"/>
          </a:xfrm>
          <a:prstGeom prst="rect">
            <a:avLst/>
          </a:prstGeom>
          <a:solidFill>
            <a:srgbClr val="1F3547"/>
          </a:solidFill>
          <a:ln w="12700">
            <a:solidFill>
              <a:srgbClr val="1F35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626821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Cross-source consistency matters more than a single above- or below-line result in one database.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77072" y="6583680"/>
            <a:ext cx="219456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0B5486"/>
                </a:solidFill>
              </a:rPr>
              <a:t>INNOVATION ANALYSIS: EXTERNAL SIGNALS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11480" y="5577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11111"/>
                </a:solidFill>
              </a:rPr>
              <a:t>NIH S10 and awards add adoption and recognition context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26A70"/>
                </a:solidFill>
              </a:rPr>
              <a:t>These signals are useful but sparser, so they should corroborate—not dominate—the core analysis.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02920" y="1499616"/>
            <a:ext cx="3886200" cy="4389120"/>
          </a:xfrm>
          <a:prstGeom prst="rect">
            <a:avLst/>
          </a:prstGeom>
          <a:solidFill>
            <a:srgbClr val="FAFBFC"/>
          </a:solidFill>
          <a:ln w="13970">
            <a:solidFill>
              <a:srgbClr val="BFC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609344"/>
            <a:ext cx="3666744" cy="310896"/>
          </a:xfrm>
          <a:prstGeom prst="rect">
            <a:avLst/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687068"/>
            <a:ext cx="3557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5A00"/>
                </a:solidFill>
              </a:rPr>
              <a:t>INSERT NIH S10 CHART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85800" y="204825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6A70"/>
                </a:solidFill>
              </a:rPr>
              <a:t>Clustered bars: share of unique S10 awards and associated funding, 2022–2025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754880" y="1499616"/>
            <a:ext cx="3886200" cy="4389120"/>
          </a:xfrm>
          <a:prstGeom prst="rect">
            <a:avLst/>
          </a:prstGeom>
          <a:solidFill>
            <a:srgbClr val="FAFBFC"/>
          </a:solidFill>
          <a:ln w="13970">
            <a:solidFill>
              <a:srgbClr val="BFC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4608" y="1609344"/>
            <a:ext cx="3666744" cy="310896"/>
          </a:xfrm>
          <a:prstGeom prst="rect">
            <a:avLst/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687068"/>
            <a:ext cx="3557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5A00"/>
                </a:solidFill>
              </a:rPr>
              <a:t>INSERT INNOVATION AWARDS CHART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4937760" y="204825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6A70"/>
                </a:solidFill>
              </a:rPr>
              <a:t>Awards per $1bn cumulative R&amp;D, with raw award counts labeled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11480" y="6172200"/>
            <a:ext cx="8321040" cy="393192"/>
          </a:xfrm>
          <a:prstGeom prst="rect">
            <a:avLst/>
          </a:prstGeom>
          <a:solidFill>
            <a:srgbClr val="1F3547"/>
          </a:solidFill>
          <a:ln w="12700">
            <a:solidFill>
              <a:srgbClr val="1F35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626821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NIH S10 reflects institutional equipment adoption; awards reflect external recognition by judging bodies or programs.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77072" y="6583680"/>
            <a:ext cx="219456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0B5486"/>
                </a:solidFill>
              </a:rPr>
              <a:t>INNOVATION ANALYSIS: STABILITY DIAGNOSTIC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11480" y="5577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11111"/>
                </a:solidFill>
              </a:rPr>
              <a:t>A multi-year view reduces annual timing noise while preserving relative positioning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26A70"/>
                </a:solidFill>
              </a:rPr>
              <a:t>PubMed provides the cleanest example because it has the broadest and most consistent annual coverage.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623560" cy="4434840"/>
          </a:xfrm>
          <a:prstGeom prst="rect">
            <a:avLst/>
          </a:prstGeom>
          <a:solidFill>
            <a:srgbClr val="FAFBFC"/>
          </a:solidFill>
          <a:ln w="13970">
            <a:solidFill>
              <a:srgbClr val="BFC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591056"/>
            <a:ext cx="5404104" cy="310896"/>
          </a:xfrm>
          <a:prstGeom prst="rect">
            <a:avLst/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668780"/>
            <a:ext cx="5294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5A00"/>
                </a:solidFill>
              </a:rPr>
              <a:t>INSERT PUBMED STABILITY SCATTERPLOT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85800" y="2029968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6A70"/>
                </a:solidFill>
              </a:rPr>
              <a:t>48 annual observations; one company color; pooled peer benchmark; log-log axes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400800" y="1700784"/>
            <a:ext cx="2286000" cy="3858768"/>
          </a:xfrm>
          <a:prstGeom prst="roundRect">
            <a:avLst>
              <a:gd name="adj" fmla="val 1600"/>
            </a:avLst>
          </a:prstGeom>
          <a:solidFill>
            <a:srgbClr val="F6F8F9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84708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547"/>
                </a:solidFill>
              </a:rPr>
              <a:t>How to read it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65392" y="2139696"/>
            <a:ext cx="1956816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E9DD2"/>
                </a:solidFill>
              </a:rPr>
              <a:t>• </a:t>
            </a:r>
            <a:pPr indent="0" marL="0">
              <a:buNone/>
            </a:pPr>
            <a:r>
              <a:rPr lang="en-US" sz="870" dirty="0">
                <a:solidFill>
                  <a:srgbClr val="252A2E"/>
                </a:solidFill>
              </a:rPr>
              <a:t>Each color represents one company’s annual observations from 2022–2025</a:t>
            </a:r>
            <a:pPr indent="0" marL="0">
              <a:buNone/>
            </a:pPr>
            <a:r>
              <a:rPr lang="en-US" sz="87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870" b="1" dirty="0">
                <a:solidFill>
                  <a:srgbClr val="1E9DD2"/>
                </a:solidFill>
              </a:rPr>
              <a:t>• </a:t>
            </a:r>
            <a:pPr indent="0" marL="0">
              <a:buNone/>
            </a:pPr>
            <a:r>
              <a:rPr lang="en-US" sz="870" dirty="0">
                <a:solidFill>
                  <a:srgbClr val="252A2E"/>
                </a:solidFill>
              </a:rPr>
              <a:t>Tight clusters suggest persistent relative positioning</a:t>
            </a:r>
            <a:pPr indent="0" marL="0">
              <a:buNone/>
            </a:pPr>
            <a:r>
              <a:rPr lang="en-US" sz="87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870" b="1" dirty="0">
                <a:solidFill>
                  <a:srgbClr val="1E9DD2"/>
                </a:solidFill>
              </a:rPr>
              <a:t>• </a:t>
            </a:r>
            <a:pPr indent="0" marL="0">
              <a:buNone/>
            </a:pPr>
            <a:r>
              <a:rPr lang="en-US" sz="870" dirty="0">
                <a:solidFill>
                  <a:srgbClr val="252A2E"/>
                </a:solidFill>
              </a:rPr>
              <a:t>Spread justifies aggregation by limiting isolated publication / indexing timing effects</a:t>
            </a:r>
            <a:pPr indent="0" marL="0">
              <a:buNone/>
            </a:pPr>
            <a:r>
              <a:rPr lang="en-US" sz="87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870" b="1" dirty="0">
                <a:solidFill>
                  <a:srgbClr val="1E9DD2"/>
                </a:solidFill>
              </a:rPr>
              <a:t>• </a:t>
            </a:r>
            <a:pPr indent="0" marL="0">
              <a:buNone/>
            </a:pPr>
            <a:r>
              <a:rPr lang="en-US" sz="870" dirty="0">
                <a:solidFill>
                  <a:srgbClr val="252A2E"/>
                </a:solidFill>
              </a:rPr>
              <a:t>Directional moves can still be investigated as potential emerging trends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411480" y="6172200"/>
            <a:ext cx="8321040" cy="393192"/>
          </a:xfrm>
          <a:prstGeom prst="rect">
            <a:avLst/>
          </a:prstGeom>
          <a:solidFill>
            <a:srgbClr val="1F3547"/>
          </a:solidFill>
          <a:ln w="12700">
            <a:solidFill>
              <a:srgbClr val="1F35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626821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The four-year view is not claiming companies are static; it reduces noise while retaining annual diagnostics.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77072" y="6583680"/>
            <a:ext cx="219456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0B5486"/>
                </a:solidFill>
              </a:rPr>
              <a:t>INNOVATION ANALYSIS: FUTURE APPLICATIONS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11480" y="5577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11111"/>
                </a:solidFill>
              </a:rPr>
              <a:t>The framework can also flag emerging company-specific trends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26A70"/>
                </a:solidFill>
              </a:rPr>
              <a:t>PACB provides an example of how annual residuals can identify improving scientific visibility over time.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4892040" cy="4434840"/>
          </a:xfrm>
          <a:prstGeom prst="rect">
            <a:avLst/>
          </a:prstGeom>
          <a:solidFill>
            <a:srgbClr val="FAFBFC"/>
          </a:solidFill>
          <a:ln w="13970">
            <a:solidFill>
              <a:srgbClr val="BFC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591056"/>
            <a:ext cx="4672584" cy="310896"/>
          </a:xfrm>
          <a:prstGeom prst="rect">
            <a:avLst/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668780"/>
            <a:ext cx="4562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5A00"/>
                </a:solidFill>
              </a:rPr>
              <a:t>INSERT PACB VS PEER MEDIAN LINE CHART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85800" y="202996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6A70"/>
                </a:solidFill>
              </a:rPr>
              <a:t>Observed PubMed presence / peer-implied presence, 2022–2025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669280" y="1700784"/>
            <a:ext cx="2971800" cy="3858768"/>
          </a:xfrm>
          <a:prstGeom prst="roundRect">
            <a:avLst>
              <a:gd name="adj" fmla="val 1231"/>
            </a:avLst>
          </a:prstGeom>
          <a:solidFill>
            <a:srgbClr val="F6F8F9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33872" y="1847088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547"/>
                </a:solidFill>
              </a:rPr>
              <a:t>Why it matters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33872" y="2139696"/>
            <a:ext cx="2642616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E9DD2"/>
                </a:solidFill>
              </a:rPr>
              <a:t>• </a:t>
            </a:r>
            <a:pPr indent="0" marL="0">
              <a:buNone/>
            </a:pPr>
            <a:r>
              <a:rPr lang="en-US" sz="870" dirty="0">
                <a:solidFill>
                  <a:srgbClr val="252A2E"/>
                </a:solidFill>
              </a:rPr>
              <a:t>PACB’s rising PubMed multiple may be consistent with recent platform launches entering research workflows</a:t>
            </a:r>
            <a:pPr indent="0" marL="0">
              <a:buNone/>
            </a:pPr>
            <a:r>
              <a:rPr lang="en-US" sz="87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870" b="1" dirty="0">
                <a:solidFill>
                  <a:srgbClr val="1E9DD2"/>
                </a:solidFill>
              </a:rPr>
              <a:t>• </a:t>
            </a:r>
            <a:pPr indent="0" marL="0">
              <a:buNone/>
            </a:pPr>
            <a:r>
              <a:rPr lang="en-US" sz="870" dirty="0">
                <a:solidFill>
                  <a:srgbClr val="252A2E"/>
                </a:solidFill>
              </a:rPr>
              <a:t>Future use case: monitor instrument-specific terms after launch to estimate traction and scientific visibility</a:t>
            </a:r>
            <a:pPr indent="0" marL="0">
              <a:buNone/>
            </a:pPr>
            <a:r>
              <a:rPr lang="en-US" sz="87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870" b="1" dirty="0">
                <a:solidFill>
                  <a:srgbClr val="1E9DD2"/>
                </a:solidFill>
              </a:rPr>
              <a:t>• </a:t>
            </a:r>
            <a:pPr indent="0" marL="0">
              <a:buNone/>
            </a:pPr>
            <a:r>
              <a:rPr lang="en-US" sz="870" dirty="0">
                <a:solidFill>
                  <a:srgbClr val="252A2E"/>
                </a:solidFill>
              </a:rPr>
              <a:t>Can compare new product adoption curves across companies and technologies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411480" y="6172200"/>
            <a:ext cx="8321040" cy="393192"/>
          </a:xfrm>
          <a:prstGeom prst="rect">
            <a:avLst/>
          </a:prstGeom>
          <a:solidFill>
            <a:srgbClr val="1F3547"/>
          </a:solidFill>
          <a:ln w="12700">
            <a:solidFill>
              <a:srgbClr val="1F35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626821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The annual view turns the framework from a static score into a monitoring tool for product traction and market-share signals.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77072" y="6583680"/>
            <a:ext cx="219456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0B5486"/>
                </a:solidFill>
              </a:rPr>
              <a:t>INNOVATION ANALYSIS: INVESTMENT DEBATE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11480" y="5577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11111"/>
                </a:solidFill>
              </a:rPr>
              <a:t>The framework ties back to the Danaher question and broader sector benchmarking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26A70"/>
                </a:solidFill>
              </a:rPr>
              <a:t>The output is most useful when it refines an investment debate rather than producing a standalone score.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2514600" cy="4279392"/>
          </a:xfrm>
          <a:prstGeom prst="roundRect">
            <a:avLst>
              <a:gd name="adj" fmla="val 1818"/>
            </a:avLst>
          </a:prstGeom>
          <a:solidFill>
            <a:srgbClr val="F7FBFD"/>
          </a:solidFill>
          <a:ln w="1016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600200"/>
            <a:ext cx="64008" cy="427939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737360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</a:rPr>
              <a:t>Danaher application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749808" y="2039112"/>
            <a:ext cx="2203704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52A2E"/>
                </a:solidFill>
              </a:rPr>
              <a:t>• Benchmark whether acquired platforms retain scientific visibility and innovation signals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52A2E"/>
                </a:solidFill>
              </a:rPr>
              <a:t>• Separate absolute scale from relative investment intensity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52A2E"/>
                </a:solidFill>
              </a:rPr>
              <a:t>• Use multiple external signals to assess whether innovation strength is broad or concentrated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3310128" y="1600200"/>
            <a:ext cx="2514600" cy="4279392"/>
          </a:xfrm>
          <a:prstGeom prst="roundRect">
            <a:avLst>
              <a:gd name="adj" fmla="val 1818"/>
            </a:avLst>
          </a:prstGeom>
          <a:solidFill>
            <a:srgbClr val="F8FBF8"/>
          </a:solidFill>
          <a:ln w="1016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600200"/>
            <a:ext cx="64008" cy="4279392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65576" y="1737360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</a:rPr>
              <a:t>Sector application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3465576" y="2039112"/>
            <a:ext cx="2203704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52A2E"/>
                </a:solidFill>
              </a:rPr>
              <a:t>• Identify which companies appear strong across several dimensions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52A2E"/>
                </a:solidFill>
              </a:rPr>
              <a:t>• Find specialists with concentrated strengths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52A2E"/>
                </a:solidFill>
              </a:rPr>
              <a:t>• Track new technologies as they move from launch to literature, patents and adoption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025896" y="1600200"/>
            <a:ext cx="2514600" cy="4279392"/>
          </a:xfrm>
          <a:prstGeom prst="roundRect">
            <a:avLst>
              <a:gd name="adj" fmla="val 1818"/>
            </a:avLst>
          </a:prstGeom>
          <a:solidFill>
            <a:srgbClr val="F8F8F8"/>
          </a:solidFill>
          <a:ln w="1016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25896" y="1600200"/>
            <a:ext cx="64008" cy="4279392"/>
          </a:xfrm>
          <a:prstGeom prst="rect">
            <a:avLst/>
          </a:prstGeom>
          <a:solidFill>
            <a:srgbClr val="1F3547"/>
          </a:solidFill>
          <a:ln w="12700">
            <a:solidFill>
              <a:srgbClr val="1F35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1737360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</a:rPr>
              <a:t>Research process impact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181344" y="2039112"/>
            <a:ext cx="2203704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52A2E"/>
                </a:solidFill>
              </a:rPr>
              <a:t>• Repeatable updates can be incorporated into quarterly work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52A2E"/>
                </a:solidFill>
              </a:rPr>
              <a:t>• Outputs are transparent enough to challenge and refine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52A2E"/>
                </a:solidFill>
              </a:rPr>
              <a:t>• The same methodology can be adapted to other sectors or product classes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411480" y="6172200"/>
            <a:ext cx="8321040" cy="393192"/>
          </a:xfrm>
          <a:prstGeom prst="rect">
            <a:avLst/>
          </a:prstGeom>
          <a:solidFill>
            <a:srgbClr val="1F3547"/>
          </a:solidFill>
          <a:ln w="12700">
            <a:solidFill>
              <a:srgbClr val="1F35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626821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The innovation framework is a way to make a qualitative debate more evidence-based without overstating what any single dataset can prove.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77072" y="6583680"/>
            <a:ext cx="219456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0B5486"/>
                </a:solidFill>
              </a:rPr>
              <a:t>WHAT I LEARNED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11480" y="5577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11111"/>
                </a:solidFill>
              </a:rPr>
              <a:t>Equity research is the process of converting messy evidence into an investable debate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26A70"/>
                </a:solidFill>
              </a:rPr>
              <a:t>The biggest learning was balancing rigor with commercial relevance and speed.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640080" y="1664208"/>
            <a:ext cx="3886200" cy="1554480"/>
          </a:xfrm>
          <a:prstGeom prst="roundRect">
            <a:avLst>
              <a:gd name="adj" fmla="val 2941"/>
            </a:avLst>
          </a:prstGeom>
          <a:solidFill>
            <a:srgbClr val="F7FBFD"/>
          </a:solidFill>
          <a:ln w="1016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64208"/>
            <a:ext cx="64008" cy="1554480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801368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Research judgment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5528" y="2103120"/>
            <a:ext cx="3575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52A2E"/>
                </a:solidFill>
              </a:rPr>
              <a:t>There is rarely perfect data; the job is to identify the best available evidence and be transparent about limitations.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3886200" cy="1554480"/>
          </a:xfrm>
          <a:prstGeom prst="roundRect">
            <a:avLst>
              <a:gd name="adj" fmla="val 2941"/>
            </a:avLst>
          </a:prstGeom>
          <a:solidFill>
            <a:srgbClr val="F8FBF8"/>
          </a:solidFill>
          <a:ln w="1016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794760"/>
            <a:ext cx="64008" cy="155448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931920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Writing under pressure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5528" y="4233672"/>
            <a:ext cx="3575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52A2E"/>
                </a:solidFill>
              </a:rPr>
              <a:t>Useful analysis has to be clear enough to support a note, call or debate—not just technically correct.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4617720" y="1664208"/>
            <a:ext cx="3886200" cy="1554480"/>
          </a:xfrm>
          <a:prstGeom prst="roundRect">
            <a:avLst>
              <a:gd name="adj" fmla="val 2941"/>
            </a:avLst>
          </a:prstGeom>
          <a:solidFill>
            <a:srgbClr val="F7FBFD"/>
          </a:solidFill>
          <a:ln w="1016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664208"/>
            <a:ext cx="64008" cy="1554480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801368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Creative diligence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73168" y="2103120"/>
            <a:ext cx="3575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52A2E"/>
                </a:solidFill>
              </a:rPr>
              <a:t>Differentiated research often comes from asking whether a messy source can become structured evidence.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4617720" y="3794760"/>
            <a:ext cx="3886200" cy="1554480"/>
          </a:xfrm>
          <a:prstGeom prst="roundRect">
            <a:avLst>
              <a:gd name="adj" fmla="val 2941"/>
            </a:avLst>
          </a:prstGeom>
          <a:solidFill>
            <a:srgbClr val="F8FBF8"/>
          </a:solidFill>
          <a:ln w="1016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3794760"/>
            <a:ext cx="64008" cy="155448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3931920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Commercial relevance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73168" y="4233672"/>
            <a:ext cx="3575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52A2E"/>
                </a:solidFill>
              </a:rPr>
              <a:t>The “so what” matters: each exhibit must connect to expectations, debate or confidence in a thesis.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411480" y="6172200"/>
            <a:ext cx="8321040" cy="393192"/>
          </a:xfrm>
          <a:prstGeom prst="rect">
            <a:avLst/>
          </a:prstGeom>
          <a:solidFill>
            <a:srgbClr val="1F3547"/>
          </a:solidFill>
          <a:ln w="12700">
            <a:solidFill>
              <a:srgbClr val="1F35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" y="6268212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My core takeaway: differentiated research comes from curiosity, disciplined process and honest interpretation of imperfect evidence.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77072" y="6583680"/>
            <a:ext cx="219456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F3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3547"/>
          </a:solidFill>
          <a:ln w="12700">
            <a:solidFill>
              <a:srgbClr val="1F35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0080"/>
            <a:ext cx="813816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058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120" kern="0" dirty="0">
                <a:solidFill>
                  <a:srgbClr val="0B5486"/>
                </a:solidFill>
              </a:rPr>
              <a:t>Closing thought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22960" y="138988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This summer taught me how differentiated research is built: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3547"/>
                </a:solidFill>
              </a:rPr>
              <a:t>through better questions, more disciplined evidence, and sharper communication.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788920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E9DD2"/>
                </a:solidFill>
              </a:rPr>
              <a:t>• </a:t>
            </a:r>
            <a:pPr indent="0" marL="0">
              <a:buNone/>
            </a:pPr>
            <a:r>
              <a:rPr lang="en-US" sz="1120" dirty="0">
                <a:solidFill>
                  <a:srgbClr val="252A2E"/>
                </a:solidFill>
              </a:rPr>
              <a:t>I learned to move from scientific detail to investment relevance</a:t>
            </a:r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120" b="1" dirty="0">
                <a:solidFill>
                  <a:srgbClr val="1E9DD2"/>
                </a:solidFill>
              </a:rPr>
              <a:t>• </a:t>
            </a:r>
            <a:pPr indent="0" marL="0">
              <a:buNone/>
            </a:pPr>
            <a:r>
              <a:rPr lang="en-US" sz="1120" dirty="0">
                <a:solidFill>
                  <a:srgbClr val="252A2E"/>
                </a:solidFill>
              </a:rPr>
              <a:t>I built repeatable research processes rather than one-off analyses</a:t>
            </a:r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120" b="1" dirty="0">
                <a:solidFill>
                  <a:srgbClr val="1E9DD2"/>
                </a:solidFill>
              </a:rPr>
              <a:t>• </a:t>
            </a:r>
            <a:pPr indent="0" marL="0">
              <a:buNone/>
            </a:pPr>
            <a:r>
              <a:rPr lang="en-US" sz="1120" dirty="0">
                <a:solidFill>
                  <a:srgbClr val="252A2E"/>
                </a:solidFill>
              </a:rPr>
              <a:t>I became more comfortable making judgments with imperfect but well-structured evidence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914400" y="4709160"/>
            <a:ext cx="676656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074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486"/>
                </a:solidFill>
              </a:rPr>
              <a:t>Thank you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0" y="5074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5486"/>
                </a:solidFill>
              </a:rPr>
              <a:t>Questions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3566160"/>
            <a:ext cx="5669280" cy="2651760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49240" y="841248"/>
            <a:ext cx="2971800" cy="4434840"/>
          </a:xfrm>
          <a:prstGeom prst="rect">
            <a:avLst/>
          </a:prstGeom>
          <a:solidFill>
            <a:srgbClr val="1F3547"/>
          </a:solidFill>
          <a:ln w="12700">
            <a:solidFill>
              <a:srgbClr val="1F35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01584" y="566928"/>
            <a:ext cx="402336" cy="4114800"/>
          </a:xfrm>
          <a:prstGeom prst="rect">
            <a:avLst/>
          </a:prstGeom>
          <a:solidFill>
            <a:srgbClr val="D9E2E8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96128" y="11430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130" kern="0" dirty="0">
                <a:solidFill>
                  <a:srgbClr val="1E9DD2"/>
                </a:solidFill>
              </a:rPr>
              <a:t>APPENDIX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5596128" y="1554480"/>
            <a:ext cx="2423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Appendix Exhibit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Templates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596128" y="3054096"/>
            <a:ext cx="2240280" cy="0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96128" y="327355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</a:rPr>
              <a:t>Backup slide layouts for inserting final charts and detailed outputs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594360" y="4709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Equity Research Summer Internship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507492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Proprietary analysis • Process improvement • Investment relevance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0B5486"/>
                </a:solidFill>
              </a:rPr>
              <a:t>APPENDIX TEMPLATE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11480" y="5577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11111"/>
                </a:solidFill>
              </a:rPr>
              <a:t>Full-slide heatmap layout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26A70"/>
                </a:solidFill>
              </a:rPr>
              <a:t>Use for final heatmap if the main slide needs more breathing room.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8138160" cy="4754880"/>
          </a:xfrm>
          <a:prstGeom prst="rect">
            <a:avLst/>
          </a:prstGeom>
          <a:solidFill>
            <a:srgbClr val="FAFBFC"/>
          </a:solidFill>
          <a:ln w="13970">
            <a:solidFill>
              <a:srgbClr val="BFC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527048"/>
            <a:ext cx="7918704" cy="310896"/>
          </a:xfrm>
          <a:prstGeom prst="rect">
            <a:avLst/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604772"/>
            <a:ext cx="7808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5A00"/>
                </a:solidFill>
              </a:rPr>
              <a:t>INSERT FULL INNOVATION HEATMAP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6A70"/>
                </a:solidFill>
              </a:rPr>
              <a:t>Use top/middle/bottom-third peer-relative colors and white internal borders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868680" y="2057400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93164" y="2057400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7648" y="2057400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42132" y="2057400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6616" y="2057400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91100" y="2057400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15584" y="2057400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40068" y="2057400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64552" y="2057400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2348103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93164" y="2348103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17648" y="2348103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42132" y="2348103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66616" y="2348103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91100" y="2348103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15584" y="2348103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40068" y="2348103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64552" y="2348103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2638806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93164" y="2638806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17648" y="2638806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42132" y="2638806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66616" y="2638806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91100" y="2638806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15584" y="2638806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40068" y="2638806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64552" y="2638806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680" y="2929509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93164" y="2929509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17648" y="2929509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42132" y="2929509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66616" y="2929509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91100" y="2929509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15584" y="2929509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40068" y="2929509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64552" y="2929509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8680" y="3220212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93164" y="3220212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17648" y="3220212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342132" y="3220212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66616" y="3220212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91100" y="3220212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815584" y="3220212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640068" y="3220212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464552" y="3220212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68680" y="3510915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693164" y="3510915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517648" y="3510915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342132" y="3510915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166616" y="3510915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991100" y="3510915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15584" y="3510915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640068" y="3510915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464552" y="3510915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68680" y="3801618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693164" y="3801618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517648" y="3801618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342132" y="3801618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166616" y="3801618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991100" y="3801618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815584" y="3801618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40068" y="3801618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64552" y="3801618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68680" y="4092321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693164" y="4092321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517648" y="4092321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342132" y="4092321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166616" y="4092321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991100" y="4092321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815584" y="4092321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640068" y="4092321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464552" y="4092321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68680" y="4383024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693164" y="4383024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517648" y="4383024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342132" y="4383024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166616" y="4383024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991100" y="4383024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15584" y="4383024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640068" y="4383024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464552" y="4383024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68680" y="4673727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693164" y="4673727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517648" y="4673727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342132" y="4673727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166616" y="4673727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991100" y="4673727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815584" y="4673727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640068" y="4673727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64552" y="4673727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68680" y="4964430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693164" y="4964430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517648" y="4964430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342132" y="4964430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166616" y="4964430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991100" y="4964430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815584" y="4964430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640068" y="4964430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464552" y="4964430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68680" y="5255133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693164" y="5255133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517648" y="5255133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342132" y="5255133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166616" y="5255133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991100" y="5255133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815584" y="5255133"/>
            <a:ext cx="810768" cy="276987"/>
          </a:xfrm>
          <a:prstGeom prst="rect">
            <a:avLst/>
          </a:prstGeom>
          <a:solidFill>
            <a:srgbClr val="A8C7B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640068" y="5255133"/>
            <a:ext cx="810768" cy="276987"/>
          </a:xfrm>
          <a:prstGeom prst="rect">
            <a:avLst/>
          </a:prstGeom>
          <a:solidFill>
            <a:srgbClr val="2F6B4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464552" y="5255133"/>
            <a:ext cx="810768" cy="276987"/>
          </a:xfrm>
          <a:prstGeom prst="rect">
            <a:avLst/>
          </a:prstGeom>
          <a:solidFill>
            <a:srgbClr val="E7EBE8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77072" y="6583680"/>
            <a:ext cx="219456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0B5486"/>
                </a:solidFill>
              </a:rPr>
              <a:t>APPENDIX TEMPLATE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11480" y="5577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11111"/>
                </a:solidFill>
              </a:rPr>
              <a:t>One large chart with executive takeaways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26A70"/>
                </a:solidFill>
              </a:rPr>
              <a:t>Use when one exhibit needs explanation and supporting points.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577840" cy="4526280"/>
          </a:xfrm>
          <a:prstGeom prst="rect">
            <a:avLst/>
          </a:prstGeom>
          <a:solidFill>
            <a:srgbClr val="FAFBFC"/>
          </a:solidFill>
          <a:ln w="13970">
            <a:solidFill>
              <a:srgbClr val="BFC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572768"/>
            <a:ext cx="5358384" cy="310896"/>
          </a:xfrm>
          <a:prstGeom prst="rect">
            <a:avLst/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650492"/>
            <a:ext cx="5248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5A00"/>
                </a:solidFill>
              </a:rPr>
              <a:t>INSERT LARGE EXHIBIT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6A70"/>
                </a:solidFill>
              </a:rPr>
              <a:t>Chart area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355080" y="1645920"/>
            <a:ext cx="2286000" cy="4069080"/>
          </a:xfrm>
          <a:prstGeom prst="roundRect">
            <a:avLst>
              <a:gd name="adj" fmla="val 1600"/>
            </a:avLst>
          </a:prstGeom>
          <a:solidFill>
            <a:srgbClr val="F6F8F9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9222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547"/>
                </a:solidFill>
              </a:rPr>
              <a:t>Takeaway notes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19672" y="2084832"/>
            <a:ext cx="195681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E9DD2"/>
                </a:solidFill>
              </a:rPr>
              <a:t>• </a:t>
            </a:r>
            <a:pPr indent="0" marL="0">
              <a:buNone/>
            </a:pPr>
            <a:r>
              <a:rPr lang="en-US" sz="870" dirty="0">
                <a:solidFill>
                  <a:srgbClr val="252A2E"/>
                </a:solidFill>
              </a:rPr>
              <a:t>Key finding #1</a:t>
            </a:r>
            <a:pPr indent="0" marL="0">
              <a:buNone/>
            </a:pPr>
            <a:r>
              <a:rPr lang="en-US" sz="87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870" b="1" dirty="0">
                <a:solidFill>
                  <a:srgbClr val="1E9DD2"/>
                </a:solidFill>
              </a:rPr>
              <a:t>• </a:t>
            </a:r>
            <a:pPr indent="0" marL="0">
              <a:buNone/>
            </a:pPr>
            <a:r>
              <a:rPr lang="en-US" sz="870" dirty="0">
                <a:solidFill>
                  <a:srgbClr val="252A2E"/>
                </a:solidFill>
              </a:rPr>
              <a:t>Key finding #2</a:t>
            </a:r>
            <a:pPr indent="0" marL="0">
              <a:buNone/>
            </a:pPr>
            <a:r>
              <a:rPr lang="en-US" sz="87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870" b="1" dirty="0">
                <a:solidFill>
                  <a:srgbClr val="1E9DD2"/>
                </a:solidFill>
              </a:rPr>
              <a:t>• </a:t>
            </a:r>
            <a:pPr indent="0" marL="0">
              <a:buNone/>
            </a:pPr>
            <a:r>
              <a:rPr lang="en-US" sz="870" dirty="0">
                <a:solidFill>
                  <a:srgbClr val="252A2E"/>
                </a:solidFill>
              </a:rPr>
              <a:t>Caveat or methodology note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77072" y="6583680"/>
            <a:ext cx="219456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0B5486"/>
                </a:solidFill>
              </a:rPr>
              <a:t>APPENDIX TEMPLATE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11480" y="5577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11111"/>
                </a:solidFill>
              </a:rPr>
              <a:t>Two-panel comparison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26A70"/>
                </a:solidFill>
              </a:rPr>
              <a:t>Use for paired exhibits such as R&amp;D intensity and R&amp;D per employee.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931920" cy="4526280"/>
          </a:xfrm>
          <a:prstGeom prst="rect">
            <a:avLst/>
          </a:prstGeom>
          <a:solidFill>
            <a:srgbClr val="FAFBFC"/>
          </a:solidFill>
          <a:ln w="13970">
            <a:solidFill>
              <a:srgbClr val="BFC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572768"/>
            <a:ext cx="3712464" cy="310896"/>
          </a:xfrm>
          <a:prstGeom prst="rect">
            <a:avLst/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650492"/>
            <a:ext cx="3602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5A00"/>
                </a:solidFill>
              </a:rPr>
              <a:t>INSERT LEFT CHART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6A70"/>
                </a:solidFill>
              </a:rPr>
              <a:t>Panel A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709160" y="1463040"/>
            <a:ext cx="3931920" cy="4526280"/>
          </a:xfrm>
          <a:prstGeom prst="rect">
            <a:avLst/>
          </a:prstGeom>
          <a:solidFill>
            <a:srgbClr val="FAFBFC"/>
          </a:solidFill>
          <a:ln w="13970">
            <a:solidFill>
              <a:srgbClr val="BFC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8888" y="1572768"/>
            <a:ext cx="3712464" cy="310896"/>
          </a:xfrm>
          <a:prstGeom prst="rect">
            <a:avLst/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650492"/>
            <a:ext cx="3602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5A00"/>
                </a:solidFill>
              </a:rPr>
              <a:t>INSERT RIGHT CHART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4892040" y="20116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6A70"/>
                </a:solidFill>
              </a:rPr>
              <a:t>Panel B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77072" y="6583680"/>
            <a:ext cx="219456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0B5486"/>
                </a:solidFill>
              </a:rPr>
              <a:t>APPENDIX TEMPLATE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11480" y="5577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11111"/>
                </a:solidFill>
              </a:rPr>
              <a:t>Methodology backup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26A70"/>
                </a:solidFill>
              </a:rPr>
              <a:t>Use for a deeper explanation of scoring, regression or data cleaning.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2514600" cy="4297680"/>
          </a:xfrm>
          <a:prstGeom prst="roundRect">
            <a:avLst>
              <a:gd name="adj" fmla="val 1818"/>
            </a:avLst>
          </a:prstGeom>
          <a:solidFill>
            <a:srgbClr val="F7FBFD"/>
          </a:solidFill>
          <a:ln w="1016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554480"/>
            <a:ext cx="64008" cy="4297680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91640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Input definitions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1993392"/>
            <a:ext cx="220370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52A2E"/>
                </a:solidFill>
              </a:rPr>
              <a:t>Add source-by-source definitions, denominators and inclusion rules.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3310128" y="1554480"/>
            <a:ext cx="2514600" cy="4297680"/>
          </a:xfrm>
          <a:prstGeom prst="roundRect">
            <a:avLst>
              <a:gd name="adj" fmla="val 1818"/>
            </a:avLst>
          </a:prstGeom>
          <a:solidFill>
            <a:srgbClr val="F8FBF8"/>
          </a:solidFill>
          <a:ln w="1016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554480"/>
            <a:ext cx="64008" cy="429768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65576" y="1691640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Benchmarking logic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65576" y="1993392"/>
            <a:ext cx="220370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52A2E"/>
                </a:solidFill>
              </a:rPr>
              <a:t>Add regression equations, beta interpretation and actual / predicted multiple definitions.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025896" y="1554480"/>
            <a:ext cx="2514600" cy="4297680"/>
          </a:xfrm>
          <a:prstGeom prst="roundRect">
            <a:avLst>
              <a:gd name="adj" fmla="val 1818"/>
            </a:avLst>
          </a:prstGeom>
          <a:solidFill>
            <a:srgbClr val="F8F8F8"/>
          </a:solidFill>
          <a:ln w="1016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25896" y="1554480"/>
            <a:ext cx="64008" cy="4297680"/>
          </a:xfrm>
          <a:prstGeom prst="rect">
            <a:avLst/>
          </a:prstGeom>
          <a:solidFill>
            <a:srgbClr val="1F3547"/>
          </a:solidFill>
          <a:ln w="12700">
            <a:solidFill>
              <a:srgbClr val="1F35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1691640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Limitations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81344" y="1993392"/>
            <a:ext cx="220370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52A2E"/>
                </a:solidFill>
              </a:rPr>
              <a:t>Add data caveats, missingness rules and why certain metrics are supplemental.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77072" y="6583680"/>
            <a:ext cx="219456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0B5486"/>
                </a:solidFill>
              </a:rPr>
              <a:t>APPENDIX TEMPLATE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11480" y="55778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111111"/>
                </a:solidFill>
              </a:rPr>
              <a:t>Commentary tracker quote support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26A70"/>
                </a:solidFill>
              </a:rPr>
              <a:t>Use to show supporting transcript evidence behind tracker coding.</a:t>
            </a:r>
            <a:endParaRPr lang="en-US" sz="96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31920" cy="4617720"/>
          </a:xfrm>
          <a:prstGeom prst="rect">
            <a:avLst/>
          </a:prstGeom>
          <a:solidFill>
            <a:srgbClr val="FAFBFC"/>
          </a:solidFill>
          <a:ln w="13970">
            <a:solidFill>
              <a:srgbClr val="BFC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527048"/>
            <a:ext cx="3712464" cy="310896"/>
          </a:xfrm>
          <a:prstGeom prst="rect">
            <a:avLst/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604772"/>
            <a:ext cx="3602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5A00"/>
                </a:solidFill>
              </a:rPr>
              <a:t>INSERT QUOTE TABLE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6A70"/>
                </a:solidFill>
              </a:rPr>
              <a:t>Company / quarter / boogeyman / quote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4617720"/>
          </a:xfrm>
          <a:prstGeom prst="rect">
            <a:avLst/>
          </a:prstGeom>
          <a:solidFill>
            <a:srgbClr val="FAFBFC"/>
          </a:solidFill>
          <a:ln w="13970">
            <a:solidFill>
              <a:srgbClr val="BFC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8888" y="1527048"/>
            <a:ext cx="3712464" cy="310896"/>
          </a:xfrm>
          <a:prstGeom prst="rect">
            <a:avLst/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604772"/>
            <a:ext cx="3602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E5A00"/>
                </a:solidFill>
              </a:rPr>
              <a:t>INSERT CODING LOGIC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4892040" y="19659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6A70"/>
                </a:solidFill>
              </a:rPr>
              <a:t>How red / yellow / green tags were assigned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77072" y="6583680"/>
            <a:ext cx="219456" cy="1097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5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Bernstein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Differentiated Research Through Proprietary Data</dc:title>
  <dc:subject>Summer Internship Final Presentation</dc:subject>
  <dc:creator>Justin Curcio</dc:creator>
  <cp:lastModifiedBy>Justin Curcio</cp:lastModifiedBy>
  <cp:revision>1</cp:revision>
  <dcterms:created xsi:type="dcterms:W3CDTF">2026-08-06T14:40:33Z</dcterms:created>
  <dcterms:modified xsi:type="dcterms:W3CDTF">2026-08-06T14:40:33Z</dcterms:modified>
</cp:coreProperties>
</file>